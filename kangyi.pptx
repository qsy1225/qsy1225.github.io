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04" r:id="rId2"/>
    <p:sldId id="341" r:id="rId3"/>
    <p:sldId id="306" r:id="rId4"/>
    <p:sldId id="258" r:id="rId5"/>
    <p:sldId id="270" r:id="rId6"/>
    <p:sldId id="392" r:id="rId7"/>
    <p:sldId id="343" r:id="rId8"/>
    <p:sldId id="344" r:id="rId9"/>
    <p:sldId id="313" r:id="rId10"/>
    <p:sldId id="378" r:id="rId11"/>
    <p:sldId id="384" r:id="rId12"/>
    <p:sldId id="385" r:id="rId13"/>
    <p:sldId id="379" r:id="rId14"/>
    <p:sldId id="323" r:id="rId15"/>
    <p:sldId id="348" r:id="rId16"/>
    <p:sldId id="386" r:id="rId17"/>
    <p:sldId id="387" r:id="rId18"/>
    <p:sldId id="390" r:id="rId19"/>
    <p:sldId id="362" r:id="rId20"/>
    <p:sldId id="391" r:id="rId21"/>
    <p:sldId id="307"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51" userDrawn="1">
          <p15:clr>
            <a:srgbClr val="A4A3A4"/>
          </p15:clr>
        </p15:guide>
        <p15:guide id="3" orient="horz" pos="1684" userDrawn="1">
          <p15:clr>
            <a:srgbClr val="A4A3A4"/>
          </p15:clr>
        </p15:guide>
        <p15:guide id="4" pos="3863" userDrawn="1">
          <p15:clr>
            <a:srgbClr val="A4A3A4"/>
          </p15:clr>
        </p15:guide>
        <p15:guide id="5" orient="horz" pos="2160" userDrawn="1">
          <p15:clr>
            <a:srgbClr val="A4A3A4"/>
          </p15:clr>
        </p15:guide>
        <p15:guide id="6" pos="712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A1A"/>
    <a:srgbClr val="F7F1EF"/>
    <a:srgbClr val="C41908"/>
    <a:srgbClr val="F4EEEB"/>
    <a:srgbClr val="CD3F0D"/>
    <a:srgbClr val="7A2608"/>
    <a:srgbClr val="DABE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4660"/>
  </p:normalViewPr>
  <p:slideViewPr>
    <p:cSldViewPr snapToGrid="0" showGuides="1">
      <p:cViewPr varScale="1">
        <p:scale>
          <a:sx n="105" d="100"/>
          <a:sy n="105" d="100"/>
        </p:scale>
        <p:origin x="52" y="52"/>
      </p:cViewPr>
      <p:guideLst>
        <p:guide pos="551"/>
        <p:guide orient="horz" pos="1684"/>
        <p:guide pos="3863"/>
        <p:guide orient="horz" pos="2160"/>
        <p:guide pos="7129"/>
      </p:guideLst>
    </p:cSldViewPr>
  </p:slideViewPr>
  <p:notesTextViewPr>
    <p:cViewPr>
      <p:scale>
        <a:sx n="1" d="1"/>
        <a:sy n="1" d="1"/>
      </p:scale>
      <p:origin x="0" y="0"/>
    </p:cViewPr>
  </p:notesTextViewPr>
  <p:sorterViewPr>
    <p:cViewPr>
      <p:scale>
        <a:sx n="100" d="100"/>
        <a:sy n="100" d="100"/>
      </p:scale>
      <p:origin x="0" y="-5424"/>
    </p:cViewPr>
  </p:sorterViewPr>
  <p:notesViewPr>
    <p:cSldViewPr snapToGrid="0" showGuides="1">
      <p:cViewPr varScale="1">
        <p:scale>
          <a:sx n="62" d="100"/>
          <a:sy n="62" d="100"/>
        </p:scale>
        <p:origin x="142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Light" panose="020B0300000000000000" pitchFamily="34" charset="-122"/>
                <a:ea typeface="思源黑体 CN Light" panose="020B03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Light" panose="020B0300000000000000" pitchFamily="34" charset="-122"/>
                <a:ea typeface="思源黑体 CN Light" panose="020B0300000000000000" pitchFamily="34" charset="-122"/>
              </a:defRPr>
            </a:lvl1pPr>
          </a:lstStyle>
          <a:p>
            <a:fld id="{07986645-03CC-45E5-9037-32821DB874F6}" type="datetimeFigureOut">
              <a:rPr lang="zh-CN" altLang="en-US" smtClean="0"/>
              <a:pPr/>
              <a:t>2025/3/10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Light" panose="020B0300000000000000" pitchFamily="34" charset="-122"/>
                <a:ea typeface="思源黑体 CN Light" panose="020B03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Light" panose="020B0300000000000000" pitchFamily="34" charset="-122"/>
                <a:ea typeface="思源黑体 CN Light" panose="020B0300000000000000" pitchFamily="34" charset="-122"/>
              </a:defRPr>
            </a:lvl1pPr>
          </a:lstStyle>
          <a:p>
            <a:fld id="{5435F006-9ED1-480A-88E7-ADA6A48CE9C0}" type="slidenum">
              <a:rPr lang="zh-CN" altLang="en-US" smtClean="0"/>
              <a:pPr/>
              <a:t>‹#›</a:t>
            </a:fld>
            <a:endParaRPr lang="zh-CN" altLang="en-US" dirty="0"/>
          </a:p>
        </p:txBody>
      </p:sp>
    </p:spTree>
    <p:extLst>
      <p:ext uri="{BB962C8B-B14F-4D97-AF65-F5344CB8AC3E}">
        <p14:creationId xmlns:p14="http://schemas.microsoft.com/office/powerpoint/2010/main" val="157155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Light" panose="020B0300000000000000" pitchFamily="34" charset="-122"/>
        <a:ea typeface="思源黑体 CN Light" panose="020B0300000000000000" pitchFamily="34" charset="-122"/>
        <a:cs typeface="+mn-cs"/>
      </a:defRPr>
    </a:lvl1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descr="背景图案&#10;&#10;描述已自动生成">
            <a:extLst>
              <a:ext uri="{FF2B5EF4-FFF2-40B4-BE49-F238E27FC236}">
                <a16:creationId xmlns:a16="http://schemas.microsoft.com/office/drawing/2014/main" id="{5E1E3DBC-788D-4FE0-BB0A-AD1BEE1869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91460"/>
          </a:xfrm>
          <a:prstGeom prst="rect">
            <a:avLst/>
          </a:prstGeom>
        </p:spPr>
      </p:pic>
    </p:spTree>
    <p:extLst>
      <p:ext uri="{BB962C8B-B14F-4D97-AF65-F5344CB8AC3E}">
        <p14:creationId xmlns:p14="http://schemas.microsoft.com/office/powerpoint/2010/main" val="100912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6" descr="图片包含 杯子, 桌子, 金属, 橙子&#10;&#10;描述已自动生成">
            <a:extLst>
              <a:ext uri="{FF2B5EF4-FFF2-40B4-BE49-F238E27FC236}">
                <a16:creationId xmlns:a16="http://schemas.microsoft.com/office/drawing/2014/main" id="{B72D2176-B3B2-4162-8C4F-95126B667670}"/>
              </a:ext>
            </a:extLst>
          </p:cNvPr>
          <p:cNvPicPr>
            <a:picLocks noChangeAspect="1"/>
          </p:cNvPicPr>
          <p:nvPr userDrawn="1"/>
        </p:nvPicPr>
        <p:blipFill rotWithShape="1">
          <a:blip r:embed="rId2">
            <a:alphaModFix amt="8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9934" t="19640" b="2667"/>
          <a:stretch/>
        </p:blipFill>
        <p:spPr>
          <a:xfrm>
            <a:off x="0" y="1"/>
            <a:ext cx="12192000" cy="6858000"/>
          </a:xfrm>
          <a:prstGeom prst="rect">
            <a:avLst/>
          </a:prstGeom>
        </p:spPr>
      </p:pic>
      <p:sp>
        <p:nvSpPr>
          <p:cNvPr id="8" name="矩形 7">
            <a:extLst>
              <a:ext uri="{FF2B5EF4-FFF2-40B4-BE49-F238E27FC236}">
                <a16:creationId xmlns:a16="http://schemas.microsoft.com/office/drawing/2014/main" id="{47E8A892-44E5-4F10-8593-AFBE0D9923BC}"/>
              </a:ext>
            </a:extLst>
          </p:cNvPr>
          <p:cNvSpPr/>
          <p:nvPr userDrawn="1"/>
        </p:nvSpPr>
        <p:spPr>
          <a:xfrm>
            <a:off x="0" y="0"/>
            <a:ext cx="12192000" cy="6858000"/>
          </a:xfrm>
          <a:prstGeom prst="rect">
            <a:avLst/>
          </a:prstGeom>
          <a:solidFill>
            <a:schemeClr val="accent2">
              <a:lumMod val="20000"/>
              <a:lumOff val="8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alpha val="38000"/>
                </a:schemeClr>
              </a:solidFill>
              <a:latin typeface="思源黑体 CN Light" panose="020B0300000000000000" pitchFamily="34" charset="-122"/>
              <a:ea typeface="思源黑体 CN Light" panose="020B0300000000000000" pitchFamily="34" charset="-122"/>
            </a:endParaRPr>
          </a:p>
        </p:txBody>
      </p:sp>
      <p:pic>
        <p:nvPicPr>
          <p:cNvPr id="3" name="图片 2" descr="亮着灯的建筑&#10;&#10;低可信度描述已自动生成">
            <a:extLst>
              <a:ext uri="{FF2B5EF4-FFF2-40B4-BE49-F238E27FC236}">
                <a16:creationId xmlns:a16="http://schemas.microsoft.com/office/drawing/2014/main" id="{B20A6FE4-5B51-4D9C-9CBD-038B08C1C45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069" y="4079746"/>
            <a:ext cx="12192000" cy="2918932"/>
          </a:xfrm>
          <a:prstGeom prst="rect">
            <a:avLst/>
          </a:prstGeom>
        </p:spPr>
      </p:pic>
      <p:pic>
        <p:nvPicPr>
          <p:cNvPr id="12" name="图片 11" descr="图片包含 黑暗, 建筑, 穿着, 男人&#10;&#10;描述已自动生成">
            <a:extLst>
              <a:ext uri="{FF2B5EF4-FFF2-40B4-BE49-F238E27FC236}">
                <a16:creationId xmlns:a16="http://schemas.microsoft.com/office/drawing/2014/main" id="{A839B6DA-C0CC-4CC9-920F-134180609A3A}"/>
              </a:ext>
            </a:extLst>
          </p:cNvPr>
          <p:cNvPicPr>
            <a:picLocks noChangeAspect="1"/>
          </p:cNvPicPr>
          <p:nvPr userDrawn="1"/>
        </p:nvPicPr>
        <p:blipFill>
          <a:blip r:embed="rId5">
            <a:alphaModFix amt="50000"/>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9372484" y="1215513"/>
            <a:ext cx="3101820" cy="6483144"/>
          </a:xfrm>
          <a:prstGeom prst="rect">
            <a:avLst/>
          </a:prstGeom>
        </p:spPr>
      </p:pic>
      <p:sp>
        <p:nvSpPr>
          <p:cNvPr id="15" name="任意多边形: 形状 14">
            <a:extLst>
              <a:ext uri="{FF2B5EF4-FFF2-40B4-BE49-F238E27FC236}">
                <a16:creationId xmlns:a16="http://schemas.microsoft.com/office/drawing/2014/main" id="{18A54250-9410-4D6C-86A1-83BDBA3C07A9}"/>
              </a:ext>
            </a:extLst>
          </p:cNvPr>
          <p:cNvSpPr/>
          <p:nvPr userDrawn="1"/>
        </p:nvSpPr>
        <p:spPr>
          <a:xfrm>
            <a:off x="7010276" y="1"/>
            <a:ext cx="5118822" cy="3424209"/>
          </a:xfrm>
          <a:custGeom>
            <a:avLst/>
            <a:gdLst>
              <a:gd name="connsiteX0" fmla="*/ 153024 w 5118822"/>
              <a:gd name="connsiteY0" fmla="*/ 0 h 3424209"/>
              <a:gd name="connsiteX1" fmla="*/ 4965799 w 5118822"/>
              <a:gd name="connsiteY1" fmla="*/ 0 h 3424209"/>
              <a:gd name="connsiteX2" fmla="*/ 5003756 w 5118822"/>
              <a:gd name="connsiteY2" fmla="*/ 103707 h 3424209"/>
              <a:gd name="connsiteX3" fmla="*/ 5118822 w 5118822"/>
              <a:gd name="connsiteY3" fmla="*/ 864798 h 3424209"/>
              <a:gd name="connsiteX4" fmla="*/ 2559411 w 5118822"/>
              <a:gd name="connsiteY4" fmla="*/ 3424209 h 3424209"/>
              <a:gd name="connsiteX5" fmla="*/ 0 w 5118822"/>
              <a:gd name="connsiteY5" fmla="*/ 864798 h 3424209"/>
              <a:gd name="connsiteX6" fmla="*/ 115066 w 5118822"/>
              <a:gd name="connsiteY6" fmla="*/ 103707 h 342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18822" h="3424209">
                <a:moveTo>
                  <a:pt x="153024" y="0"/>
                </a:moveTo>
                <a:lnTo>
                  <a:pt x="4965799" y="0"/>
                </a:lnTo>
                <a:lnTo>
                  <a:pt x="5003756" y="103707"/>
                </a:lnTo>
                <a:cubicBezTo>
                  <a:pt x="5078537" y="344136"/>
                  <a:pt x="5118822" y="599762"/>
                  <a:pt x="5118822" y="864798"/>
                </a:cubicBezTo>
                <a:cubicBezTo>
                  <a:pt x="5118822" y="2278322"/>
                  <a:pt x="3972935" y="3424209"/>
                  <a:pt x="2559411" y="3424209"/>
                </a:cubicBezTo>
                <a:cubicBezTo>
                  <a:pt x="1145887" y="3424209"/>
                  <a:pt x="0" y="2278322"/>
                  <a:pt x="0" y="864798"/>
                </a:cubicBezTo>
                <a:cubicBezTo>
                  <a:pt x="0" y="599762"/>
                  <a:pt x="40285" y="344136"/>
                  <a:pt x="115066" y="103707"/>
                </a:cubicBezTo>
                <a:close/>
              </a:path>
            </a:pathLst>
          </a:custGeom>
          <a:gradFill flip="none" rotWithShape="1">
            <a:gsLst>
              <a:gs pos="100000">
                <a:srgbClr val="EEBF65">
                  <a:alpha val="0"/>
                </a:srgbClr>
              </a:gs>
              <a:gs pos="0">
                <a:srgbClr val="FF0000">
                  <a:alpha val="36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sp>
        <p:nvSpPr>
          <p:cNvPr id="17" name="任意多边形: 形状 16">
            <a:extLst>
              <a:ext uri="{FF2B5EF4-FFF2-40B4-BE49-F238E27FC236}">
                <a16:creationId xmlns:a16="http://schemas.microsoft.com/office/drawing/2014/main" id="{C58F70E1-200C-47FE-A076-3D2B110C909A}"/>
              </a:ext>
            </a:extLst>
          </p:cNvPr>
          <p:cNvSpPr/>
          <p:nvPr userDrawn="1"/>
        </p:nvSpPr>
        <p:spPr>
          <a:xfrm rot="3483758">
            <a:off x="-1148015" y="-1020745"/>
            <a:ext cx="5375239" cy="6456106"/>
          </a:xfrm>
          <a:custGeom>
            <a:avLst/>
            <a:gdLst>
              <a:gd name="connsiteX0" fmla="*/ 0 w 5375239"/>
              <a:gd name="connsiteY0" fmla="*/ 3366955 h 6456106"/>
              <a:gd name="connsiteX1" fmla="*/ 2098793 w 5375239"/>
              <a:gd name="connsiteY1" fmla="*/ 0 h 6456106"/>
              <a:gd name="connsiteX2" fmla="*/ 2480301 w 5375239"/>
              <a:gd name="connsiteY2" fmla="*/ 139633 h 6456106"/>
              <a:gd name="connsiteX3" fmla="*/ 5375239 w 5375239"/>
              <a:gd name="connsiteY3" fmla="*/ 4507081 h 6456106"/>
              <a:gd name="connsiteX4" fmla="*/ 5002751 w 5375239"/>
              <a:gd name="connsiteY4" fmla="*/ 6352077 h 6456106"/>
              <a:gd name="connsiteX5" fmla="*/ 4955721 w 5375239"/>
              <a:gd name="connsiteY5" fmla="*/ 6456106 h 645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5239" h="6456106">
                <a:moveTo>
                  <a:pt x="0" y="3366955"/>
                </a:moveTo>
                <a:lnTo>
                  <a:pt x="2098793" y="0"/>
                </a:lnTo>
                <a:lnTo>
                  <a:pt x="2480301" y="139633"/>
                </a:lnTo>
                <a:cubicBezTo>
                  <a:pt x="4181535" y="859195"/>
                  <a:pt x="5375239" y="2543735"/>
                  <a:pt x="5375239" y="4507081"/>
                </a:cubicBezTo>
                <a:cubicBezTo>
                  <a:pt x="5375239" y="5161529"/>
                  <a:pt x="5242605" y="5784999"/>
                  <a:pt x="5002751" y="6352077"/>
                </a:cubicBezTo>
                <a:lnTo>
                  <a:pt x="4955721" y="6456106"/>
                </a:lnTo>
                <a:close/>
              </a:path>
            </a:pathLst>
          </a:custGeom>
          <a:gradFill flip="none" rotWithShape="1">
            <a:gsLst>
              <a:gs pos="100000">
                <a:srgbClr val="CD3F0D">
                  <a:alpha val="0"/>
                </a:srgbClr>
              </a:gs>
              <a:gs pos="0">
                <a:srgbClr val="FF0000">
                  <a:alpha val="1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sp>
        <p:nvSpPr>
          <p:cNvPr id="18" name="任意多边形: 形状 17">
            <a:extLst>
              <a:ext uri="{FF2B5EF4-FFF2-40B4-BE49-F238E27FC236}">
                <a16:creationId xmlns:a16="http://schemas.microsoft.com/office/drawing/2014/main" id="{736D368F-07EB-4FE4-9132-9B9A47D59E98}"/>
              </a:ext>
            </a:extLst>
          </p:cNvPr>
          <p:cNvSpPr/>
          <p:nvPr userDrawn="1"/>
        </p:nvSpPr>
        <p:spPr>
          <a:xfrm rot="3483758">
            <a:off x="-509638" y="3666444"/>
            <a:ext cx="3188916" cy="3122452"/>
          </a:xfrm>
          <a:custGeom>
            <a:avLst/>
            <a:gdLst>
              <a:gd name="connsiteX0" fmla="*/ 272308 w 3188916"/>
              <a:gd name="connsiteY0" fmla="*/ 702981 h 3122452"/>
              <a:gd name="connsiteX1" fmla="*/ 1594458 w 3188916"/>
              <a:gd name="connsiteY1" fmla="*/ 0 h 3122452"/>
              <a:gd name="connsiteX2" fmla="*/ 3188916 w 3188916"/>
              <a:gd name="connsiteY2" fmla="*/ 1594458 h 3122452"/>
              <a:gd name="connsiteX3" fmla="*/ 2068601 w 3188916"/>
              <a:gd name="connsiteY3" fmla="*/ 3117232 h 3122452"/>
              <a:gd name="connsiteX4" fmla="*/ 2048298 w 3188916"/>
              <a:gd name="connsiteY4" fmla="*/ 3122452 h 3122452"/>
              <a:gd name="connsiteX5" fmla="*/ 23968 w 3188916"/>
              <a:gd name="connsiteY5" fmla="*/ 1860585 h 3122452"/>
              <a:gd name="connsiteX6" fmla="*/ 8232 w 3188916"/>
              <a:gd name="connsiteY6" fmla="*/ 1757482 h 3122452"/>
              <a:gd name="connsiteX7" fmla="*/ 0 w 3188916"/>
              <a:gd name="connsiteY7" fmla="*/ 1594458 h 3122452"/>
              <a:gd name="connsiteX8" fmla="*/ 272308 w 3188916"/>
              <a:gd name="connsiteY8" fmla="*/ 702981 h 312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8916" h="3122452">
                <a:moveTo>
                  <a:pt x="272308" y="702981"/>
                </a:moveTo>
                <a:cubicBezTo>
                  <a:pt x="558844" y="278853"/>
                  <a:pt x="1044086" y="0"/>
                  <a:pt x="1594458" y="0"/>
                </a:cubicBezTo>
                <a:cubicBezTo>
                  <a:pt x="2475053" y="0"/>
                  <a:pt x="3188916" y="713863"/>
                  <a:pt x="3188916" y="1594458"/>
                </a:cubicBezTo>
                <a:cubicBezTo>
                  <a:pt x="3188916" y="2309941"/>
                  <a:pt x="2717655" y="2915356"/>
                  <a:pt x="2068601" y="3117232"/>
                </a:cubicBezTo>
                <a:lnTo>
                  <a:pt x="2048298" y="3122452"/>
                </a:lnTo>
                <a:lnTo>
                  <a:pt x="23968" y="1860585"/>
                </a:lnTo>
                <a:lnTo>
                  <a:pt x="8232" y="1757482"/>
                </a:lnTo>
                <a:cubicBezTo>
                  <a:pt x="2789" y="1703881"/>
                  <a:pt x="0" y="1649495"/>
                  <a:pt x="0" y="1594458"/>
                </a:cubicBezTo>
                <a:cubicBezTo>
                  <a:pt x="0" y="1264235"/>
                  <a:pt x="100387" y="957458"/>
                  <a:pt x="272308" y="702981"/>
                </a:cubicBezTo>
                <a:close/>
              </a:path>
            </a:pathLst>
          </a:custGeom>
          <a:gradFill flip="none" rotWithShape="1">
            <a:gsLst>
              <a:gs pos="64000">
                <a:srgbClr val="D8320A">
                  <a:alpha val="3000"/>
                </a:srgbClr>
              </a:gs>
              <a:gs pos="100000">
                <a:srgbClr val="CD3F0D">
                  <a:alpha val="0"/>
                </a:srgbClr>
              </a:gs>
              <a:gs pos="0">
                <a:srgbClr val="FF0000">
                  <a:alpha val="39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spTree>
    <p:extLst>
      <p:ext uri="{BB962C8B-B14F-4D97-AF65-F5344CB8AC3E}">
        <p14:creationId xmlns:p14="http://schemas.microsoft.com/office/powerpoint/2010/main" val="2807259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标题幻灯片">
    <p:spTree>
      <p:nvGrpSpPr>
        <p:cNvPr id="1" name=""/>
        <p:cNvGrpSpPr/>
        <p:nvPr/>
      </p:nvGrpSpPr>
      <p:grpSpPr>
        <a:xfrm>
          <a:off x="0" y="0"/>
          <a:ext cx="0" cy="0"/>
          <a:chOff x="0" y="0"/>
          <a:chExt cx="0" cy="0"/>
        </a:xfrm>
      </p:grpSpPr>
      <p:pic>
        <p:nvPicPr>
          <p:cNvPr id="10" name="图片 9" descr="背景图案&#10;&#10;描述已自动生成">
            <a:extLst>
              <a:ext uri="{FF2B5EF4-FFF2-40B4-BE49-F238E27FC236}">
                <a16:creationId xmlns:a16="http://schemas.microsoft.com/office/drawing/2014/main" id="{3095444A-4690-4E91-B7CA-90E5FDD377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91460"/>
          </a:xfrm>
          <a:prstGeom prst="rect">
            <a:avLst/>
          </a:prstGeom>
        </p:spPr>
      </p:pic>
      <p:pic>
        <p:nvPicPr>
          <p:cNvPr id="5" name="图片 4">
            <a:extLst>
              <a:ext uri="{FF2B5EF4-FFF2-40B4-BE49-F238E27FC236}">
                <a16:creationId xmlns:a16="http://schemas.microsoft.com/office/drawing/2014/main" id="{701236A8-9B38-4F04-890C-01DFF19ABDD9}"/>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rcRect l="543" r="543"/>
          <a:stretch/>
        </p:blipFill>
        <p:spPr>
          <a:xfrm>
            <a:off x="-1" y="0"/>
            <a:ext cx="12192001" cy="6931120"/>
          </a:xfrm>
          <a:prstGeom prst="rect">
            <a:avLst/>
          </a:prstGeom>
        </p:spPr>
      </p:pic>
      <p:sp>
        <p:nvSpPr>
          <p:cNvPr id="6" name="任意多边形: 形状 5">
            <a:extLst>
              <a:ext uri="{FF2B5EF4-FFF2-40B4-BE49-F238E27FC236}">
                <a16:creationId xmlns:a16="http://schemas.microsoft.com/office/drawing/2014/main" id="{BA967602-BFCD-4100-992E-70BAD8D2EE91}"/>
              </a:ext>
            </a:extLst>
          </p:cNvPr>
          <p:cNvSpPr/>
          <p:nvPr userDrawn="1"/>
        </p:nvSpPr>
        <p:spPr>
          <a:xfrm>
            <a:off x="0" y="2002283"/>
            <a:ext cx="4773307" cy="4855717"/>
          </a:xfrm>
          <a:custGeom>
            <a:avLst/>
            <a:gdLst>
              <a:gd name="connsiteX0" fmla="*/ 2032250 w 4773307"/>
              <a:gd name="connsiteY0" fmla="*/ 0 h 4855717"/>
              <a:gd name="connsiteX1" fmla="*/ 4773307 w 4773307"/>
              <a:gd name="connsiteY1" fmla="*/ 2741057 h 4855717"/>
              <a:gd name="connsiteX2" fmla="*/ 3970470 w 4773307"/>
              <a:gd name="connsiteY2" fmla="*/ 4679277 h 4855717"/>
              <a:gd name="connsiteX3" fmla="*/ 3776337 w 4773307"/>
              <a:gd name="connsiteY3" fmla="*/ 4855717 h 4855717"/>
              <a:gd name="connsiteX4" fmla="*/ 288163 w 4773307"/>
              <a:gd name="connsiteY4" fmla="*/ 4855717 h 4855717"/>
              <a:gd name="connsiteX5" fmla="*/ 94030 w 4773307"/>
              <a:gd name="connsiteY5" fmla="*/ 4679277 h 4855717"/>
              <a:gd name="connsiteX6" fmla="*/ 0 w 4773307"/>
              <a:gd name="connsiteY6" fmla="*/ 4575818 h 4855717"/>
              <a:gd name="connsiteX7" fmla="*/ 0 w 4773307"/>
              <a:gd name="connsiteY7" fmla="*/ 906296 h 4855717"/>
              <a:gd name="connsiteX8" fmla="*/ 94030 w 4773307"/>
              <a:gd name="connsiteY8" fmla="*/ 802837 h 4855717"/>
              <a:gd name="connsiteX9" fmla="*/ 2032250 w 4773307"/>
              <a:gd name="connsiteY9" fmla="*/ 0 h 485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73307" h="4855717">
                <a:moveTo>
                  <a:pt x="2032250" y="0"/>
                </a:moveTo>
                <a:cubicBezTo>
                  <a:pt x="3546094" y="0"/>
                  <a:pt x="4773307" y="1227213"/>
                  <a:pt x="4773307" y="2741057"/>
                </a:cubicBezTo>
                <a:cubicBezTo>
                  <a:pt x="4773307" y="3497979"/>
                  <a:pt x="4466504" y="4183244"/>
                  <a:pt x="3970470" y="4679277"/>
                </a:cubicBezTo>
                <a:lnTo>
                  <a:pt x="3776337" y="4855717"/>
                </a:lnTo>
                <a:lnTo>
                  <a:pt x="288163" y="4855717"/>
                </a:lnTo>
                <a:lnTo>
                  <a:pt x="94030" y="4679277"/>
                </a:lnTo>
                <a:lnTo>
                  <a:pt x="0" y="4575818"/>
                </a:lnTo>
                <a:lnTo>
                  <a:pt x="0" y="906296"/>
                </a:lnTo>
                <a:lnTo>
                  <a:pt x="94030" y="802837"/>
                </a:lnTo>
                <a:cubicBezTo>
                  <a:pt x="590064" y="306803"/>
                  <a:pt x="1275328" y="0"/>
                  <a:pt x="2032250" y="0"/>
                </a:cubicBezTo>
                <a:close/>
              </a:path>
            </a:pathLst>
          </a:custGeom>
          <a:gradFill flip="none" rotWithShape="1">
            <a:gsLst>
              <a:gs pos="0">
                <a:schemeClr val="accent1">
                  <a:alpha val="0"/>
                </a:schemeClr>
              </a:gs>
              <a:gs pos="100000">
                <a:schemeClr val="accent1">
                  <a:lumMod val="75000"/>
                  <a:alpha val="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7" name="椭圆 6">
            <a:extLst>
              <a:ext uri="{FF2B5EF4-FFF2-40B4-BE49-F238E27FC236}">
                <a16:creationId xmlns:a16="http://schemas.microsoft.com/office/drawing/2014/main" id="{27BCDA84-99E2-4654-81DC-F101EA7F1EC2}"/>
              </a:ext>
            </a:extLst>
          </p:cNvPr>
          <p:cNvSpPr/>
          <p:nvPr userDrawn="1"/>
        </p:nvSpPr>
        <p:spPr>
          <a:xfrm>
            <a:off x="10159746" y="4376529"/>
            <a:ext cx="1331822" cy="1331822"/>
          </a:xfrm>
          <a:prstGeom prst="ellipse">
            <a:avLst/>
          </a:prstGeom>
          <a:gradFill flip="none" rotWithShape="1">
            <a:gsLst>
              <a:gs pos="0">
                <a:schemeClr val="accent1">
                  <a:alpha val="0"/>
                </a:schemeClr>
              </a:gs>
              <a:gs pos="100000">
                <a:schemeClr val="accent1">
                  <a:lumMod val="75000"/>
                  <a:alpha val="1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8" name="椭圆 7">
            <a:extLst>
              <a:ext uri="{FF2B5EF4-FFF2-40B4-BE49-F238E27FC236}">
                <a16:creationId xmlns:a16="http://schemas.microsoft.com/office/drawing/2014/main" id="{509BCB7F-FD6D-49D8-A951-803FF4D47066}"/>
              </a:ext>
            </a:extLst>
          </p:cNvPr>
          <p:cNvSpPr/>
          <p:nvPr userDrawn="1"/>
        </p:nvSpPr>
        <p:spPr>
          <a:xfrm>
            <a:off x="4521132" y="279264"/>
            <a:ext cx="3149736" cy="3149736"/>
          </a:xfrm>
          <a:prstGeom prst="ellipse">
            <a:avLst/>
          </a:prstGeom>
          <a:gradFill flip="none" rotWithShape="1">
            <a:gsLst>
              <a:gs pos="0">
                <a:schemeClr val="accent1">
                  <a:alpha val="0"/>
                </a:schemeClr>
              </a:gs>
              <a:gs pos="100000">
                <a:schemeClr val="accent1">
                  <a:lumMod val="75000"/>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pic>
        <p:nvPicPr>
          <p:cNvPr id="9" name="图片 8" descr="亮着灯的建筑&#10;&#10;低可信度描述已自动生成">
            <a:extLst>
              <a:ext uri="{FF2B5EF4-FFF2-40B4-BE49-F238E27FC236}">
                <a16:creationId xmlns:a16="http://schemas.microsoft.com/office/drawing/2014/main" id="{02765BA0-146C-4996-BBB0-1E913992F03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069" y="4079746"/>
            <a:ext cx="12192000" cy="2918932"/>
          </a:xfrm>
          <a:prstGeom prst="rect">
            <a:avLst/>
          </a:prstGeom>
        </p:spPr>
      </p:pic>
    </p:spTree>
    <p:extLst>
      <p:ext uri="{BB962C8B-B14F-4D97-AF65-F5344CB8AC3E}">
        <p14:creationId xmlns:p14="http://schemas.microsoft.com/office/powerpoint/2010/main" val="92233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pic>
        <p:nvPicPr>
          <p:cNvPr id="3" name="图片 2" descr="背景图案&#10;&#10;描述已自动生成">
            <a:extLst>
              <a:ext uri="{FF2B5EF4-FFF2-40B4-BE49-F238E27FC236}">
                <a16:creationId xmlns:a16="http://schemas.microsoft.com/office/drawing/2014/main" id="{CD2E8A48-560E-46AC-9AB1-5552631F1144}"/>
              </a:ext>
            </a:extLst>
          </p:cNvPr>
          <p:cNvPicPr>
            <a:picLocks noChangeAspect="1"/>
          </p:cNvPicPr>
          <p:nvPr userDrawn="1"/>
        </p:nvPicPr>
        <p:blipFill>
          <a:blip r:embed="rId2">
            <a:alphaModFix amt="7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4975" y="0"/>
            <a:ext cx="12192000" cy="6858000"/>
          </a:xfrm>
          <a:prstGeom prst="rect">
            <a:avLst/>
          </a:prstGeom>
        </p:spPr>
      </p:pic>
      <p:pic>
        <p:nvPicPr>
          <p:cNvPr id="6" name="图形 5">
            <a:extLst>
              <a:ext uri="{FF2B5EF4-FFF2-40B4-BE49-F238E27FC236}">
                <a16:creationId xmlns:a16="http://schemas.microsoft.com/office/drawing/2014/main" id="{2B1B40F9-5FC7-4B7A-A7ED-9685A9B802B3}"/>
              </a:ext>
            </a:extLst>
          </p:cNvPr>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6007" y="133004"/>
            <a:ext cx="1263535" cy="1263535"/>
          </a:xfrm>
          <a:prstGeom prst="rect">
            <a:avLst/>
          </a:prstGeom>
        </p:spPr>
      </p:pic>
      <p:cxnSp>
        <p:nvCxnSpPr>
          <p:cNvPr id="7" name="直接连接符 6">
            <a:extLst>
              <a:ext uri="{FF2B5EF4-FFF2-40B4-BE49-F238E27FC236}">
                <a16:creationId xmlns:a16="http://schemas.microsoft.com/office/drawing/2014/main" id="{FDC8C549-AD38-4355-BA5C-CC7C13AC43A9}"/>
              </a:ext>
            </a:extLst>
          </p:cNvPr>
          <p:cNvCxnSpPr/>
          <p:nvPr userDrawn="1"/>
        </p:nvCxnSpPr>
        <p:spPr>
          <a:xfrm>
            <a:off x="1396539" y="1030778"/>
            <a:ext cx="1079546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199BEDC-6341-4CB8-89F9-99384B452C62}"/>
              </a:ext>
            </a:extLst>
          </p:cNvPr>
          <p:cNvSpPr txBox="1"/>
          <p:nvPr userDrawn="1"/>
        </p:nvSpPr>
        <p:spPr>
          <a:xfrm>
            <a:off x="1529542" y="341852"/>
            <a:ext cx="7948073" cy="812530"/>
          </a:xfrm>
          <a:prstGeom prst="rect">
            <a:avLst/>
          </a:prstGeom>
          <a:noFill/>
        </p:spPr>
        <p:txBody>
          <a:bodyPr wrap="none" rtlCol="0">
            <a:spAutoFit/>
          </a:bodyPr>
          <a:lstStyle/>
          <a:p>
            <a:pPr>
              <a:lnSpc>
                <a:spcPct val="130000"/>
              </a:lnSpc>
            </a:pPr>
            <a:r>
              <a:rPr lang="zh-CN" altLang="en-US" sz="3600" kern="1200" dirty="0">
                <a:solidFill>
                  <a:schemeClr val="accent1"/>
                </a:solidFill>
                <a:latin typeface="思源黑体 CN Heavy" panose="020B0A00000000000000" pitchFamily="34" charset="-122"/>
                <a:ea typeface="思源黑体 CN Heavy" panose="020B0A00000000000000" pitchFamily="34" charset="-122"/>
                <a:cs typeface="+mn-cs"/>
              </a:rPr>
              <a:t>第一部分  中国抗击新冠肺炎疫情概述</a:t>
            </a:r>
          </a:p>
        </p:txBody>
      </p:sp>
    </p:spTree>
    <p:extLst>
      <p:ext uri="{BB962C8B-B14F-4D97-AF65-F5344CB8AC3E}">
        <p14:creationId xmlns:p14="http://schemas.microsoft.com/office/powerpoint/2010/main" val="4163006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pic>
        <p:nvPicPr>
          <p:cNvPr id="3" name="图片 2" descr="背景图案&#10;&#10;描述已自动生成">
            <a:extLst>
              <a:ext uri="{FF2B5EF4-FFF2-40B4-BE49-F238E27FC236}">
                <a16:creationId xmlns:a16="http://schemas.microsoft.com/office/drawing/2014/main" id="{CD2E8A48-560E-46AC-9AB1-5552631F1144}"/>
              </a:ext>
            </a:extLst>
          </p:cNvPr>
          <p:cNvPicPr>
            <a:picLocks noChangeAspect="1"/>
          </p:cNvPicPr>
          <p:nvPr userDrawn="1"/>
        </p:nvPicPr>
        <p:blipFill>
          <a:blip r:embed="rId2">
            <a:alphaModFix amt="7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图形 5">
            <a:extLst>
              <a:ext uri="{FF2B5EF4-FFF2-40B4-BE49-F238E27FC236}">
                <a16:creationId xmlns:a16="http://schemas.microsoft.com/office/drawing/2014/main" id="{2B1B40F9-5FC7-4B7A-A7ED-9685A9B802B3}"/>
              </a:ext>
            </a:extLst>
          </p:cNvPr>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6007" y="133004"/>
            <a:ext cx="1263535" cy="1263535"/>
          </a:xfrm>
          <a:prstGeom prst="rect">
            <a:avLst/>
          </a:prstGeom>
        </p:spPr>
      </p:pic>
      <p:cxnSp>
        <p:nvCxnSpPr>
          <p:cNvPr id="7" name="直接连接符 6">
            <a:extLst>
              <a:ext uri="{FF2B5EF4-FFF2-40B4-BE49-F238E27FC236}">
                <a16:creationId xmlns:a16="http://schemas.microsoft.com/office/drawing/2014/main" id="{FDC8C549-AD38-4355-BA5C-CC7C13AC43A9}"/>
              </a:ext>
            </a:extLst>
          </p:cNvPr>
          <p:cNvCxnSpPr/>
          <p:nvPr userDrawn="1"/>
        </p:nvCxnSpPr>
        <p:spPr>
          <a:xfrm>
            <a:off x="1396539" y="1030778"/>
            <a:ext cx="1079546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199BEDC-6341-4CB8-89F9-99384B452C62}"/>
              </a:ext>
            </a:extLst>
          </p:cNvPr>
          <p:cNvSpPr txBox="1"/>
          <p:nvPr userDrawn="1"/>
        </p:nvSpPr>
        <p:spPr>
          <a:xfrm>
            <a:off x="1529542" y="341852"/>
            <a:ext cx="5936240" cy="812530"/>
          </a:xfrm>
          <a:prstGeom prst="rect">
            <a:avLst/>
          </a:prstGeom>
          <a:noFill/>
        </p:spPr>
        <p:txBody>
          <a:bodyPr wrap="none" rtlCol="0">
            <a:spAutoFit/>
          </a:bodyPr>
          <a:lstStyle/>
          <a:p>
            <a:pPr>
              <a:lnSpc>
                <a:spcPct val="130000"/>
              </a:lnSpc>
            </a:pPr>
            <a:r>
              <a:rPr lang="zh-CN" altLang="en-US" sz="3600" kern="1200" dirty="0">
                <a:solidFill>
                  <a:schemeClr val="accent1"/>
                </a:solidFill>
                <a:latin typeface="思源黑体 CN Heavy" panose="020B0A00000000000000" pitchFamily="34" charset="-122"/>
                <a:ea typeface="思源黑体 CN Heavy" panose="020B0A00000000000000" pitchFamily="34" charset="-122"/>
                <a:cs typeface="+mn-cs"/>
              </a:rPr>
              <a:t>第二部分  伟大抗疫精神解析</a:t>
            </a:r>
          </a:p>
        </p:txBody>
      </p:sp>
    </p:spTree>
    <p:extLst>
      <p:ext uri="{BB962C8B-B14F-4D97-AF65-F5344CB8AC3E}">
        <p14:creationId xmlns:p14="http://schemas.microsoft.com/office/powerpoint/2010/main" val="1130463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标题幻灯片">
    <p:spTree>
      <p:nvGrpSpPr>
        <p:cNvPr id="1" name=""/>
        <p:cNvGrpSpPr/>
        <p:nvPr/>
      </p:nvGrpSpPr>
      <p:grpSpPr>
        <a:xfrm>
          <a:off x="0" y="0"/>
          <a:ext cx="0" cy="0"/>
          <a:chOff x="0" y="0"/>
          <a:chExt cx="0" cy="0"/>
        </a:xfrm>
      </p:grpSpPr>
      <p:pic>
        <p:nvPicPr>
          <p:cNvPr id="3" name="图片 2" descr="背景图案&#10;&#10;描述已自动生成">
            <a:extLst>
              <a:ext uri="{FF2B5EF4-FFF2-40B4-BE49-F238E27FC236}">
                <a16:creationId xmlns:a16="http://schemas.microsoft.com/office/drawing/2014/main" id="{CD2E8A48-560E-46AC-9AB1-5552631F1144}"/>
              </a:ext>
            </a:extLst>
          </p:cNvPr>
          <p:cNvPicPr>
            <a:picLocks noChangeAspect="1"/>
          </p:cNvPicPr>
          <p:nvPr userDrawn="1"/>
        </p:nvPicPr>
        <p:blipFill>
          <a:blip r:embed="rId2">
            <a:alphaModFix amt="7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图形 5">
            <a:extLst>
              <a:ext uri="{FF2B5EF4-FFF2-40B4-BE49-F238E27FC236}">
                <a16:creationId xmlns:a16="http://schemas.microsoft.com/office/drawing/2014/main" id="{2B1B40F9-5FC7-4B7A-A7ED-9685A9B802B3}"/>
              </a:ext>
            </a:extLst>
          </p:cNvPr>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6007" y="133004"/>
            <a:ext cx="1263535" cy="1263535"/>
          </a:xfrm>
          <a:prstGeom prst="rect">
            <a:avLst/>
          </a:prstGeom>
        </p:spPr>
      </p:pic>
      <p:cxnSp>
        <p:nvCxnSpPr>
          <p:cNvPr id="7" name="直接连接符 6">
            <a:extLst>
              <a:ext uri="{FF2B5EF4-FFF2-40B4-BE49-F238E27FC236}">
                <a16:creationId xmlns:a16="http://schemas.microsoft.com/office/drawing/2014/main" id="{FDC8C549-AD38-4355-BA5C-CC7C13AC43A9}"/>
              </a:ext>
            </a:extLst>
          </p:cNvPr>
          <p:cNvCxnSpPr/>
          <p:nvPr userDrawn="1"/>
        </p:nvCxnSpPr>
        <p:spPr>
          <a:xfrm>
            <a:off x="1396539" y="1030778"/>
            <a:ext cx="1079546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199BEDC-6341-4CB8-89F9-99384B452C62}"/>
              </a:ext>
            </a:extLst>
          </p:cNvPr>
          <p:cNvSpPr txBox="1"/>
          <p:nvPr userDrawn="1"/>
        </p:nvSpPr>
        <p:spPr>
          <a:xfrm>
            <a:off x="1529542" y="341852"/>
            <a:ext cx="7285969" cy="812530"/>
          </a:xfrm>
          <a:prstGeom prst="rect">
            <a:avLst/>
          </a:prstGeom>
          <a:noFill/>
        </p:spPr>
        <p:txBody>
          <a:bodyPr wrap="none" rtlCol="0">
            <a:spAutoFit/>
          </a:bodyPr>
          <a:lstStyle/>
          <a:p>
            <a:pPr>
              <a:lnSpc>
                <a:spcPct val="130000"/>
              </a:lnSpc>
            </a:pPr>
            <a:r>
              <a:rPr lang="zh-CN" altLang="en-US" sz="3600" kern="1200" dirty="0">
                <a:solidFill>
                  <a:schemeClr val="accent1"/>
                </a:solidFill>
                <a:latin typeface="思源黑体 CN Heavy" panose="020B0A00000000000000" pitchFamily="34" charset="-122"/>
                <a:ea typeface="思源黑体 CN Heavy" panose="020B0A00000000000000" pitchFamily="34" charset="-122"/>
                <a:cs typeface="+mn-cs"/>
              </a:rPr>
              <a:t>第三部分  伟大抗疫精神的时代价值</a:t>
            </a:r>
          </a:p>
        </p:txBody>
      </p:sp>
    </p:spTree>
    <p:extLst>
      <p:ext uri="{BB962C8B-B14F-4D97-AF65-F5344CB8AC3E}">
        <p14:creationId xmlns:p14="http://schemas.microsoft.com/office/powerpoint/2010/main" val="3013709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3_标题幻灯片">
    <p:spTree>
      <p:nvGrpSpPr>
        <p:cNvPr id="1" name=""/>
        <p:cNvGrpSpPr/>
        <p:nvPr/>
      </p:nvGrpSpPr>
      <p:grpSpPr>
        <a:xfrm>
          <a:off x="0" y="0"/>
          <a:ext cx="0" cy="0"/>
          <a:chOff x="0" y="0"/>
          <a:chExt cx="0" cy="0"/>
        </a:xfrm>
      </p:grpSpPr>
      <p:pic>
        <p:nvPicPr>
          <p:cNvPr id="3" name="图片 2" descr="背景图案&#10;&#10;描述已自动生成">
            <a:extLst>
              <a:ext uri="{FF2B5EF4-FFF2-40B4-BE49-F238E27FC236}">
                <a16:creationId xmlns:a16="http://schemas.microsoft.com/office/drawing/2014/main" id="{CD2E8A48-560E-46AC-9AB1-5552631F1144}"/>
              </a:ext>
            </a:extLst>
          </p:cNvPr>
          <p:cNvPicPr>
            <a:picLocks noChangeAspect="1"/>
          </p:cNvPicPr>
          <p:nvPr userDrawn="1"/>
        </p:nvPicPr>
        <p:blipFill>
          <a:blip r:embed="rId2">
            <a:alphaModFix amt="7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图形 5">
            <a:extLst>
              <a:ext uri="{FF2B5EF4-FFF2-40B4-BE49-F238E27FC236}">
                <a16:creationId xmlns:a16="http://schemas.microsoft.com/office/drawing/2014/main" id="{2B1B40F9-5FC7-4B7A-A7ED-9685A9B802B3}"/>
              </a:ext>
            </a:extLst>
          </p:cNvPr>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6007" y="133004"/>
            <a:ext cx="1263535" cy="1263535"/>
          </a:xfrm>
          <a:prstGeom prst="rect">
            <a:avLst/>
          </a:prstGeom>
        </p:spPr>
      </p:pic>
      <p:cxnSp>
        <p:nvCxnSpPr>
          <p:cNvPr id="7" name="直接连接符 6">
            <a:extLst>
              <a:ext uri="{FF2B5EF4-FFF2-40B4-BE49-F238E27FC236}">
                <a16:creationId xmlns:a16="http://schemas.microsoft.com/office/drawing/2014/main" id="{FDC8C549-AD38-4355-BA5C-CC7C13AC43A9}"/>
              </a:ext>
            </a:extLst>
          </p:cNvPr>
          <p:cNvCxnSpPr/>
          <p:nvPr userDrawn="1"/>
        </p:nvCxnSpPr>
        <p:spPr>
          <a:xfrm>
            <a:off x="1396539" y="1030778"/>
            <a:ext cx="1079546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199BEDC-6341-4CB8-89F9-99384B452C62}"/>
              </a:ext>
            </a:extLst>
          </p:cNvPr>
          <p:cNvSpPr txBox="1"/>
          <p:nvPr userDrawn="1"/>
        </p:nvSpPr>
        <p:spPr>
          <a:xfrm>
            <a:off x="1529542" y="341852"/>
            <a:ext cx="8706230" cy="812530"/>
          </a:xfrm>
          <a:prstGeom prst="rect">
            <a:avLst/>
          </a:prstGeom>
          <a:noFill/>
        </p:spPr>
        <p:txBody>
          <a:bodyPr wrap="none" rtlCol="0">
            <a:spAutoFit/>
          </a:bodyPr>
          <a:lstStyle/>
          <a:p>
            <a:pPr>
              <a:lnSpc>
                <a:spcPct val="130000"/>
              </a:lnSpc>
            </a:pPr>
            <a:r>
              <a:rPr lang="zh-CN" altLang="en-US" sz="3600" kern="1200" dirty="0">
                <a:solidFill>
                  <a:schemeClr val="accent1"/>
                </a:solidFill>
                <a:latin typeface="思源黑体 CN Heavy" panose="020B0A00000000000000" pitchFamily="34" charset="-122"/>
                <a:ea typeface="思源黑体 CN Heavy" panose="020B0A00000000000000" pitchFamily="34" charset="-122"/>
                <a:cs typeface="+mn-cs"/>
              </a:rPr>
              <a:t>第四部分  两弹一星精神的历史低位和意义</a:t>
            </a:r>
          </a:p>
        </p:txBody>
      </p:sp>
    </p:spTree>
    <p:extLst>
      <p:ext uri="{BB962C8B-B14F-4D97-AF65-F5344CB8AC3E}">
        <p14:creationId xmlns:p14="http://schemas.microsoft.com/office/powerpoint/2010/main" val="4044291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4_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F0137BCA-ACD3-4383-90BF-2F5D5851215E}"/>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rcRect l="543" r="543"/>
          <a:stretch/>
        </p:blipFill>
        <p:spPr>
          <a:xfrm>
            <a:off x="-1" y="0"/>
            <a:ext cx="12192001" cy="6931120"/>
          </a:xfrm>
          <a:prstGeom prst="rect">
            <a:avLst/>
          </a:prstGeom>
        </p:spPr>
      </p:pic>
    </p:spTree>
    <p:extLst>
      <p:ext uri="{BB962C8B-B14F-4D97-AF65-F5344CB8AC3E}">
        <p14:creationId xmlns:p14="http://schemas.microsoft.com/office/powerpoint/2010/main" val="3273001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32E5FF0-5FFF-4C26-9D4C-A97DE58A425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8850EE7-7A32-4CCA-9BE9-D2CC4D565EC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65EB01-AE57-4C1E-B5B3-E4F856E436CD}"/>
              </a:ext>
            </a:extLst>
          </p:cNvPr>
          <p:cNvSpPr>
            <a:spLocks noGrp="1"/>
          </p:cNvSpPr>
          <p:nvPr>
            <p:ph type="dt" sz="half" idx="10"/>
          </p:nvPr>
        </p:nvSpPr>
        <p:spPr/>
        <p:txBody>
          <a:bodyPr/>
          <a:lstStyle/>
          <a:p>
            <a:fld id="{2003B628-5D8B-42C2-B600-3A5CCA050A21}" type="datetimeFigureOut">
              <a:rPr lang="zh-CN" altLang="en-US" smtClean="0"/>
              <a:t>2025/3/10</a:t>
            </a:fld>
            <a:endParaRPr lang="zh-CN" altLang="en-US"/>
          </a:p>
        </p:txBody>
      </p:sp>
      <p:sp>
        <p:nvSpPr>
          <p:cNvPr id="5" name="页脚占位符 4">
            <a:extLst>
              <a:ext uri="{FF2B5EF4-FFF2-40B4-BE49-F238E27FC236}">
                <a16:creationId xmlns:a16="http://schemas.microsoft.com/office/drawing/2014/main" id="{8CA88A1C-F04E-4B51-9AF0-628B5D8489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F3D914-FC26-47F6-88B8-B4DE89E44B58}"/>
              </a:ext>
            </a:extLst>
          </p:cNvPr>
          <p:cNvSpPr>
            <a:spLocks noGrp="1"/>
          </p:cNvSpPr>
          <p:nvPr>
            <p:ph type="sldNum" sz="quarter" idx="12"/>
          </p:nvPr>
        </p:nvSpPr>
        <p:spPr/>
        <p:txBody>
          <a:bodyPr/>
          <a:lstStyle/>
          <a:p>
            <a:fld id="{23C6C045-F3D4-4068-9D59-1A914D4B589F}" type="slidenum">
              <a:rPr lang="zh-CN" altLang="en-US" smtClean="0"/>
              <a:t>‹#›</a:t>
            </a:fld>
            <a:endParaRPr lang="zh-CN" altLang="en-US"/>
          </a:p>
        </p:txBody>
      </p:sp>
    </p:spTree>
    <p:extLst>
      <p:ext uri="{BB962C8B-B14F-4D97-AF65-F5344CB8AC3E}">
        <p14:creationId xmlns:p14="http://schemas.microsoft.com/office/powerpoint/2010/main" val="418506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4_标题幻灯片">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778755B-D38E-3148-9592-CF5276C1EB35}"/>
              </a:ext>
            </a:extLst>
          </p:cNvPr>
          <p:cNvPicPr>
            <a:picLocks noChangeAspect="1"/>
          </p:cNvPicPr>
          <p:nvPr userDrawn="1"/>
        </p:nvPicPr>
        <p:blipFill>
          <a:blip r:embed="rId2">
            <a:alphaModFix amt="85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a:stretch/>
        </p:blipFill>
        <p:spPr>
          <a:xfrm>
            <a:off x="0" y="1055"/>
            <a:ext cx="12192000" cy="6855889"/>
          </a:xfrm>
          <a:prstGeom prst="rect">
            <a:avLst/>
          </a:prstGeom>
        </p:spPr>
      </p:pic>
      <p:sp>
        <p:nvSpPr>
          <p:cNvPr id="3" name="矩形 2">
            <a:extLst>
              <a:ext uri="{FF2B5EF4-FFF2-40B4-BE49-F238E27FC236}">
                <a16:creationId xmlns:a16="http://schemas.microsoft.com/office/drawing/2014/main" id="{CE836549-A6D9-45B1-838F-5076FF3FC4B1}"/>
              </a:ext>
            </a:extLst>
          </p:cNvPr>
          <p:cNvSpPr/>
          <p:nvPr userDrawn="1"/>
        </p:nvSpPr>
        <p:spPr>
          <a:xfrm>
            <a:off x="0" y="-1056"/>
            <a:ext cx="12192000" cy="6858000"/>
          </a:xfrm>
          <a:prstGeom prst="rect">
            <a:avLst/>
          </a:prstGeom>
          <a:gradFill>
            <a:gsLst>
              <a:gs pos="0">
                <a:schemeClr val="accent1">
                  <a:lumMod val="5000"/>
                  <a:lumOff val="95000"/>
                  <a:alpha val="94000"/>
                </a:schemeClr>
              </a:gs>
              <a:gs pos="100000">
                <a:schemeClr val="bg1">
                  <a:alpha val="47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庞门正道标题体" panose="02010600030101010101" charset="-122"/>
            </a:endParaRPr>
          </a:p>
        </p:txBody>
      </p:sp>
    </p:spTree>
    <p:extLst>
      <p:ext uri="{BB962C8B-B14F-4D97-AF65-F5344CB8AC3E}">
        <p14:creationId xmlns:p14="http://schemas.microsoft.com/office/powerpoint/2010/main" val="211550318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86000">
              <a:srgbClr val="FBA79F">
                <a:alpha val="39000"/>
              </a:srgbClr>
            </a:gs>
            <a:gs pos="58000">
              <a:srgbClr val="FBAEA6">
                <a:lumMod val="10000"/>
                <a:lumOff val="90000"/>
              </a:srgbClr>
            </a:gs>
            <a:gs pos="95000">
              <a:schemeClr val="accent1">
                <a:lumMod val="45000"/>
                <a:lumOff val="55000"/>
                <a:alpha val="21000"/>
              </a:schemeClr>
            </a:gs>
            <a:gs pos="100000">
              <a:schemeClr val="accent1">
                <a:alpha val="21000"/>
                <a:lumMod val="0"/>
                <a:lumOff val="100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C44D00B-8685-4FD2-B603-9CF64DE596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56565CF9-4ADB-4621-8E16-6E792E9179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CDB43CC7-AF41-4AA8-8BDA-3A4745272D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Light" panose="020B0300000000000000" pitchFamily="34" charset="-122"/>
                <a:ea typeface="思源黑体 CN Light" panose="020B0300000000000000" pitchFamily="34" charset="-122"/>
              </a:defRPr>
            </a:lvl1pPr>
          </a:lstStyle>
          <a:p>
            <a:fld id="{2003B628-5D8B-42C2-B600-3A5CCA050A21}" type="datetimeFigureOut">
              <a:rPr lang="zh-CN" altLang="en-US" smtClean="0"/>
              <a:pPr/>
              <a:t>2025/3/10</a:t>
            </a:fld>
            <a:endParaRPr lang="zh-CN" altLang="en-US" dirty="0"/>
          </a:p>
        </p:txBody>
      </p:sp>
      <p:sp>
        <p:nvSpPr>
          <p:cNvPr id="5" name="页脚占位符 4">
            <a:extLst>
              <a:ext uri="{FF2B5EF4-FFF2-40B4-BE49-F238E27FC236}">
                <a16:creationId xmlns:a16="http://schemas.microsoft.com/office/drawing/2014/main" id="{42C40B95-4109-4CC2-8912-3BC99D570A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Light" panose="020B0300000000000000" pitchFamily="34" charset="-122"/>
                <a:ea typeface="思源黑体 CN Light" panose="020B0300000000000000" pitchFamily="34" charset="-122"/>
              </a:defRPr>
            </a:lvl1pPr>
          </a:lstStyle>
          <a:p>
            <a:endParaRPr lang="zh-CN" altLang="en-US" dirty="0"/>
          </a:p>
        </p:txBody>
      </p:sp>
      <p:sp>
        <p:nvSpPr>
          <p:cNvPr id="6" name="灯片编号占位符 5">
            <a:extLst>
              <a:ext uri="{FF2B5EF4-FFF2-40B4-BE49-F238E27FC236}">
                <a16:creationId xmlns:a16="http://schemas.microsoft.com/office/drawing/2014/main" id="{681CC5DD-0B9C-4E28-810E-15108114C2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Light" panose="020B0300000000000000" pitchFamily="34" charset="-122"/>
                <a:ea typeface="思源黑体 CN Light" panose="020B0300000000000000" pitchFamily="34" charset="-122"/>
              </a:defRPr>
            </a:lvl1pPr>
          </a:lstStyle>
          <a:p>
            <a:fld id="{23C6C045-F3D4-4068-9D59-1A914D4B589F}" type="slidenum">
              <a:rPr lang="zh-CN" altLang="en-US" smtClean="0"/>
              <a:pPr/>
              <a:t>‹#›</a:t>
            </a:fld>
            <a:endParaRPr lang="zh-CN" altLang="en-US" dirty="0"/>
          </a:p>
        </p:txBody>
      </p:sp>
      <p:sp>
        <p:nvSpPr>
          <p:cNvPr id="7" name="文本框 6">
            <a:extLst>
              <a:ext uri="{FF2B5EF4-FFF2-40B4-BE49-F238E27FC236}">
                <a16:creationId xmlns:a16="http://schemas.microsoft.com/office/drawing/2014/main" id="{1ADBB18E-6210-4086-AED8-10D63BD5AFEC}"/>
              </a:ext>
            </a:extLst>
          </p:cNvPr>
          <p:cNvSpPr txBox="1"/>
          <p:nvPr userDrawn="1"/>
        </p:nvSpPr>
        <p:spPr>
          <a:xfrm>
            <a:off x="180975" y="190500"/>
            <a:ext cx="1149350" cy="107722"/>
          </a:xfrm>
          <a:prstGeom prst="rect">
            <a:avLst/>
          </a:prstGeom>
          <a:noFill/>
        </p:spPr>
        <p:txBody>
          <a:bodyPr wrap="square" rtlCol="0">
            <a:spAutoFit/>
          </a:bodyPr>
          <a:lstStyle/>
          <a:p>
            <a:pPr algn="l"/>
            <a:r>
              <a:rPr lang="zh-CN" altLang="en-US" sz="100" dirty="0">
                <a:solidFill>
                  <a:schemeClr val="bg1"/>
                </a:solidFill>
                <a:latin typeface="思源黑体 CN Light" panose="020B0300000000000000" pitchFamily="34" charset="-122"/>
                <a:ea typeface="思源黑体 CN Light" panose="020B0300000000000000" pitchFamily="34" charset="-122"/>
              </a:rPr>
              <a:t>红船视觉原创设计</a:t>
            </a:r>
          </a:p>
        </p:txBody>
      </p:sp>
    </p:spTree>
    <p:extLst>
      <p:ext uri="{BB962C8B-B14F-4D97-AF65-F5344CB8AC3E}">
        <p14:creationId xmlns:p14="http://schemas.microsoft.com/office/powerpoint/2010/main" val="945227758"/>
      </p:ext>
    </p:extLst>
  </p:cSld>
  <p:clrMap bg1="lt1" tx1="dk1" bg2="lt2" tx2="dk2" accent1="accent1" accent2="accent2" accent3="accent3" accent4="accent4" accent5="accent5" accent6="accent6" hlink="hlink" folHlink="folHlink"/>
  <p:sldLayoutIdLst>
    <p:sldLayoutId id="2147483649" r:id="rId1"/>
    <p:sldLayoutId id="2147483676" r:id="rId2"/>
    <p:sldLayoutId id="2147483669" r:id="rId3"/>
    <p:sldLayoutId id="2147483668" r:id="rId4"/>
    <p:sldLayoutId id="2147483677" r:id="rId5"/>
    <p:sldLayoutId id="2147483679" r:id="rId6"/>
    <p:sldLayoutId id="2147483680" r:id="rId7"/>
    <p:sldLayoutId id="2147483673" r:id="rId8"/>
    <p:sldLayoutId id="2147483659" r:id="rId9"/>
    <p:sldLayoutId id="2147483678" r:id="rId10"/>
  </p:sldLayoutIdLst>
  <p:txStyles>
    <p:titleStyle>
      <a:lvl1pPr algn="l" defTabSz="914400" rtl="0" eaLnBrk="1" latinLnBrk="0" hangingPunct="1">
        <a:lnSpc>
          <a:spcPct val="90000"/>
        </a:lnSpc>
        <a:spcBef>
          <a:spcPct val="0"/>
        </a:spcBef>
        <a:buNone/>
        <a:defRPr sz="4400" kern="1200">
          <a:solidFill>
            <a:schemeClr val="tx1"/>
          </a:solidFill>
          <a:latin typeface="思源黑体 CN Light" panose="020B0300000000000000" pitchFamily="34" charset="-122"/>
          <a:ea typeface="思源黑体 CN Light" panose="020B0300000000000000"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Light" panose="020B0300000000000000" pitchFamily="34" charset="-122"/>
          <a:ea typeface="思源黑体 CN Light" panose="020B03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Light" panose="020B0300000000000000" pitchFamily="34" charset="-122"/>
          <a:ea typeface="思源黑体 CN Light" panose="020B03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Light" panose="020B0300000000000000" pitchFamily="34" charset="-122"/>
          <a:ea typeface="思源黑体 CN Light" panose="020B03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Light" panose="020B0300000000000000" pitchFamily="34" charset="-122"/>
          <a:ea typeface="思源黑体 CN Light" panose="020B03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C5B0E096-FBEC-41E6-B6BE-CD1959969F1F}"/>
              </a:ext>
            </a:extLst>
          </p:cNvPr>
          <p:cNvGrpSpPr/>
          <p:nvPr/>
        </p:nvGrpSpPr>
        <p:grpSpPr>
          <a:xfrm>
            <a:off x="496992" y="329818"/>
            <a:ext cx="2735580" cy="1059896"/>
            <a:chOff x="496992" y="329818"/>
            <a:chExt cx="2735580" cy="1059896"/>
          </a:xfrm>
        </p:grpSpPr>
        <p:pic>
          <p:nvPicPr>
            <p:cNvPr id="18" name="图片 17" descr="图片包含 游戏机, 笔记本, 电脑, 桌子&#10;&#10;描述已自动生成">
              <a:extLst>
                <a:ext uri="{FF2B5EF4-FFF2-40B4-BE49-F238E27FC236}">
                  <a16:creationId xmlns:a16="http://schemas.microsoft.com/office/drawing/2014/main" id="{ECCD3BDC-14B7-4934-B95A-AAB74019AF5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96992" y="329818"/>
              <a:ext cx="1790700" cy="1059896"/>
            </a:xfrm>
            <a:prstGeom prst="rect">
              <a:avLst/>
            </a:prstGeom>
          </p:spPr>
        </p:pic>
        <p:sp>
          <p:nvSpPr>
            <p:cNvPr id="19" name="文本框 18">
              <a:extLst>
                <a:ext uri="{FF2B5EF4-FFF2-40B4-BE49-F238E27FC236}">
                  <a16:creationId xmlns:a16="http://schemas.microsoft.com/office/drawing/2014/main" id="{5725D59F-AD83-4C82-8FD7-E702B6D35B21}"/>
                </a:ext>
              </a:extLst>
            </p:cNvPr>
            <p:cNvSpPr txBox="1"/>
            <p:nvPr/>
          </p:nvSpPr>
          <p:spPr>
            <a:xfrm>
              <a:off x="1441872" y="781289"/>
              <a:ext cx="1790700" cy="304442"/>
            </a:xfrm>
            <a:prstGeom prst="rect">
              <a:avLst/>
            </a:prstGeom>
            <a:noFill/>
          </p:spPr>
          <p:txBody>
            <a:bodyPr wrap="square" lIns="0" tIns="0" rIns="0" bIns="0" rtlCol="0">
              <a:spAutoFit/>
            </a:bodyPr>
            <a:lstStyle/>
            <a:p>
              <a:pPr algn="dist">
                <a:lnSpc>
                  <a:spcPct val="120000"/>
                </a:lnSpc>
              </a:pPr>
              <a:r>
                <a:rPr lang="zh-CN" altLang="en-US" dirty="0">
                  <a:solidFill>
                    <a:schemeClr val="accent1"/>
                  </a:solidFill>
                  <a:latin typeface="思源宋体 CN Heavy" panose="02020900000000000000" pitchFamily="18" charset="-122"/>
                  <a:ea typeface="思源宋体 CN Heavy" panose="02020900000000000000" pitchFamily="18" charset="-122"/>
                </a:rPr>
                <a:t>中国共产党</a:t>
              </a:r>
            </a:p>
          </p:txBody>
        </p:sp>
        <p:sp>
          <p:nvSpPr>
            <p:cNvPr id="20" name="文本框 19">
              <a:extLst>
                <a:ext uri="{FF2B5EF4-FFF2-40B4-BE49-F238E27FC236}">
                  <a16:creationId xmlns:a16="http://schemas.microsoft.com/office/drawing/2014/main" id="{708976EC-6AEA-4D84-B031-8A67DBD0FA9E}"/>
                </a:ext>
              </a:extLst>
            </p:cNvPr>
            <p:cNvSpPr txBox="1"/>
            <p:nvPr/>
          </p:nvSpPr>
          <p:spPr>
            <a:xfrm>
              <a:off x="1441872" y="1074421"/>
              <a:ext cx="1755140" cy="155042"/>
            </a:xfrm>
            <a:prstGeom prst="rect">
              <a:avLst/>
            </a:prstGeom>
            <a:noFill/>
          </p:spPr>
          <p:txBody>
            <a:bodyPr wrap="square" lIns="0" tIns="0" rIns="0" bIns="0" rtlCol="0">
              <a:spAutoFit/>
            </a:bodyPr>
            <a:lstStyle/>
            <a:p>
              <a:pPr algn="dist">
                <a:lnSpc>
                  <a:spcPct val="120000"/>
                </a:lnSpc>
              </a:pPr>
              <a:r>
                <a:rPr lang="en-US" altLang="zh-CN" sz="900" dirty="0">
                  <a:solidFill>
                    <a:schemeClr val="accent1"/>
                  </a:solidFill>
                  <a:latin typeface="思源黑体 CN Light" panose="020B0300000000000000" pitchFamily="34" charset="-122"/>
                  <a:ea typeface="思源黑体 CN Light" panose="020B0300000000000000" pitchFamily="34" charset="-122"/>
                </a:rPr>
                <a:t> The Communist Party of China</a:t>
              </a:r>
              <a:endParaRPr lang="zh-CN" altLang="en-US" sz="900" dirty="0">
                <a:solidFill>
                  <a:schemeClr val="accent1"/>
                </a:solidFill>
                <a:latin typeface="思源黑体 CN Light" panose="020B0300000000000000" pitchFamily="34" charset="-122"/>
                <a:ea typeface="思源黑体 CN Light" panose="020B0300000000000000" pitchFamily="34" charset="-122"/>
              </a:endParaRPr>
            </a:p>
          </p:txBody>
        </p:sp>
      </p:grpSp>
      <p:sp>
        <p:nvSpPr>
          <p:cNvPr id="26" name="文本框 25">
            <a:extLst>
              <a:ext uri="{FF2B5EF4-FFF2-40B4-BE49-F238E27FC236}">
                <a16:creationId xmlns:a16="http://schemas.microsoft.com/office/drawing/2014/main" id="{FCB212FD-9947-455D-9C71-782C005E6C58}"/>
              </a:ext>
            </a:extLst>
          </p:cNvPr>
          <p:cNvSpPr txBox="1"/>
          <p:nvPr/>
        </p:nvSpPr>
        <p:spPr>
          <a:xfrm>
            <a:off x="4641597" y="4241294"/>
            <a:ext cx="2908804" cy="483104"/>
          </a:xfrm>
          <a:prstGeom prst="roundRect">
            <a:avLst>
              <a:gd name="adj" fmla="val 50000"/>
            </a:avLst>
          </a:prstGeom>
          <a:solidFill>
            <a:schemeClr val="accent5"/>
          </a:solidFill>
        </p:spPr>
        <p:txBody>
          <a:bodyPr wrap="square" lIns="0" tIns="0" rIns="0" bIns="0" rtlCol="0" anchor="ctr" anchorCtr="0">
            <a:spAutoFit/>
          </a:bodyPr>
          <a:lstStyle/>
          <a:p>
            <a:pPr algn="ctr">
              <a:lnSpc>
                <a:spcPct val="120000"/>
              </a:lnSpc>
            </a:pPr>
            <a:r>
              <a:rPr lang="zh-CN" altLang="en-US" sz="2000" dirty="0">
                <a:solidFill>
                  <a:schemeClr val="accent4">
                    <a:lumMod val="20000"/>
                    <a:lumOff val="80000"/>
                  </a:schemeClr>
                </a:solidFill>
                <a:latin typeface="思源黑体 CN Heavy" panose="020B0A00000000000000" pitchFamily="34" charset="-122"/>
                <a:ea typeface="思源黑体 CN Heavy" panose="020B0A00000000000000" pitchFamily="34" charset="-122"/>
              </a:rPr>
              <a:t>授课人：</a:t>
            </a:r>
          </a:p>
        </p:txBody>
      </p:sp>
      <p:sp>
        <p:nvSpPr>
          <p:cNvPr id="17" name="文本框 16">
            <a:extLst>
              <a:ext uri="{FF2B5EF4-FFF2-40B4-BE49-F238E27FC236}">
                <a16:creationId xmlns:a16="http://schemas.microsoft.com/office/drawing/2014/main" id="{488949BF-27A1-4D24-B403-CEC9B352B8E8}"/>
              </a:ext>
            </a:extLst>
          </p:cNvPr>
          <p:cNvSpPr txBox="1"/>
          <p:nvPr/>
        </p:nvSpPr>
        <p:spPr>
          <a:xfrm>
            <a:off x="3422460" y="1480940"/>
            <a:ext cx="5367286" cy="676532"/>
          </a:xfrm>
          <a:prstGeom prst="rect">
            <a:avLst/>
          </a:prstGeom>
          <a:noFill/>
        </p:spPr>
        <p:txBody>
          <a:bodyPr wrap="square" lIns="0" tIns="0" rIns="0" bIns="0" rtlCol="0">
            <a:spAutoFit/>
          </a:bodyPr>
          <a:lstStyle/>
          <a:p>
            <a:pPr algn="ctr">
              <a:lnSpc>
                <a:spcPct val="120000"/>
              </a:lnSpc>
            </a:pPr>
            <a:r>
              <a:rPr lang="zh-CN" altLang="en-US" sz="4000" dirty="0">
                <a:solidFill>
                  <a:schemeClr val="bg2">
                    <a:lumMod val="25000"/>
                  </a:schemeClr>
                </a:solidFill>
                <a:latin typeface="思源宋体 CN Heavy" panose="02020900000000000000" pitchFamily="18" charset="-122"/>
                <a:ea typeface="思源宋体 CN Heavy" panose="02020900000000000000" pitchFamily="18" charset="-122"/>
              </a:rPr>
              <a:t>中    国    精    神</a:t>
            </a:r>
          </a:p>
        </p:txBody>
      </p:sp>
      <p:sp>
        <p:nvSpPr>
          <p:cNvPr id="21" name="平行四边形 20">
            <a:extLst>
              <a:ext uri="{FF2B5EF4-FFF2-40B4-BE49-F238E27FC236}">
                <a16:creationId xmlns:a16="http://schemas.microsoft.com/office/drawing/2014/main" id="{A06D0447-3DE2-4E7B-90DE-4D7FF2AC57B4}"/>
              </a:ext>
            </a:extLst>
          </p:cNvPr>
          <p:cNvSpPr/>
          <p:nvPr/>
        </p:nvSpPr>
        <p:spPr>
          <a:xfrm>
            <a:off x="2352702" y="1861287"/>
            <a:ext cx="1790700" cy="67657"/>
          </a:xfrm>
          <a:prstGeom prst="parallelogram">
            <a:avLst/>
          </a:prstGeom>
          <a:gradFill flip="none" rotWithShape="1">
            <a:gsLst>
              <a:gs pos="100000">
                <a:schemeClr val="accent1"/>
              </a:gs>
              <a:gs pos="49600">
                <a:schemeClr val="accent1">
                  <a:alpha val="40000"/>
                </a:schemeClr>
              </a:gs>
              <a:gs pos="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B0300000000000000" pitchFamily="34" charset="-122"/>
              <a:ea typeface="思源黑体 CN Light" panose="020B0300000000000000" pitchFamily="34" charset="-122"/>
            </a:endParaRPr>
          </a:p>
        </p:txBody>
      </p:sp>
      <p:sp>
        <p:nvSpPr>
          <p:cNvPr id="22" name="平行四边形 21">
            <a:extLst>
              <a:ext uri="{FF2B5EF4-FFF2-40B4-BE49-F238E27FC236}">
                <a16:creationId xmlns:a16="http://schemas.microsoft.com/office/drawing/2014/main" id="{A892D3BD-1796-42A1-8AD4-C173B43D4C55}"/>
              </a:ext>
            </a:extLst>
          </p:cNvPr>
          <p:cNvSpPr/>
          <p:nvPr/>
        </p:nvSpPr>
        <p:spPr>
          <a:xfrm flipH="1">
            <a:off x="8087118" y="1770154"/>
            <a:ext cx="1790700" cy="67657"/>
          </a:xfrm>
          <a:prstGeom prst="parallelogram">
            <a:avLst/>
          </a:prstGeom>
          <a:gradFill flip="none" rotWithShape="1">
            <a:gsLst>
              <a:gs pos="100000">
                <a:schemeClr val="accent1"/>
              </a:gs>
              <a:gs pos="49600">
                <a:schemeClr val="accent1">
                  <a:alpha val="40000"/>
                </a:schemeClr>
              </a:gs>
              <a:gs pos="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B0300000000000000" pitchFamily="34" charset="-122"/>
              <a:ea typeface="思源黑体 CN Light" panose="020B0300000000000000" pitchFamily="34" charset="-122"/>
            </a:endParaRPr>
          </a:p>
        </p:txBody>
      </p:sp>
      <p:grpSp>
        <p:nvGrpSpPr>
          <p:cNvPr id="4" name="组合 3"/>
          <p:cNvGrpSpPr/>
          <p:nvPr/>
        </p:nvGrpSpPr>
        <p:grpSpPr>
          <a:xfrm>
            <a:off x="1833418" y="1819206"/>
            <a:ext cx="8545369" cy="2035173"/>
            <a:chOff x="2525736" y="2272348"/>
            <a:chExt cx="7782484" cy="2035173"/>
          </a:xfrm>
        </p:grpSpPr>
        <p:sp>
          <p:nvSpPr>
            <p:cNvPr id="30" name="文本框 29">
              <a:extLst>
                <a:ext uri="{FF2B5EF4-FFF2-40B4-BE49-F238E27FC236}">
                  <a16:creationId xmlns:a16="http://schemas.microsoft.com/office/drawing/2014/main" id="{896AB14C-96C8-42A5-9098-650C592AD482}"/>
                </a:ext>
              </a:extLst>
            </p:cNvPr>
            <p:cNvSpPr txBox="1"/>
            <p:nvPr/>
          </p:nvSpPr>
          <p:spPr>
            <a:xfrm>
              <a:off x="2525736" y="2272348"/>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伟</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31" name="文本框 30">
              <a:extLst>
                <a:ext uri="{FF2B5EF4-FFF2-40B4-BE49-F238E27FC236}">
                  <a16:creationId xmlns:a16="http://schemas.microsoft.com/office/drawing/2014/main" id="{539B5EF9-99E0-494E-8B1E-E5303CB5086A}"/>
                </a:ext>
              </a:extLst>
            </p:cNvPr>
            <p:cNvSpPr txBox="1"/>
            <p:nvPr/>
          </p:nvSpPr>
          <p:spPr>
            <a:xfrm>
              <a:off x="5048824" y="2272348"/>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抗</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32" name="文本框 31">
              <a:extLst>
                <a:ext uri="{FF2B5EF4-FFF2-40B4-BE49-F238E27FC236}">
                  <a16:creationId xmlns:a16="http://schemas.microsoft.com/office/drawing/2014/main" id="{A2B4FCBC-246F-4C0C-B1A2-EF02BBC0D927}"/>
                </a:ext>
              </a:extLst>
            </p:cNvPr>
            <p:cNvSpPr txBox="1"/>
            <p:nvPr/>
          </p:nvSpPr>
          <p:spPr>
            <a:xfrm>
              <a:off x="7571913" y="2272348"/>
              <a:ext cx="1476365"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精</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33" name="文本框 32">
              <a:extLst>
                <a:ext uri="{FF2B5EF4-FFF2-40B4-BE49-F238E27FC236}">
                  <a16:creationId xmlns:a16="http://schemas.microsoft.com/office/drawing/2014/main" id="{5AFBC952-AA67-45DC-B2C1-3CB5ACDD239F}"/>
                </a:ext>
              </a:extLst>
            </p:cNvPr>
            <p:cNvSpPr txBox="1"/>
            <p:nvPr/>
          </p:nvSpPr>
          <p:spPr>
            <a:xfrm>
              <a:off x="8833457" y="2272348"/>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神</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16" name="文本框 15">
              <a:extLst>
                <a:ext uri="{FF2B5EF4-FFF2-40B4-BE49-F238E27FC236}">
                  <a16:creationId xmlns:a16="http://schemas.microsoft.com/office/drawing/2014/main" id="{896AB14C-96C8-42A5-9098-650C592AD482}"/>
                </a:ext>
              </a:extLst>
            </p:cNvPr>
            <p:cNvSpPr txBox="1"/>
            <p:nvPr/>
          </p:nvSpPr>
          <p:spPr>
            <a:xfrm>
              <a:off x="3787280" y="2272348"/>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大</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24" name="文本框 23">
              <a:extLst>
                <a:ext uri="{FF2B5EF4-FFF2-40B4-BE49-F238E27FC236}">
                  <a16:creationId xmlns:a16="http://schemas.microsoft.com/office/drawing/2014/main" id="{539B5EF9-99E0-494E-8B1E-E5303CB5086A}"/>
                </a:ext>
              </a:extLst>
            </p:cNvPr>
            <p:cNvSpPr txBox="1"/>
            <p:nvPr/>
          </p:nvSpPr>
          <p:spPr>
            <a:xfrm>
              <a:off x="6310369" y="2272348"/>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疫</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grpSp>
    </p:spTree>
    <p:extLst>
      <p:ext uri="{BB962C8B-B14F-4D97-AF65-F5344CB8AC3E}">
        <p14:creationId xmlns:p14="http://schemas.microsoft.com/office/powerpoint/2010/main" val="196721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a:extLst>
              <a:ext uri="{FF2B5EF4-FFF2-40B4-BE49-F238E27FC236}">
                <a16:creationId xmlns:a16="http://schemas.microsoft.com/office/drawing/2014/main" id="{E4F79260-3FAF-432B-80CC-E37032DB6554}"/>
              </a:ext>
            </a:extLst>
          </p:cNvPr>
          <p:cNvSpPr/>
          <p:nvPr/>
        </p:nvSpPr>
        <p:spPr>
          <a:xfrm rot="3483758">
            <a:off x="-1148015" y="-1020745"/>
            <a:ext cx="5375239" cy="6456106"/>
          </a:xfrm>
          <a:custGeom>
            <a:avLst/>
            <a:gdLst>
              <a:gd name="connsiteX0" fmla="*/ 0 w 5375239"/>
              <a:gd name="connsiteY0" fmla="*/ 3366955 h 6456106"/>
              <a:gd name="connsiteX1" fmla="*/ 2098793 w 5375239"/>
              <a:gd name="connsiteY1" fmla="*/ 0 h 6456106"/>
              <a:gd name="connsiteX2" fmla="*/ 2480301 w 5375239"/>
              <a:gd name="connsiteY2" fmla="*/ 139633 h 6456106"/>
              <a:gd name="connsiteX3" fmla="*/ 5375239 w 5375239"/>
              <a:gd name="connsiteY3" fmla="*/ 4507081 h 6456106"/>
              <a:gd name="connsiteX4" fmla="*/ 5002751 w 5375239"/>
              <a:gd name="connsiteY4" fmla="*/ 6352077 h 6456106"/>
              <a:gd name="connsiteX5" fmla="*/ 4955721 w 5375239"/>
              <a:gd name="connsiteY5" fmla="*/ 6456106 h 645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5239" h="6456106">
                <a:moveTo>
                  <a:pt x="0" y="3366955"/>
                </a:moveTo>
                <a:lnTo>
                  <a:pt x="2098793" y="0"/>
                </a:lnTo>
                <a:lnTo>
                  <a:pt x="2480301" y="139633"/>
                </a:lnTo>
                <a:cubicBezTo>
                  <a:pt x="4181535" y="859195"/>
                  <a:pt x="5375239" y="2543735"/>
                  <a:pt x="5375239" y="4507081"/>
                </a:cubicBezTo>
                <a:cubicBezTo>
                  <a:pt x="5375239" y="5161529"/>
                  <a:pt x="5242605" y="5784999"/>
                  <a:pt x="5002751" y="6352077"/>
                </a:cubicBezTo>
                <a:lnTo>
                  <a:pt x="4955721" y="6456106"/>
                </a:lnTo>
                <a:close/>
              </a:path>
            </a:pathLst>
          </a:custGeom>
          <a:gradFill flip="none" rotWithShape="1">
            <a:gsLst>
              <a:gs pos="100000">
                <a:srgbClr val="CD3F0D">
                  <a:alpha val="0"/>
                </a:srgbClr>
              </a:gs>
              <a:gs pos="0">
                <a:srgbClr val="FF0000">
                  <a:alpha val="1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grpSp>
        <p:nvGrpSpPr>
          <p:cNvPr id="21" name="组合 20">
            <a:extLst>
              <a:ext uri="{FF2B5EF4-FFF2-40B4-BE49-F238E27FC236}">
                <a16:creationId xmlns:a16="http://schemas.microsoft.com/office/drawing/2014/main" id="{19DA514C-BACE-4B57-833C-C400CE8EDA45}"/>
              </a:ext>
            </a:extLst>
          </p:cNvPr>
          <p:cNvGrpSpPr/>
          <p:nvPr/>
        </p:nvGrpSpPr>
        <p:grpSpPr>
          <a:xfrm>
            <a:off x="1115743" y="692977"/>
            <a:ext cx="3879588" cy="1750336"/>
            <a:chOff x="840432" y="94453"/>
            <a:chExt cx="3879588" cy="1750336"/>
          </a:xfrm>
        </p:grpSpPr>
        <p:sp>
          <p:nvSpPr>
            <p:cNvPr id="23" name="文本框 22">
              <a:extLst>
                <a:ext uri="{FF2B5EF4-FFF2-40B4-BE49-F238E27FC236}">
                  <a16:creationId xmlns:a16="http://schemas.microsoft.com/office/drawing/2014/main" id="{9275792B-413E-4349-BED8-952F7EA443B6}"/>
                </a:ext>
              </a:extLst>
            </p:cNvPr>
            <p:cNvSpPr txBox="1"/>
            <p:nvPr/>
          </p:nvSpPr>
          <p:spPr>
            <a:xfrm>
              <a:off x="840432" y="94453"/>
              <a:ext cx="3879588" cy="1366528"/>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zh-CN" altLang="en-US" sz="7200" dirty="0">
                  <a:solidFill>
                    <a:schemeClr val="accent1"/>
                  </a:solidFill>
                  <a:latin typeface="庞门正道粗书体" panose="02010600030101010101" pitchFamily="2" charset="-122"/>
                  <a:ea typeface="庞门正道粗书体" panose="02010600030101010101" pitchFamily="2" charset="-122"/>
                </a:rPr>
                <a:t>精神内涵</a:t>
              </a:r>
            </a:p>
          </p:txBody>
        </p:sp>
        <p:sp>
          <p:nvSpPr>
            <p:cNvPr id="24" name="文本框 23">
              <a:extLst>
                <a:ext uri="{FF2B5EF4-FFF2-40B4-BE49-F238E27FC236}">
                  <a16:creationId xmlns:a16="http://schemas.microsoft.com/office/drawing/2014/main" id="{D955C66E-8BAD-4167-A60D-343B49C92963}"/>
                </a:ext>
              </a:extLst>
            </p:cNvPr>
            <p:cNvSpPr txBox="1"/>
            <p:nvPr/>
          </p:nvSpPr>
          <p:spPr>
            <a:xfrm>
              <a:off x="1008813" y="1309258"/>
              <a:ext cx="3541875" cy="535531"/>
            </a:xfrm>
            <a:prstGeom prst="rect">
              <a:avLst/>
            </a:prstGeom>
            <a:noFill/>
          </p:spPr>
          <p:txBody>
            <a:bodyPr wrap="square" rtlCol="0">
              <a:spAutoFit/>
            </a:bodyPr>
            <a:lstStyle/>
            <a:p>
              <a:pPr algn="dist">
                <a:lnSpc>
                  <a:spcPct val="120000"/>
                </a:lnSpc>
              </a:pPr>
              <a:r>
                <a:rPr lang="en-US" altLang="zh-CN" sz="2400" dirty="0">
                  <a:solidFill>
                    <a:schemeClr val="bg2">
                      <a:lumMod val="25000"/>
                    </a:schemeClr>
                  </a:solidFill>
                  <a:latin typeface="思源黑体 CN Heavy" panose="020B0A00000000000000" pitchFamily="34" charset="-122"/>
                  <a:ea typeface="思源黑体 CN Heavy" panose="020B0A00000000000000" pitchFamily="34" charset="-122"/>
                </a:rPr>
                <a:t>Spiritual connotation</a:t>
              </a:r>
              <a:endParaRPr lang="zh-CN" altLang="en-US" sz="2400" dirty="0">
                <a:solidFill>
                  <a:schemeClr val="bg2">
                    <a:lumMod val="25000"/>
                  </a:schemeClr>
                </a:solidFill>
                <a:latin typeface="思源黑体 CN Heavy" panose="020B0A00000000000000" pitchFamily="34" charset="-122"/>
                <a:ea typeface="思源黑体 CN Heavy" panose="020B0A00000000000000" pitchFamily="34" charset="-122"/>
              </a:endParaRPr>
            </a:p>
          </p:txBody>
        </p:sp>
      </p:grpSp>
      <p:sp>
        <p:nvSpPr>
          <p:cNvPr id="26" name="文本框 25">
            <a:extLst>
              <a:ext uri="{FF2B5EF4-FFF2-40B4-BE49-F238E27FC236}">
                <a16:creationId xmlns:a16="http://schemas.microsoft.com/office/drawing/2014/main" id="{9631BAA8-675E-450D-96E8-9875DC4F9F3B}"/>
              </a:ext>
            </a:extLst>
          </p:cNvPr>
          <p:cNvSpPr txBox="1"/>
          <p:nvPr/>
        </p:nvSpPr>
        <p:spPr>
          <a:xfrm>
            <a:off x="602724" y="2771089"/>
            <a:ext cx="10518666" cy="1913537"/>
          </a:xfrm>
          <a:prstGeom prst="rect">
            <a:avLst/>
          </a:prstGeom>
          <a:noFill/>
        </p:spPr>
        <p:txBody>
          <a:bodyPr wrap="square" rtlCol="0">
            <a:spAutoFit/>
          </a:bodyPr>
          <a:lstStyle/>
          <a:p>
            <a:pPr algn="ctr">
              <a:lnSpc>
                <a:spcPct val="200000"/>
              </a:lnSpc>
            </a:pPr>
            <a:r>
              <a:rPr lang="zh-CN" altLang="zh-CN" sz="3200" dirty="0">
                <a:solidFill>
                  <a:srgbClr val="C00000"/>
                </a:solidFill>
                <a:latin typeface="思源宋体 CN Heavy" panose="02020900000000000000" pitchFamily="18" charset="-122"/>
                <a:ea typeface="思源宋体 CN Heavy" panose="02020900000000000000" pitchFamily="18" charset="-122"/>
              </a:rPr>
              <a:t>生命至上、举国同心、舍生忘死、</a:t>
            </a:r>
            <a:endParaRPr lang="en-US" altLang="zh-CN" sz="3200" dirty="0">
              <a:solidFill>
                <a:srgbClr val="C00000"/>
              </a:solidFill>
              <a:latin typeface="思源宋体 CN Heavy" panose="02020900000000000000" pitchFamily="18" charset="-122"/>
              <a:ea typeface="思源宋体 CN Heavy" panose="02020900000000000000" pitchFamily="18" charset="-122"/>
            </a:endParaRPr>
          </a:p>
          <a:p>
            <a:pPr algn="ctr">
              <a:lnSpc>
                <a:spcPct val="200000"/>
              </a:lnSpc>
            </a:pPr>
            <a:r>
              <a:rPr lang="zh-CN" altLang="zh-CN" sz="3200" dirty="0">
                <a:solidFill>
                  <a:srgbClr val="C00000"/>
                </a:solidFill>
                <a:latin typeface="思源宋体 CN Heavy" panose="02020900000000000000" pitchFamily="18" charset="-122"/>
                <a:ea typeface="思源宋体 CN Heavy" panose="02020900000000000000" pitchFamily="18" charset="-122"/>
              </a:rPr>
              <a:t>尊重科学、命运与共</a:t>
            </a:r>
          </a:p>
        </p:txBody>
      </p:sp>
      <p:sp>
        <p:nvSpPr>
          <p:cNvPr id="25" name="椭圆 24">
            <a:extLst>
              <a:ext uri="{FF2B5EF4-FFF2-40B4-BE49-F238E27FC236}">
                <a16:creationId xmlns:a16="http://schemas.microsoft.com/office/drawing/2014/main" id="{EA7E1A5D-03D8-4355-A40F-BFA2056E2C84}"/>
              </a:ext>
            </a:extLst>
          </p:cNvPr>
          <p:cNvSpPr/>
          <p:nvPr/>
        </p:nvSpPr>
        <p:spPr>
          <a:xfrm>
            <a:off x="11378043" y="5503378"/>
            <a:ext cx="692331" cy="692331"/>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0" name="椭圆 19">
            <a:extLst>
              <a:ext uri="{FF2B5EF4-FFF2-40B4-BE49-F238E27FC236}">
                <a16:creationId xmlns:a16="http://schemas.microsoft.com/office/drawing/2014/main" id="{0765E813-9D9B-45C5-B82B-443289E77224}"/>
              </a:ext>
            </a:extLst>
          </p:cNvPr>
          <p:cNvSpPr/>
          <p:nvPr/>
        </p:nvSpPr>
        <p:spPr>
          <a:xfrm>
            <a:off x="602724" y="601266"/>
            <a:ext cx="1747803" cy="1747803"/>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6" name="矩形: 圆角 5">
            <a:extLst>
              <a:ext uri="{FF2B5EF4-FFF2-40B4-BE49-F238E27FC236}">
                <a16:creationId xmlns:a16="http://schemas.microsoft.com/office/drawing/2014/main" id="{957F9B7E-0559-4417-A7FB-84E27478BD05}"/>
              </a:ext>
            </a:extLst>
          </p:cNvPr>
          <p:cNvSpPr/>
          <p:nvPr/>
        </p:nvSpPr>
        <p:spPr>
          <a:xfrm>
            <a:off x="874713" y="2686105"/>
            <a:ext cx="9590087" cy="2083507"/>
          </a:xfrm>
          <a:prstGeom prst="roundRect">
            <a:avLst>
              <a:gd name="adj" fmla="val 13258"/>
            </a:avLst>
          </a:prstGeom>
          <a:noFill/>
          <a:ln>
            <a:gradFill flip="none" rotWithShape="1">
              <a:gsLst>
                <a:gs pos="0">
                  <a:srgbClr val="7A2608"/>
                </a:gs>
                <a:gs pos="100000">
                  <a:srgbClr val="7A2608"/>
                </a:gs>
                <a:gs pos="66358">
                  <a:srgbClr val="FFFFFF">
                    <a:alpha val="0"/>
                  </a:srgbClr>
                </a:gs>
                <a:gs pos="37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Tree>
    <p:extLst>
      <p:ext uri="{BB962C8B-B14F-4D97-AF65-F5344CB8AC3E}">
        <p14:creationId xmlns:p14="http://schemas.microsoft.com/office/powerpoint/2010/main" val="1888255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a:extLst>
              <a:ext uri="{FF2B5EF4-FFF2-40B4-BE49-F238E27FC236}">
                <a16:creationId xmlns:a16="http://schemas.microsoft.com/office/drawing/2014/main" id="{E4F79260-3FAF-432B-80CC-E37032DB6554}"/>
              </a:ext>
            </a:extLst>
          </p:cNvPr>
          <p:cNvSpPr/>
          <p:nvPr/>
        </p:nvSpPr>
        <p:spPr>
          <a:xfrm rot="3483758">
            <a:off x="-1148015" y="-1020745"/>
            <a:ext cx="5375239" cy="6456106"/>
          </a:xfrm>
          <a:custGeom>
            <a:avLst/>
            <a:gdLst>
              <a:gd name="connsiteX0" fmla="*/ 0 w 5375239"/>
              <a:gd name="connsiteY0" fmla="*/ 3366955 h 6456106"/>
              <a:gd name="connsiteX1" fmla="*/ 2098793 w 5375239"/>
              <a:gd name="connsiteY1" fmla="*/ 0 h 6456106"/>
              <a:gd name="connsiteX2" fmla="*/ 2480301 w 5375239"/>
              <a:gd name="connsiteY2" fmla="*/ 139633 h 6456106"/>
              <a:gd name="connsiteX3" fmla="*/ 5375239 w 5375239"/>
              <a:gd name="connsiteY3" fmla="*/ 4507081 h 6456106"/>
              <a:gd name="connsiteX4" fmla="*/ 5002751 w 5375239"/>
              <a:gd name="connsiteY4" fmla="*/ 6352077 h 6456106"/>
              <a:gd name="connsiteX5" fmla="*/ 4955721 w 5375239"/>
              <a:gd name="connsiteY5" fmla="*/ 6456106 h 645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5239" h="6456106">
                <a:moveTo>
                  <a:pt x="0" y="3366955"/>
                </a:moveTo>
                <a:lnTo>
                  <a:pt x="2098793" y="0"/>
                </a:lnTo>
                <a:lnTo>
                  <a:pt x="2480301" y="139633"/>
                </a:lnTo>
                <a:cubicBezTo>
                  <a:pt x="4181535" y="859195"/>
                  <a:pt x="5375239" y="2543735"/>
                  <a:pt x="5375239" y="4507081"/>
                </a:cubicBezTo>
                <a:cubicBezTo>
                  <a:pt x="5375239" y="5161529"/>
                  <a:pt x="5242605" y="5784999"/>
                  <a:pt x="5002751" y="6352077"/>
                </a:cubicBezTo>
                <a:lnTo>
                  <a:pt x="4955721" y="6456106"/>
                </a:lnTo>
                <a:close/>
              </a:path>
            </a:pathLst>
          </a:custGeom>
          <a:gradFill flip="none" rotWithShape="1">
            <a:gsLst>
              <a:gs pos="100000">
                <a:srgbClr val="CD3F0D">
                  <a:alpha val="0"/>
                </a:srgbClr>
              </a:gs>
              <a:gs pos="0">
                <a:srgbClr val="FF0000">
                  <a:alpha val="1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grpSp>
        <p:nvGrpSpPr>
          <p:cNvPr id="21" name="组合 20">
            <a:extLst>
              <a:ext uri="{FF2B5EF4-FFF2-40B4-BE49-F238E27FC236}">
                <a16:creationId xmlns:a16="http://schemas.microsoft.com/office/drawing/2014/main" id="{19DA514C-BACE-4B57-833C-C400CE8EDA45}"/>
              </a:ext>
            </a:extLst>
          </p:cNvPr>
          <p:cNvGrpSpPr/>
          <p:nvPr/>
        </p:nvGrpSpPr>
        <p:grpSpPr>
          <a:xfrm>
            <a:off x="1172742" y="1065490"/>
            <a:ext cx="1590501" cy="3579543"/>
            <a:chOff x="840432" y="94453"/>
            <a:chExt cx="1590501" cy="3579543"/>
          </a:xfrm>
        </p:grpSpPr>
        <p:sp>
          <p:nvSpPr>
            <p:cNvPr id="23" name="文本框 22">
              <a:extLst>
                <a:ext uri="{FF2B5EF4-FFF2-40B4-BE49-F238E27FC236}">
                  <a16:creationId xmlns:a16="http://schemas.microsoft.com/office/drawing/2014/main" id="{9275792B-413E-4349-BED8-952F7EA443B6}"/>
                </a:ext>
              </a:extLst>
            </p:cNvPr>
            <p:cNvSpPr txBox="1"/>
            <p:nvPr/>
          </p:nvSpPr>
          <p:spPr>
            <a:xfrm>
              <a:off x="840432" y="94453"/>
              <a:ext cx="1107996" cy="2696123"/>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zh-CN" altLang="en-US" sz="7200" dirty="0">
                  <a:solidFill>
                    <a:schemeClr val="accent1"/>
                  </a:solidFill>
                  <a:latin typeface="庞门正道粗书体" panose="02010600030101010101" pitchFamily="2" charset="-122"/>
                  <a:ea typeface="庞门正道粗书体" panose="02010600030101010101" pitchFamily="2" charset="-122"/>
                </a:rPr>
                <a:t>目</a:t>
              </a:r>
              <a:endParaRPr lang="en-US" altLang="zh-CN" sz="7200" dirty="0">
                <a:solidFill>
                  <a:schemeClr val="accent1"/>
                </a:solidFill>
                <a:latin typeface="庞门正道粗书体" panose="02010600030101010101" pitchFamily="2" charset="-122"/>
                <a:ea typeface="庞门正道粗书体" panose="02010600030101010101" pitchFamily="2" charset="-122"/>
              </a:endParaRPr>
            </a:p>
            <a:p>
              <a:pPr>
                <a:lnSpc>
                  <a:spcPct val="120000"/>
                </a:lnSpc>
              </a:pPr>
              <a:r>
                <a:rPr lang="zh-CN" altLang="en-US" sz="7200" dirty="0">
                  <a:solidFill>
                    <a:schemeClr val="accent1"/>
                  </a:solidFill>
                  <a:latin typeface="庞门正道粗书体" panose="02010600030101010101" pitchFamily="2" charset="-122"/>
                  <a:ea typeface="庞门正道粗书体" panose="02010600030101010101" pitchFamily="2" charset="-122"/>
                </a:rPr>
                <a:t>录</a:t>
              </a:r>
            </a:p>
          </p:txBody>
        </p:sp>
        <p:sp>
          <p:nvSpPr>
            <p:cNvPr id="24" name="文本框 23">
              <a:extLst>
                <a:ext uri="{FF2B5EF4-FFF2-40B4-BE49-F238E27FC236}">
                  <a16:creationId xmlns:a16="http://schemas.microsoft.com/office/drawing/2014/main" id="{D955C66E-8BAD-4167-A60D-343B49C92963}"/>
                </a:ext>
              </a:extLst>
            </p:cNvPr>
            <p:cNvSpPr txBox="1"/>
            <p:nvPr/>
          </p:nvSpPr>
          <p:spPr>
            <a:xfrm>
              <a:off x="1803069" y="497742"/>
              <a:ext cx="627864" cy="3176254"/>
            </a:xfrm>
            <a:prstGeom prst="rect">
              <a:avLst/>
            </a:prstGeom>
            <a:noFill/>
          </p:spPr>
          <p:txBody>
            <a:bodyPr vert="eaVert" wrap="square" rtlCol="0">
              <a:spAutoFit/>
            </a:bodyPr>
            <a:lstStyle/>
            <a:p>
              <a:pPr algn="dist">
                <a:lnSpc>
                  <a:spcPct val="120000"/>
                </a:lnSpc>
              </a:pPr>
              <a:r>
                <a:rPr lang="en-US" altLang="zh-CN" sz="2400" dirty="0">
                  <a:solidFill>
                    <a:schemeClr val="bg2">
                      <a:lumMod val="25000"/>
                    </a:schemeClr>
                  </a:solidFill>
                  <a:latin typeface="思源黑体 CN Heavy" panose="020B0A00000000000000" pitchFamily="34" charset="-122"/>
                  <a:ea typeface="思源黑体 CN Heavy" panose="020B0A00000000000000" pitchFamily="34" charset="-122"/>
                </a:rPr>
                <a:t>PREFACE</a:t>
              </a:r>
              <a:endParaRPr lang="zh-CN" altLang="en-US" sz="2400" dirty="0">
                <a:solidFill>
                  <a:schemeClr val="bg2">
                    <a:lumMod val="25000"/>
                  </a:schemeClr>
                </a:solidFill>
                <a:latin typeface="思源黑体 CN Heavy" panose="020B0A00000000000000" pitchFamily="34" charset="-122"/>
                <a:ea typeface="思源黑体 CN Heavy" panose="020B0A00000000000000" pitchFamily="34" charset="-122"/>
              </a:endParaRPr>
            </a:p>
          </p:txBody>
        </p:sp>
      </p:grpSp>
      <p:sp>
        <p:nvSpPr>
          <p:cNvPr id="25" name="椭圆 24">
            <a:extLst>
              <a:ext uri="{FF2B5EF4-FFF2-40B4-BE49-F238E27FC236}">
                <a16:creationId xmlns:a16="http://schemas.microsoft.com/office/drawing/2014/main" id="{EA7E1A5D-03D8-4355-A40F-BFA2056E2C84}"/>
              </a:ext>
            </a:extLst>
          </p:cNvPr>
          <p:cNvSpPr/>
          <p:nvPr/>
        </p:nvSpPr>
        <p:spPr>
          <a:xfrm>
            <a:off x="845727" y="4857990"/>
            <a:ext cx="1089260" cy="1089260"/>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17" name="任意多边形: 形状 16">
            <a:extLst>
              <a:ext uri="{FF2B5EF4-FFF2-40B4-BE49-F238E27FC236}">
                <a16:creationId xmlns:a16="http://schemas.microsoft.com/office/drawing/2014/main" id="{E477CBDD-9A3B-490A-BC05-6B461026B0A1}"/>
              </a:ext>
            </a:extLst>
          </p:cNvPr>
          <p:cNvSpPr/>
          <p:nvPr/>
        </p:nvSpPr>
        <p:spPr>
          <a:xfrm rot="14329554">
            <a:off x="9531400" y="3780302"/>
            <a:ext cx="3188916" cy="3122452"/>
          </a:xfrm>
          <a:custGeom>
            <a:avLst/>
            <a:gdLst>
              <a:gd name="connsiteX0" fmla="*/ 272308 w 3188916"/>
              <a:gd name="connsiteY0" fmla="*/ 702981 h 3122452"/>
              <a:gd name="connsiteX1" fmla="*/ 1594458 w 3188916"/>
              <a:gd name="connsiteY1" fmla="*/ 0 h 3122452"/>
              <a:gd name="connsiteX2" fmla="*/ 3188916 w 3188916"/>
              <a:gd name="connsiteY2" fmla="*/ 1594458 h 3122452"/>
              <a:gd name="connsiteX3" fmla="*/ 2068601 w 3188916"/>
              <a:gd name="connsiteY3" fmla="*/ 3117232 h 3122452"/>
              <a:gd name="connsiteX4" fmla="*/ 2048298 w 3188916"/>
              <a:gd name="connsiteY4" fmla="*/ 3122452 h 3122452"/>
              <a:gd name="connsiteX5" fmla="*/ 23968 w 3188916"/>
              <a:gd name="connsiteY5" fmla="*/ 1860585 h 3122452"/>
              <a:gd name="connsiteX6" fmla="*/ 8232 w 3188916"/>
              <a:gd name="connsiteY6" fmla="*/ 1757482 h 3122452"/>
              <a:gd name="connsiteX7" fmla="*/ 0 w 3188916"/>
              <a:gd name="connsiteY7" fmla="*/ 1594458 h 3122452"/>
              <a:gd name="connsiteX8" fmla="*/ 272308 w 3188916"/>
              <a:gd name="connsiteY8" fmla="*/ 702981 h 312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8916" h="3122452">
                <a:moveTo>
                  <a:pt x="272308" y="702981"/>
                </a:moveTo>
                <a:cubicBezTo>
                  <a:pt x="558844" y="278853"/>
                  <a:pt x="1044086" y="0"/>
                  <a:pt x="1594458" y="0"/>
                </a:cubicBezTo>
                <a:cubicBezTo>
                  <a:pt x="2475053" y="0"/>
                  <a:pt x="3188916" y="713863"/>
                  <a:pt x="3188916" y="1594458"/>
                </a:cubicBezTo>
                <a:cubicBezTo>
                  <a:pt x="3188916" y="2309941"/>
                  <a:pt x="2717655" y="2915356"/>
                  <a:pt x="2068601" y="3117232"/>
                </a:cubicBezTo>
                <a:lnTo>
                  <a:pt x="2048298" y="3122452"/>
                </a:lnTo>
                <a:lnTo>
                  <a:pt x="23968" y="1860585"/>
                </a:lnTo>
                <a:lnTo>
                  <a:pt x="8232" y="1757482"/>
                </a:lnTo>
                <a:cubicBezTo>
                  <a:pt x="2789" y="1703881"/>
                  <a:pt x="0" y="1649495"/>
                  <a:pt x="0" y="1594458"/>
                </a:cubicBezTo>
                <a:cubicBezTo>
                  <a:pt x="0" y="1264235"/>
                  <a:pt x="100387" y="957458"/>
                  <a:pt x="272308" y="702981"/>
                </a:cubicBezTo>
                <a:close/>
              </a:path>
            </a:pathLst>
          </a:custGeom>
          <a:gradFill flip="none" rotWithShape="1">
            <a:gsLst>
              <a:gs pos="64000">
                <a:srgbClr val="D8320A">
                  <a:alpha val="3000"/>
                </a:srgbClr>
              </a:gs>
              <a:gs pos="100000">
                <a:srgbClr val="CD3F0D">
                  <a:alpha val="0"/>
                </a:srgbClr>
              </a:gs>
              <a:gs pos="0">
                <a:srgbClr val="FF0000">
                  <a:alpha val="39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sp>
        <p:nvSpPr>
          <p:cNvPr id="19" name="椭圆 18">
            <a:extLst>
              <a:ext uri="{FF2B5EF4-FFF2-40B4-BE49-F238E27FC236}">
                <a16:creationId xmlns:a16="http://schemas.microsoft.com/office/drawing/2014/main" id="{FD10B875-671E-4663-A5E4-379510A9AF88}"/>
              </a:ext>
            </a:extLst>
          </p:cNvPr>
          <p:cNvSpPr/>
          <p:nvPr/>
        </p:nvSpPr>
        <p:spPr>
          <a:xfrm rot="14284664">
            <a:off x="-1120421" y="-438858"/>
            <a:ext cx="4316851" cy="4316851"/>
          </a:xfrm>
          <a:prstGeom prst="ellipse">
            <a:avLst/>
          </a:prstGeom>
          <a:gradFill flip="none" rotWithShape="1">
            <a:gsLst>
              <a:gs pos="0">
                <a:schemeClr val="accent1">
                  <a:alpha val="0"/>
                </a:schemeClr>
              </a:gs>
              <a:gs pos="100000">
                <a:schemeClr val="accent1">
                  <a:lumMod val="75000"/>
                  <a:alpha val="2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0" name="椭圆 19">
            <a:extLst>
              <a:ext uri="{FF2B5EF4-FFF2-40B4-BE49-F238E27FC236}">
                <a16:creationId xmlns:a16="http://schemas.microsoft.com/office/drawing/2014/main" id="{0765E813-9D9B-45C5-B82B-443289E77224}"/>
              </a:ext>
            </a:extLst>
          </p:cNvPr>
          <p:cNvSpPr/>
          <p:nvPr/>
        </p:nvSpPr>
        <p:spPr>
          <a:xfrm>
            <a:off x="10378605" y="203246"/>
            <a:ext cx="1747803" cy="1747803"/>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grpSp>
        <p:nvGrpSpPr>
          <p:cNvPr id="4" name="组合 3">
            <a:extLst>
              <a:ext uri="{FF2B5EF4-FFF2-40B4-BE49-F238E27FC236}">
                <a16:creationId xmlns:a16="http://schemas.microsoft.com/office/drawing/2014/main" id="{DCBF5EB8-7800-4D30-9650-8BC2A592FCF5}"/>
              </a:ext>
            </a:extLst>
          </p:cNvPr>
          <p:cNvGrpSpPr/>
          <p:nvPr/>
        </p:nvGrpSpPr>
        <p:grpSpPr>
          <a:xfrm>
            <a:off x="3636899" y="1904997"/>
            <a:ext cx="7065197" cy="768353"/>
            <a:chOff x="4556893" y="1875581"/>
            <a:chExt cx="7065197" cy="768353"/>
          </a:xfrm>
        </p:grpSpPr>
        <p:sp>
          <p:nvSpPr>
            <p:cNvPr id="6" name="矩形: 圆角 5">
              <a:extLst>
                <a:ext uri="{FF2B5EF4-FFF2-40B4-BE49-F238E27FC236}">
                  <a16:creationId xmlns:a16="http://schemas.microsoft.com/office/drawing/2014/main" id="{957F9B7E-0559-4417-A7FB-84E27478BD05}"/>
                </a:ext>
              </a:extLst>
            </p:cNvPr>
            <p:cNvSpPr/>
            <p:nvPr/>
          </p:nvSpPr>
          <p:spPr>
            <a:xfrm>
              <a:off x="4556893" y="1875581"/>
              <a:ext cx="748823" cy="768353"/>
            </a:xfrm>
            <a:prstGeom prst="roundRect">
              <a:avLst/>
            </a:prstGeom>
            <a:noFill/>
            <a:ln w="38100">
              <a:gradFill flip="none" rotWithShape="1">
                <a:gsLst>
                  <a:gs pos="0">
                    <a:schemeClr val="accent1"/>
                  </a:gs>
                  <a:gs pos="100000">
                    <a:schemeClr val="accent1"/>
                  </a:gs>
                  <a:gs pos="66358">
                    <a:srgbClr val="FFFFFF">
                      <a:alpha val="0"/>
                    </a:srgbClr>
                  </a:gs>
                  <a:gs pos="37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 name="文本框 1">
              <a:extLst>
                <a:ext uri="{FF2B5EF4-FFF2-40B4-BE49-F238E27FC236}">
                  <a16:creationId xmlns:a16="http://schemas.microsoft.com/office/drawing/2014/main" id="{EA856FBE-C814-4806-9481-9FD333E5F8D3}"/>
                </a:ext>
              </a:extLst>
            </p:cNvPr>
            <p:cNvSpPr txBox="1"/>
            <p:nvPr/>
          </p:nvSpPr>
          <p:spPr>
            <a:xfrm>
              <a:off x="4702166" y="1990894"/>
              <a:ext cx="748823" cy="584775"/>
            </a:xfrm>
            <a:prstGeom prst="rect">
              <a:avLst/>
            </a:prstGeom>
            <a:noFill/>
          </p:spPr>
          <p:txBody>
            <a:bodyPr wrap="square" rtlCol="0">
              <a:spAutoFit/>
            </a:bodyPr>
            <a:lstStyle/>
            <a:p>
              <a:pPr algn="l"/>
              <a:r>
                <a:rPr lang="en-US" altLang="zh-CN" sz="3200" dirty="0">
                  <a:solidFill>
                    <a:schemeClr val="accent1"/>
                  </a:solidFill>
                  <a:latin typeface="方正小标宋简体" panose="02000000000000000000" pitchFamily="2" charset="-122"/>
                  <a:ea typeface="方正小标宋简体" panose="02000000000000000000" pitchFamily="2" charset="-122"/>
                </a:rPr>
                <a:t>01</a:t>
              </a:r>
              <a:endParaRPr lang="zh-CN" altLang="en-US" sz="3200" dirty="0">
                <a:solidFill>
                  <a:schemeClr val="accent1"/>
                </a:solidFill>
                <a:latin typeface="方正小标宋简体" panose="02000000000000000000" pitchFamily="2" charset="-122"/>
                <a:ea typeface="方正小标宋简体" panose="02000000000000000000" pitchFamily="2" charset="-122"/>
              </a:endParaRPr>
            </a:p>
          </p:txBody>
        </p:sp>
        <p:sp>
          <p:nvSpPr>
            <p:cNvPr id="15" name="矩形: 圆角 14">
              <a:extLst>
                <a:ext uri="{FF2B5EF4-FFF2-40B4-BE49-F238E27FC236}">
                  <a16:creationId xmlns:a16="http://schemas.microsoft.com/office/drawing/2014/main" id="{C5253ADF-7C36-4DCF-9B6F-031D8A542E64}"/>
                </a:ext>
              </a:extLst>
            </p:cNvPr>
            <p:cNvSpPr/>
            <p:nvPr/>
          </p:nvSpPr>
          <p:spPr>
            <a:xfrm>
              <a:off x="5574324" y="1899757"/>
              <a:ext cx="6047766" cy="720000"/>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r>
                <a:rPr lang="zh-CN" altLang="en-US" sz="3600" dirty="0">
                  <a:solidFill>
                    <a:schemeClr val="accent1"/>
                  </a:solidFill>
                  <a:latin typeface="思源黑体 CN Heavy" panose="020B0A00000000000000" pitchFamily="34" charset="-122"/>
                  <a:ea typeface="思源黑体 CN Heavy" panose="020B0A00000000000000" pitchFamily="34" charset="-122"/>
                </a:rPr>
                <a:t>中国抗击新冠肺炎疫情概述</a:t>
              </a:r>
            </a:p>
          </p:txBody>
        </p:sp>
      </p:grpSp>
      <p:grpSp>
        <p:nvGrpSpPr>
          <p:cNvPr id="18" name="组合 17">
            <a:extLst>
              <a:ext uri="{FF2B5EF4-FFF2-40B4-BE49-F238E27FC236}">
                <a16:creationId xmlns:a16="http://schemas.microsoft.com/office/drawing/2014/main" id="{246F6BA5-A499-48B1-B0B3-DE70797C873D}"/>
              </a:ext>
            </a:extLst>
          </p:cNvPr>
          <p:cNvGrpSpPr/>
          <p:nvPr/>
        </p:nvGrpSpPr>
        <p:grpSpPr>
          <a:xfrm>
            <a:off x="3636899" y="3060767"/>
            <a:ext cx="7065197" cy="768353"/>
            <a:chOff x="4556893" y="1875581"/>
            <a:chExt cx="7065197" cy="768353"/>
          </a:xfrm>
        </p:grpSpPr>
        <p:sp>
          <p:nvSpPr>
            <p:cNvPr id="22" name="矩形: 圆角 21">
              <a:extLst>
                <a:ext uri="{FF2B5EF4-FFF2-40B4-BE49-F238E27FC236}">
                  <a16:creationId xmlns:a16="http://schemas.microsoft.com/office/drawing/2014/main" id="{41A6A640-FE83-4853-BF54-C21E64F1E387}"/>
                </a:ext>
              </a:extLst>
            </p:cNvPr>
            <p:cNvSpPr/>
            <p:nvPr/>
          </p:nvSpPr>
          <p:spPr>
            <a:xfrm>
              <a:off x="4556893" y="1875581"/>
              <a:ext cx="748823" cy="768353"/>
            </a:xfrm>
            <a:prstGeom prst="roundRect">
              <a:avLst/>
            </a:prstGeom>
            <a:noFill/>
            <a:ln w="38100">
              <a:gradFill flip="none" rotWithShape="1">
                <a:gsLst>
                  <a:gs pos="0">
                    <a:schemeClr val="accent1"/>
                  </a:gs>
                  <a:gs pos="100000">
                    <a:schemeClr val="accent1"/>
                  </a:gs>
                  <a:gs pos="66358">
                    <a:srgbClr val="FFFFFF">
                      <a:alpha val="0"/>
                    </a:srgbClr>
                  </a:gs>
                  <a:gs pos="37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7" name="文本框 26">
              <a:extLst>
                <a:ext uri="{FF2B5EF4-FFF2-40B4-BE49-F238E27FC236}">
                  <a16:creationId xmlns:a16="http://schemas.microsoft.com/office/drawing/2014/main" id="{55EAA42B-9E23-4EF3-B418-191902DD2954}"/>
                </a:ext>
              </a:extLst>
            </p:cNvPr>
            <p:cNvSpPr txBox="1"/>
            <p:nvPr/>
          </p:nvSpPr>
          <p:spPr>
            <a:xfrm>
              <a:off x="4702166" y="1990894"/>
              <a:ext cx="748823" cy="584775"/>
            </a:xfrm>
            <a:prstGeom prst="rect">
              <a:avLst/>
            </a:prstGeom>
            <a:noFill/>
          </p:spPr>
          <p:txBody>
            <a:bodyPr wrap="square" rtlCol="0">
              <a:spAutoFit/>
            </a:bodyPr>
            <a:lstStyle/>
            <a:p>
              <a:pPr algn="l"/>
              <a:r>
                <a:rPr lang="en-US" altLang="zh-CN" sz="3200" dirty="0">
                  <a:solidFill>
                    <a:schemeClr val="accent1"/>
                  </a:solidFill>
                  <a:latin typeface="方正小标宋简体" panose="02000000000000000000" pitchFamily="2" charset="-122"/>
                  <a:ea typeface="方正小标宋简体" panose="02000000000000000000" pitchFamily="2" charset="-122"/>
                </a:rPr>
                <a:t>02</a:t>
              </a:r>
              <a:endParaRPr lang="zh-CN" altLang="en-US" sz="3200" dirty="0">
                <a:solidFill>
                  <a:schemeClr val="accent1"/>
                </a:solidFill>
                <a:latin typeface="方正小标宋简体" panose="02000000000000000000" pitchFamily="2" charset="-122"/>
                <a:ea typeface="方正小标宋简体" panose="02000000000000000000" pitchFamily="2" charset="-122"/>
              </a:endParaRPr>
            </a:p>
          </p:txBody>
        </p:sp>
        <p:sp>
          <p:nvSpPr>
            <p:cNvPr id="28" name="矩形: 圆角 27">
              <a:extLst>
                <a:ext uri="{FF2B5EF4-FFF2-40B4-BE49-F238E27FC236}">
                  <a16:creationId xmlns:a16="http://schemas.microsoft.com/office/drawing/2014/main" id="{BFB4D362-96E6-43BF-AF45-BF6033470D24}"/>
                </a:ext>
              </a:extLst>
            </p:cNvPr>
            <p:cNvSpPr/>
            <p:nvPr/>
          </p:nvSpPr>
          <p:spPr>
            <a:xfrm>
              <a:off x="5574324" y="1899757"/>
              <a:ext cx="6047766" cy="720000"/>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r>
                <a:rPr lang="zh-CN" altLang="en-US" sz="3600" dirty="0">
                  <a:solidFill>
                    <a:schemeClr val="accent1"/>
                  </a:solidFill>
                  <a:latin typeface="思源黑体 CN Heavy" panose="020B0A00000000000000" pitchFamily="34" charset="-122"/>
                  <a:ea typeface="思源黑体 CN Heavy" panose="020B0A00000000000000" pitchFamily="34" charset="-122"/>
                </a:rPr>
                <a:t>伟大抗疫精神解析</a:t>
              </a:r>
            </a:p>
          </p:txBody>
        </p:sp>
      </p:grpSp>
      <p:grpSp>
        <p:nvGrpSpPr>
          <p:cNvPr id="29" name="组合 28">
            <a:extLst>
              <a:ext uri="{FF2B5EF4-FFF2-40B4-BE49-F238E27FC236}">
                <a16:creationId xmlns:a16="http://schemas.microsoft.com/office/drawing/2014/main" id="{2EC87BAB-6E6D-4C93-896B-435FA5D93695}"/>
              </a:ext>
            </a:extLst>
          </p:cNvPr>
          <p:cNvGrpSpPr/>
          <p:nvPr/>
        </p:nvGrpSpPr>
        <p:grpSpPr>
          <a:xfrm>
            <a:off x="3636899" y="4216536"/>
            <a:ext cx="7065197" cy="768353"/>
            <a:chOff x="4556893" y="1875581"/>
            <a:chExt cx="7065197" cy="768353"/>
          </a:xfrm>
        </p:grpSpPr>
        <p:sp>
          <p:nvSpPr>
            <p:cNvPr id="30" name="矩形: 圆角 29">
              <a:extLst>
                <a:ext uri="{FF2B5EF4-FFF2-40B4-BE49-F238E27FC236}">
                  <a16:creationId xmlns:a16="http://schemas.microsoft.com/office/drawing/2014/main" id="{8797047F-7C9A-4EBC-AC1F-F8AE54001191}"/>
                </a:ext>
              </a:extLst>
            </p:cNvPr>
            <p:cNvSpPr/>
            <p:nvPr/>
          </p:nvSpPr>
          <p:spPr>
            <a:xfrm>
              <a:off x="4556893" y="1875581"/>
              <a:ext cx="748823" cy="768353"/>
            </a:xfrm>
            <a:prstGeom prst="roundRect">
              <a:avLst/>
            </a:prstGeom>
            <a:noFill/>
            <a:ln w="38100">
              <a:gradFill flip="none" rotWithShape="1">
                <a:gsLst>
                  <a:gs pos="0">
                    <a:schemeClr val="accent1"/>
                  </a:gs>
                  <a:gs pos="100000">
                    <a:schemeClr val="accent1"/>
                  </a:gs>
                  <a:gs pos="66358">
                    <a:srgbClr val="FFFFFF">
                      <a:alpha val="0"/>
                    </a:srgbClr>
                  </a:gs>
                  <a:gs pos="37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31" name="文本框 30">
              <a:extLst>
                <a:ext uri="{FF2B5EF4-FFF2-40B4-BE49-F238E27FC236}">
                  <a16:creationId xmlns:a16="http://schemas.microsoft.com/office/drawing/2014/main" id="{1830F047-8F6D-4FC3-A480-A322226ABE0D}"/>
                </a:ext>
              </a:extLst>
            </p:cNvPr>
            <p:cNvSpPr txBox="1"/>
            <p:nvPr/>
          </p:nvSpPr>
          <p:spPr>
            <a:xfrm>
              <a:off x="4702166" y="1990894"/>
              <a:ext cx="748823" cy="584775"/>
            </a:xfrm>
            <a:prstGeom prst="rect">
              <a:avLst/>
            </a:prstGeom>
            <a:noFill/>
          </p:spPr>
          <p:txBody>
            <a:bodyPr wrap="square" rtlCol="0">
              <a:spAutoFit/>
            </a:bodyPr>
            <a:lstStyle/>
            <a:p>
              <a:pPr algn="l"/>
              <a:r>
                <a:rPr lang="en-US" altLang="zh-CN" sz="3200" dirty="0">
                  <a:solidFill>
                    <a:schemeClr val="accent1"/>
                  </a:solidFill>
                  <a:latin typeface="方正小标宋简体" panose="02000000000000000000" pitchFamily="2" charset="-122"/>
                  <a:ea typeface="方正小标宋简体" panose="02000000000000000000" pitchFamily="2" charset="-122"/>
                </a:rPr>
                <a:t>03</a:t>
              </a:r>
              <a:endParaRPr lang="zh-CN" altLang="en-US" sz="3200" dirty="0">
                <a:solidFill>
                  <a:schemeClr val="accent1"/>
                </a:solidFill>
                <a:latin typeface="方正小标宋简体" panose="02000000000000000000" pitchFamily="2" charset="-122"/>
                <a:ea typeface="方正小标宋简体" panose="02000000000000000000" pitchFamily="2" charset="-122"/>
              </a:endParaRPr>
            </a:p>
          </p:txBody>
        </p:sp>
        <p:sp>
          <p:nvSpPr>
            <p:cNvPr id="32" name="矩形: 圆角 31">
              <a:extLst>
                <a:ext uri="{FF2B5EF4-FFF2-40B4-BE49-F238E27FC236}">
                  <a16:creationId xmlns:a16="http://schemas.microsoft.com/office/drawing/2014/main" id="{63296377-B091-409A-BCB1-9C180C2B3E17}"/>
                </a:ext>
              </a:extLst>
            </p:cNvPr>
            <p:cNvSpPr/>
            <p:nvPr/>
          </p:nvSpPr>
          <p:spPr>
            <a:xfrm>
              <a:off x="5574324" y="1899757"/>
              <a:ext cx="6047766" cy="720000"/>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r>
                <a:rPr lang="zh-CN" altLang="en-US" sz="3600" dirty="0">
                  <a:solidFill>
                    <a:schemeClr val="accent1"/>
                  </a:solidFill>
                  <a:latin typeface="思源黑体 CN Heavy" panose="020B0A00000000000000" pitchFamily="34" charset="-122"/>
                  <a:ea typeface="思源黑体 CN Heavy" panose="020B0A00000000000000" pitchFamily="34" charset="-122"/>
                </a:rPr>
                <a:t>伟大抗疫精神的时代价值</a:t>
              </a:r>
            </a:p>
          </p:txBody>
        </p:sp>
      </p:grpSp>
    </p:spTree>
    <p:extLst>
      <p:ext uri="{BB962C8B-B14F-4D97-AF65-F5344CB8AC3E}">
        <p14:creationId xmlns:p14="http://schemas.microsoft.com/office/powerpoint/2010/main" val="2484589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形状 34">
            <a:extLst>
              <a:ext uri="{FF2B5EF4-FFF2-40B4-BE49-F238E27FC236}">
                <a16:creationId xmlns:a16="http://schemas.microsoft.com/office/drawing/2014/main" id="{E1CF0FAA-FEBE-4051-AA38-944FE074D253}"/>
              </a:ext>
            </a:extLst>
          </p:cNvPr>
          <p:cNvSpPr/>
          <p:nvPr/>
        </p:nvSpPr>
        <p:spPr>
          <a:xfrm>
            <a:off x="29608" y="2060157"/>
            <a:ext cx="4773307" cy="4855717"/>
          </a:xfrm>
          <a:custGeom>
            <a:avLst/>
            <a:gdLst>
              <a:gd name="connsiteX0" fmla="*/ 2032250 w 4773307"/>
              <a:gd name="connsiteY0" fmla="*/ 0 h 4855717"/>
              <a:gd name="connsiteX1" fmla="*/ 4773307 w 4773307"/>
              <a:gd name="connsiteY1" fmla="*/ 2741057 h 4855717"/>
              <a:gd name="connsiteX2" fmla="*/ 3970470 w 4773307"/>
              <a:gd name="connsiteY2" fmla="*/ 4679277 h 4855717"/>
              <a:gd name="connsiteX3" fmla="*/ 3776337 w 4773307"/>
              <a:gd name="connsiteY3" fmla="*/ 4855717 h 4855717"/>
              <a:gd name="connsiteX4" fmla="*/ 288163 w 4773307"/>
              <a:gd name="connsiteY4" fmla="*/ 4855717 h 4855717"/>
              <a:gd name="connsiteX5" fmla="*/ 94030 w 4773307"/>
              <a:gd name="connsiteY5" fmla="*/ 4679277 h 4855717"/>
              <a:gd name="connsiteX6" fmla="*/ 0 w 4773307"/>
              <a:gd name="connsiteY6" fmla="*/ 4575818 h 4855717"/>
              <a:gd name="connsiteX7" fmla="*/ 0 w 4773307"/>
              <a:gd name="connsiteY7" fmla="*/ 906296 h 4855717"/>
              <a:gd name="connsiteX8" fmla="*/ 94030 w 4773307"/>
              <a:gd name="connsiteY8" fmla="*/ 802837 h 4855717"/>
              <a:gd name="connsiteX9" fmla="*/ 2032250 w 4773307"/>
              <a:gd name="connsiteY9" fmla="*/ 0 h 485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73307" h="4855717">
                <a:moveTo>
                  <a:pt x="2032250" y="0"/>
                </a:moveTo>
                <a:cubicBezTo>
                  <a:pt x="3546094" y="0"/>
                  <a:pt x="4773307" y="1227213"/>
                  <a:pt x="4773307" y="2741057"/>
                </a:cubicBezTo>
                <a:cubicBezTo>
                  <a:pt x="4773307" y="3497979"/>
                  <a:pt x="4466504" y="4183244"/>
                  <a:pt x="3970470" y="4679277"/>
                </a:cubicBezTo>
                <a:lnTo>
                  <a:pt x="3776337" y="4855717"/>
                </a:lnTo>
                <a:lnTo>
                  <a:pt x="288163" y="4855717"/>
                </a:lnTo>
                <a:lnTo>
                  <a:pt x="94030" y="4679277"/>
                </a:lnTo>
                <a:lnTo>
                  <a:pt x="0" y="4575818"/>
                </a:lnTo>
                <a:lnTo>
                  <a:pt x="0" y="906296"/>
                </a:lnTo>
                <a:lnTo>
                  <a:pt x="94030" y="802837"/>
                </a:lnTo>
                <a:cubicBezTo>
                  <a:pt x="590064" y="306803"/>
                  <a:pt x="1275328" y="0"/>
                  <a:pt x="2032250" y="0"/>
                </a:cubicBezTo>
                <a:close/>
              </a:path>
            </a:pathLst>
          </a:custGeom>
          <a:gradFill flip="none" rotWithShape="1">
            <a:gsLst>
              <a:gs pos="0">
                <a:schemeClr val="accent1">
                  <a:alpha val="0"/>
                </a:schemeClr>
              </a:gs>
              <a:gs pos="100000">
                <a:schemeClr val="accent1">
                  <a:lumMod val="75000"/>
                  <a:alpha val="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8" name="椭圆 27">
            <a:extLst>
              <a:ext uri="{FF2B5EF4-FFF2-40B4-BE49-F238E27FC236}">
                <a16:creationId xmlns:a16="http://schemas.microsoft.com/office/drawing/2014/main" id="{6003490C-FC56-45A1-8BE6-E358ACBA31CC}"/>
              </a:ext>
            </a:extLst>
          </p:cNvPr>
          <p:cNvSpPr/>
          <p:nvPr/>
        </p:nvSpPr>
        <p:spPr>
          <a:xfrm>
            <a:off x="10159746" y="4376529"/>
            <a:ext cx="1331822" cy="1331822"/>
          </a:xfrm>
          <a:prstGeom prst="ellipse">
            <a:avLst/>
          </a:prstGeom>
          <a:gradFill flip="none" rotWithShape="1">
            <a:gsLst>
              <a:gs pos="0">
                <a:schemeClr val="accent1">
                  <a:alpha val="0"/>
                </a:schemeClr>
              </a:gs>
              <a:gs pos="100000">
                <a:schemeClr val="accent1">
                  <a:lumMod val="75000"/>
                  <a:alpha val="1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grpSp>
        <p:nvGrpSpPr>
          <p:cNvPr id="23" name="组合 22">
            <a:extLst>
              <a:ext uri="{FF2B5EF4-FFF2-40B4-BE49-F238E27FC236}">
                <a16:creationId xmlns:a16="http://schemas.microsoft.com/office/drawing/2014/main" id="{F500E9BA-711B-489F-B81B-D5CA30815048}"/>
              </a:ext>
            </a:extLst>
          </p:cNvPr>
          <p:cNvGrpSpPr/>
          <p:nvPr/>
        </p:nvGrpSpPr>
        <p:grpSpPr>
          <a:xfrm>
            <a:off x="3697117" y="549769"/>
            <a:ext cx="4797765" cy="2652694"/>
            <a:chOff x="-311956" y="-548972"/>
            <a:chExt cx="4797765" cy="2652694"/>
          </a:xfrm>
        </p:grpSpPr>
        <p:sp>
          <p:nvSpPr>
            <p:cNvPr id="24" name="文本框 23">
              <a:extLst>
                <a:ext uri="{FF2B5EF4-FFF2-40B4-BE49-F238E27FC236}">
                  <a16:creationId xmlns:a16="http://schemas.microsoft.com/office/drawing/2014/main" id="{B54E7E8E-9623-4326-8541-99F04184ADE8}"/>
                </a:ext>
              </a:extLst>
            </p:cNvPr>
            <p:cNvSpPr txBox="1"/>
            <p:nvPr/>
          </p:nvSpPr>
          <p:spPr>
            <a:xfrm>
              <a:off x="1189083" y="-548972"/>
              <a:ext cx="1795684" cy="1991123"/>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en-US" altLang="zh-CN" sz="11500" dirty="0">
                  <a:gradFill flip="none" rotWithShape="1">
                    <a:gsLst>
                      <a:gs pos="0">
                        <a:schemeClr val="accent4">
                          <a:lumMod val="20000"/>
                          <a:lumOff val="80000"/>
                        </a:schemeClr>
                      </a:gs>
                      <a:gs pos="100000">
                        <a:schemeClr val="accent4">
                          <a:lumMod val="20000"/>
                          <a:lumOff val="80000"/>
                          <a:alpha val="0"/>
                        </a:schemeClr>
                      </a:gs>
                    </a:gsLst>
                    <a:lin ang="5400000" scaled="1"/>
                    <a:tileRect/>
                  </a:gradFill>
                  <a:latin typeface="Impact" panose="020B0806030902050204" pitchFamily="34" charset="0"/>
                  <a:ea typeface="思源宋体 CN Heavy" panose="02020900000000000000" pitchFamily="18" charset="-122"/>
                </a:rPr>
                <a:t>0 1</a:t>
              </a:r>
              <a:endParaRPr lang="zh-CN" altLang="en-US" sz="11500" dirty="0">
                <a:gradFill flip="none" rotWithShape="1">
                  <a:gsLst>
                    <a:gs pos="0">
                      <a:schemeClr val="accent4">
                        <a:lumMod val="20000"/>
                        <a:lumOff val="80000"/>
                      </a:schemeClr>
                    </a:gs>
                    <a:gs pos="100000">
                      <a:schemeClr val="accent4">
                        <a:lumMod val="20000"/>
                        <a:lumOff val="80000"/>
                        <a:alpha val="0"/>
                      </a:schemeClr>
                    </a:gs>
                  </a:gsLst>
                  <a:lin ang="5400000" scaled="1"/>
                  <a:tileRect/>
                </a:gradFill>
                <a:latin typeface="Impact" panose="020B0806030902050204" pitchFamily="34" charset="0"/>
                <a:ea typeface="思源宋体 CN Heavy" panose="02020900000000000000" pitchFamily="18" charset="-122"/>
              </a:endParaRPr>
            </a:p>
          </p:txBody>
        </p:sp>
        <p:sp>
          <p:nvSpPr>
            <p:cNvPr id="25" name="文本框 24">
              <a:extLst>
                <a:ext uri="{FF2B5EF4-FFF2-40B4-BE49-F238E27FC236}">
                  <a16:creationId xmlns:a16="http://schemas.microsoft.com/office/drawing/2014/main" id="{76FA47C7-8EDB-48DF-9BED-2F9DA60A24EA}"/>
                </a:ext>
              </a:extLst>
            </p:cNvPr>
            <p:cNvSpPr txBox="1"/>
            <p:nvPr/>
          </p:nvSpPr>
          <p:spPr>
            <a:xfrm>
              <a:off x="-311956" y="480072"/>
              <a:ext cx="4797765" cy="1623650"/>
            </a:xfrm>
            <a:prstGeom prst="rect">
              <a:avLst/>
            </a:prstGeom>
            <a:noFill/>
          </p:spPr>
          <p:txBody>
            <a:bodyPr wrap="square" rtlCol="0">
              <a:spAutoFit/>
            </a:bodyPr>
            <a:lstStyle/>
            <a:p>
              <a:pPr algn="ctr">
                <a:lnSpc>
                  <a:spcPct val="120000"/>
                </a:lnSpc>
              </a:pPr>
              <a:r>
                <a:rPr lang="zh-CN" altLang="en-US" sz="8800" dirty="0">
                  <a:solidFill>
                    <a:schemeClr val="accent1"/>
                  </a:solidFill>
                  <a:latin typeface="优设标题黑" panose="00000500000000000000" pitchFamily="2" charset="-122"/>
                  <a:ea typeface="优设标题黑" panose="00000500000000000000" pitchFamily="2" charset="-122"/>
                </a:rPr>
                <a:t>第一部分</a:t>
              </a:r>
            </a:p>
          </p:txBody>
        </p:sp>
      </p:grpSp>
      <p:sp>
        <p:nvSpPr>
          <p:cNvPr id="27" name="文本框 26">
            <a:extLst>
              <a:ext uri="{FF2B5EF4-FFF2-40B4-BE49-F238E27FC236}">
                <a16:creationId xmlns:a16="http://schemas.microsoft.com/office/drawing/2014/main" id="{AE9F1F9C-B624-40FC-8695-1BD1E6810153}"/>
              </a:ext>
            </a:extLst>
          </p:cNvPr>
          <p:cNvSpPr txBox="1"/>
          <p:nvPr/>
        </p:nvSpPr>
        <p:spPr>
          <a:xfrm>
            <a:off x="1285461" y="3208738"/>
            <a:ext cx="9621074" cy="1067921"/>
          </a:xfrm>
          <a:prstGeom prst="rect">
            <a:avLst/>
          </a:prstGeom>
          <a:noFill/>
        </p:spPr>
        <p:txBody>
          <a:bodyPr wrap="square" rtlCol="0">
            <a:spAutoFit/>
          </a:bodyPr>
          <a:lstStyle/>
          <a:p>
            <a:pPr algn="ctr">
              <a:lnSpc>
                <a:spcPct val="130000"/>
              </a:lnSpc>
            </a:pPr>
            <a:r>
              <a:rPr lang="zh-CN" altLang="en-US" sz="5400" b="1" dirty="0">
                <a:solidFill>
                  <a:schemeClr val="bg2">
                    <a:lumMod val="25000"/>
                  </a:schemeClr>
                </a:solidFill>
                <a:latin typeface="思源宋体 CN Heavy" panose="02020900000000000000" pitchFamily="18" charset="-122"/>
                <a:ea typeface="思源宋体 CN Heavy" panose="02020900000000000000" pitchFamily="18" charset="-122"/>
              </a:rPr>
              <a:t>中国抗击新冠肺炎疫情概述</a:t>
            </a:r>
          </a:p>
        </p:txBody>
      </p:sp>
    </p:spTree>
    <p:extLst>
      <p:ext uri="{BB962C8B-B14F-4D97-AF65-F5344CB8AC3E}">
        <p14:creationId xmlns:p14="http://schemas.microsoft.com/office/powerpoint/2010/main" val="624623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067398" y="2694577"/>
            <a:ext cx="4490640" cy="1884618"/>
          </a:xfrm>
          <a:prstGeom prst="rect">
            <a:avLst/>
          </a:prstGeom>
          <a:noFill/>
        </p:spPr>
        <p:txBody>
          <a:bodyPr wrap="square" rtlCol="0">
            <a:spAutoFit/>
          </a:bodyPr>
          <a:lstStyle/>
          <a:p>
            <a:pPr>
              <a:lnSpc>
                <a:spcPct val="150000"/>
              </a:lnSpc>
            </a:pPr>
            <a:r>
              <a:rPr lang="zh-CN" altLang="zh-CN" sz="2000" dirty="0">
                <a:solidFill>
                  <a:srgbClr val="1A1A1A"/>
                </a:solidFill>
                <a:latin typeface="思源黑体 CN Light" panose="020B0300000000000000" pitchFamily="34" charset="-122"/>
                <a:ea typeface="思源黑体 CN Light" panose="020B0300000000000000" pitchFamily="34" charset="-122"/>
              </a:rPr>
              <a:t>面对前所未见、突如其来的新冠肺炎疫情，中国率先报告、率先出征，以对全人类负责的态度，打响了一场疫情防控的人民战争、总体战、阻击战。</a:t>
            </a: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02" y="5817665"/>
            <a:ext cx="12192000" cy="1040335"/>
          </a:xfrm>
          <a:prstGeom prst="rect">
            <a:avLst/>
          </a:prstGeom>
        </p:spPr>
      </p:pic>
      <p:grpSp>
        <p:nvGrpSpPr>
          <p:cNvPr id="2" name="组合 1"/>
          <p:cNvGrpSpPr/>
          <p:nvPr/>
        </p:nvGrpSpPr>
        <p:grpSpPr>
          <a:xfrm>
            <a:off x="998223" y="1394276"/>
            <a:ext cx="9639316" cy="675599"/>
            <a:chOff x="989756" y="1421685"/>
            <a:chExt cx="9639316" cy="675599"/>
          </a:xfrm>
        </p:grpSpPr>
        <p:sp>
          <p:nvSpPr>
            <p:cNvPr id="19" name="文本框 5"/>
            <p:cNvSpPr txBox="1"/>
            <p:nvPr/>
          </p:nvSpPr>
          <p:spPr>
            <a:xfrm>
              <a:off x="1562928" y="1515971"/>
              <a:ext cx="9066144" cy="58131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zh-CN" sz="2400" dirty="0">
                  <a:solidFill>
                    <a:srgbClr val="C00000"/>
                  </a:solidFill>
                  <a:latin typeface="思源宋体 CN Heavy" panose="02020900000000000000" pitchFamily="18" charset="-122"/>
                  <a:ea typeface="思源宋体 CN Heavy" panose="02020900000000000000" pitchFamily="18" charset="-122"/>
                </a:rPr>
                <a:t>这是第二次世界大战结束以来最严重的全球公共卫生突发事件。</a:t>
              </a:r>
            </a:p>
          </p:txBody>
        </p:sp>
        <p:sp>
          <p:nvSpPr>
            <p:cNvPr id="20" name="siren-light_75516"/>
            <p:cNvSpPr>
              <a:spLocks noChangeAspect="1"/>
            </p:cNvSpPr>
            <p:nvPr/>
          </p:nvSpPr>
          <p:spPr bwMode="auto">
            <a:xfrm>
              <a:off x="989756" y="1421685"/>
              <a:ext cx="609685" cy="554628"/>
            </a:xfrm>
            <a:custGeom>
              <a:avLst/>
              <a:gdLst>
                <a:gd name="connsiteX0" fmla="*/ 49398 w 607220"/>
                <a:gd name="connsiteY0" fmla="*/ 459240 h 552386"/>
                <a:gd name="connsiteX1" fmla="*/ 557822 w 607220"/>
                <a:gd name="connsiteY1" fmla="*/ 459240 h 552386"/>
                <a:gd name="connsiteX2" fmla="*/ 557822 w 607220"/>
                <a:gd name="connsiteY2" fmla="*/ 552386 h 552386"/>
                <a:gd name="connsiteX3" fmla="*/ 49398 w 607220"/>
                <a:gd name="connsiteY3" fmla="*/ 552386 h 552386"/>
                <a:gd name="connsiteX4" fmla="*/ 584431 w 607220"/>
                <a:gd name="connsiteY4" fmla="*/ 238538 h 552386"/>
                <a:gd name="connsiteX5" fmla="*/ 606926 w 607220"/>
                <a:gd name="connsiteY5" fmla="*/ 254179 h 552386"/>
                <a:gd name="connsiteX6" fmla="*/ 591161 w 607220"/>
                <a:gd name="connsiteY6" fmla="*/ 276628 h 552386"/>
                <a:gd name="connsiteX7" fmla="*/ 531142 w 607220"/>
                <a:gd name="connsiteY7" fmla="*/ 287208 h 552386"/>
                <a:gd name="connsiteX8" fmla="*/ 527731 w 607220"/>
                <a:gd name="connsiteY8" fmla="*/ 287484 h 552386"/>
                <a:gd name="connsiteX9" fmla="*/ 508647 w 607220"/>
                <a:gd name="connsiteY9" fmla="*/ 271476 h 552386"/>
                <a:gd name="connsiteX10" fmla="*/ 524412 w 607220"/>
                <a:gd name="connsiteY10" fmla="*/ 249027 h 552386"/>
                <a:gd name="connsiteX11" fmla="*/ 22789 w 607220"/>
                <a:gd name="connsiteY11" fmla="*/ 238446 h 552386"/>
                <a:gd name="connsiteX12" fmla="*/ 82808 w 607220"/>
                <a:gd name="connsiteY12" fmla="*/ 249027 h 552386"/>
                <a:gd name="connsiteX13" fmla="*/ 98481 w 607220"/>
                <a:gd name="connsiteY13" fmla="*/ 271476 h 552386"/>
                <a:gd name="connsiteX14" fmla="*/ 79489 w 607220"/>
                <a:gd name="connsiteY14" fmla="*/ 287484 h 552386"/>
                <a:gd name="connsiteX15" fmla="*/ 76078 w 607220"/>
                <a:gd name="connsiteY15" fmla="*/ 287208 h 552386"/>
                <a:gd name="connsiteX16" fmla="*/ 16059 w 607220"/>
                <a:gd name="connsiteY16" fmla="*/ 276628 h 552386"/>
                <a:gd name="connsiteX17" fmla="*/ 294 w 607220"/>
                <a:gd name="connsiteY17" fmla="*/ 254179 h 552386"/>
                <a:gd name="connsiteX18" fmla="*/ 22789 w 607220"/>
                <a:gd name="connsiteY18" fmla="*/ 238446 h 552386"/>
                <a:gd name="connsiteX19" fmla="*/ 292803 w 607220"/>
                <a:gd name="connsiteY19" fmla="*/ 164340 h 552386"/>
                <a:gd name="connsiteX20" fmla="*/ 160608 w 607220"/>
                <a:gd name="connsiteY20" fmla="*/ 306622 h 552386"/>
                <a:gd name="connsiteX21" fmla="*/ 160608 w 607220"/>
                <a:gd name="connsiteY21" fmla="*/ 391845 h 552386"/>
                <a:gd name="connsiteX22" fmla="*/ 223387 w 607220"/>
                <a:gd name="connsiteY22" fmla="*/ 391845 h 552386"/>
                <a:gd name="connsiteX23" fmla="*/ 223387 w 607220"/>
                <a:gd name="connsiteY23" fmla="*/ 306622 h 552386"/>
                <a:gd name="connsiteX24" fmla="*/ 292803 w 607220"/>
                <a:gd name="connsiteY24" fmla="*/ 164340 h 552386"/>
                <a:gd name="connsiteX25" fmla="*/ 303681 w 607220"/>
                <a:gd name="connsiteY25" fmla="*/ 125042 h 552386"/>
                <a:gd name="connsiteX26" fmla="*/ 485563 w 607220"/>
                <a:gd name="connsiteY26" fmla="*/ 306622 h 552386"/>
                <a:gd name="connsiteX27" fmla="*/ 485563 w 607220"/>
                <a:gd name="connsiteY27" fmla="*/ 430590 h 552386"/>
                <a:gd name="connsiteX28" fmla="*/ 463070 w 607220"/>
                <a:gd name="connsiteY28" fmla="*/ 430590 h 552386"/>
                <a:gd name="connsiteX29" fmla="*/ 223387 w 607220"/>
                <a:gd name="connsiteY29" fmla="*/ 430590 h 552386"/>
                <a:gd name="connsiteX30" fmla="*/ 121798 w 607220"/>
                <a:gd name="connsiteY30" fmla="*/ 430590 h 552386"/>
                <a:gd name="connsiteX31" fmla="*/ 121798 w 607220"/>
                <a:gd name="connsiteY31" fmla="*/ 306622 h 552386"/>
                <a:gd name="connsiteX32" fmla="*/ 303681 w 607220"/>
                <a:gd name="connsiteY32" fmla="*/ 125042 h 552386"/>
                <a:gd name="connsiteX33" fmla="*/ 487420 w 607220"/>
                <a:gd name="connsiteY33" fmla="*/ 67584 h 552386"/>
                <a:gd name="connsiteX34" fmla="*/ 501584 w 607220"/>
                <a:gd name="connsiteY34" fmla="*/ 72014 h 552386"/>
                <a:gd name="connsiteX35" fmla="*/ 503981 w 607220"/>
                <a:gd name="connsiteY35" fmla="*/ 99356 h 552386"/>
                <a:gd name="connsiteX36" fmla="*/ 464796 w 607220"/>
                <a:gd name="connsiteY36" fmla="*/ 145940 h 552386"/>
                <a:gd name="connsiteX37" fmla="*/ 449952 w 607220"/>
                <a:gd name="connsiteY37" fmla="*/ 152844 h 552386"/>
                <a:gd name="connsiteX38" fmla="*/ 437505 w 607220"/>
                <a:gd name="connsiteY38" fmla="*/ 148333 h 552386"/>
                <a:gd name="connsiteX39" fmla="*/ 435108 w 607220"/>
                <a:gd name="connsiteY39" fmla="*/ 120991 h 552386"/>
                <a:gd name="connsiteX40" fmla="*/ 474293 w 607220"/>
                <a:gd name="connsiteY40" fmla="*/ 74408 h 552386"/>
                <a:gd name="connsiteX41" fmla="*/ 487420 w 607220"/>
                <a:gd name="connsiteY41" fmla="*/ 67584 h 552386"/>
                <a:gd name="connsiteX42" fmla="*/ 119800 w 607220"/>
                <a:gd name="connsiteY42" fmla="*/ 67502 h 552386"/>
                <a:gd name="connsiteX43" fmla="*/ 132927 w 607220"/>
                <a:gd name="connsiteY43" fmla="*/ 74364 h 552386"/>
                <a:gd name="connsiteX44" fmla="*/ 172112 w 607220"/>
                <a:gd name="connsiteY44" fmla="*/ 120973 h 552386"/>
                <a:gd name="connsiteX45" fmla="*/ 169715 w 607220"/>
                <a:gd name="connsiteY45" fmla="*/ 148331 h 552386"/>
                <a:gd name="connsiteX46" fmla="*/ 157268 w 607220"/>
                <a:gd name="connsiteY46" fmla="*/ 152844 h 552386"/>
                <a:gd name="connsiteX47" fmla="*/ 142332 w 607220"/>
                <a:gd name="connsiteY47" fmla="*/ 145936 h 552386"/>
                <a:gd name="connsiteX48" fmla="*/ 103239 w 607220"/>
                <a:gd name="connsiteY48" fmla="*/ 99234 h 552386"/>
                <a:gd name="connsiteX49" fmla="*/ 105636 w 607220"/>
                <a:gd name="connsiteY49" fmla="*/ 71969 h 552386"/>
                <a:gd name="connsiteX50" fmla="*/ 119800 w 607220"/>
                <a:gd name="connsiteY50" fmla="*/ 67502 h 552386"/>
                <a:gd name="connsiteX51" fmla="*/ 303621 w 607220"/>
                <a:gd name="connsiteY51" fmla="*/ 0 h 552386"/>
                <a:gd name="connsiteX52" fmla="*/ 322980 w 607220"/>
                <a:gd name="connsiteY52" fmla="*/ 19338 h 552386"/>
                <a:gd name="connsiteX53" fmla="*/ 322980 w 607220"/>
                <a:gd name="connsiteY53" fmla="*/ 80207 h 552386"/>
                <a:gd name="connsiteX54" fmla="*/ 303621 w 607220"/>
                <a:gd name="connsiteY54" fmla="*/ 99638 h 552386"/>
                <a:gd name="connsiteX55" fmla="*/ 284169 w 607220"/>
                <a:gd name="connsiteY55" fmla="*/ 80207 h 552386"/>
                <a:gd name="connsiteX56" fmla="*/ 284169 w 607220"/>
                <a:gd name="connsiteY56" fmla="*/ 19338 h 552386"/>
                <a:gd name="connsiteX57" fmla="*/ 303621 w 607220"/>
                <a:gd name="connsiteY57" fmla="*/ 0 h 552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220" h="552386">
                  <a:moveTo>
                    <a:pt x="49398" y="459240"/>
                  </a:moveTo>
                  <a:lnTo>
                    <a:pt x="557822" y="459240"/>
                  </a:lnTo>
                  <a:lnTo>
                    <a:pt x="557822" y="552386"/>
                  </a:lnTo>
                  <a:lnTo>
                    <a:pt x="49398" y="552386"/>
                  </a:lnTo>
                  <a:close/>
                  <a:moveTo>
                    <a:pt x="584431" y="238538"/>
                  </a:moveTo>
                  <a:cubicBezTo>
                    <a:pt x="595033" y="236606"/>
                    <a:pt x="605082" y="243691"/>
                    <a:pt x="606926" y="254179"/>
                  </a:cubicBezTo>
                  <a:cubicBezTo>
                    <a:pt x="608770" y="264759"/>
                    <a:pt x="601763" y="274788"/>
                    <a:pt x="591161" y="276628"/>
                  </a:cubicBezTo>
                  <a:lnTo>
                    <a:pt x="531142" y="287208"/>
                  </a:lnTo>
                  <a:cubicBezTo>
                    <a:pt x="530036" y="287392"/>
                    <a:pt x="528838" y="287484"/>
                    <a:pt x="527731" y="287484"/>
                  </a:cubicBezTo>
                  <a:cubicBezTo>
                    <a:pt x="518512" y="287484"/>
                    <a:pt x="510306" y="280860"/>
                    <a:pt x="508647" y="271476"/>
                  </a:cubicBezTo>
                  <a:cubicBezTo>
                    <a:pt x="506803" y="260987"/>
                    <a:pt x="513810" y="250867"/>
                    <a:pt x="524412" y="249027"/>
                  </a:cubicBezTo>
                  <a:close/>
                  <a:moveTo>
                    <a:pt x="22789" y="238446"/>
                  </a:moveTo>
                  <a:lnTo>
                    <a:pt x="82808" y="249027"/>
                  </a:lnTo>
                  <a:cubicBezTo>
                    <a:pt x="93318" y="250959"/>
                    <a:pt x="100417" y="260987"/>
                    <a:pt x="98481" y="271476"/>
                  </a:cubicBezTo>
                  <a:cubicBezTo>
                    <a:pt x="96914" y="280860"/>
                    <a:pt x="88708" y="287484"/>
                    <a:pt x="79489" y="287484"/>
                  </a:cubicBezTo>
                  <a:cubicBezTo>
                    <a:pt x="78290" y="287484"/>
                    <a:pt x="77184" y="287392"/>
                    <a:pt x="76078" y="287208"/>
                  </a:cubicBezTo>
                  <a:lnTo>
                    <a:pt x="16059" y="276628"/>
                  </a:lnTo>
                  <a:cubicBezTo>
                    <a:pt x="5457" y="274788"/>
                    <a:pt x="-1550" y="264759"/>
                    <a:pt x="294" y="254179"/>
                  </a:cubicBezTo>
                  <a:cubicBezTo>
                    <a:pt x="2138" y="243691"/>
                    <a:pt x="12279" y="236606"/>
                    <a:pt x="22789" y="238446"/>
                  </a:cubicBezTo>
                  <a:close/>
                  <a:moveTo>
                    <a:pt x="292803" y="164340"/>
                  </a:moveTo>
                  <a:cubicBezTo>
                    <a:pt x="218962" y="169862"/>
                    <a:pt x="160608" y="231524"/>
                    <a:pt x="160608" y="306622"/>
                  </a:cubicBezTo>
                  <a:lnTo>
                    <a:pt x="160608" y="391845"/>
                  </a:lnTo>
                  <a:lnTo>
                    <a:pt x="223387" y="391845"/>
                  </a:lnTo>
                  <a:lnTo>
                    <a:pt x="223387" y="306622"/>
                  </a:lnTo>
                  <a:cubicBezTo>
                    <a:pt x="223387" y="248826"/>
                    <a:pt x="250674" y="197564"/>
                    <a:pt x="292803" y="164340"/>
                  </a:cubicBezTo>
                  <a:close/>
                  <a:moveTo>
                    <a:pt x="303681" y="125042"/>
                  </a:moveTo>
                  <a:cubicBezTo>
                    <a:pt x="404071" y="125042"/>
                    <a:pt x="485563" y="206399"/>
                    <a:pt x="485563" y="306622"/>
                  </a:cubicBezTo>
                  <a:lnTo>
                    <a:pt x="485563" y="430590"/>
                  </a:lnTo>
                  <a:lnTo>
                    <a:pt x="463070" y="430590"/>
                  </a:lnTo>
                  <a:lnTo>
                    <a:pt x="223387" y="430590"/>
                  </a:lnTo>
                  <a:lnTo>
                    <a:pt x="121798" y="430590"/>
                  </a:lnTo>
                  <a:lnTo>
                    <a:pt x="121798" y="306622"/>
                  </a:lnTo>
                  <a:cubicBezTo>
                    <a:pt x="121798" y="206399"/>
                    <a:pt x="203198" y="125042"/>
                    <a:pt x="303681" y="125042"/>
                  </a:cubicBezTo>
                  <a:close/>
                  <a:moveTo>
                    <a:pt x="487420" y="67584"/>
                  </a:moveTo>
                  <a:cubicBezTo>
                    <a:pt x="492364" y="67158"/>
                    <a:pt x="497481" y="68608"/>
                    <a:pt x="501584" y="72014"/>
                  </a:cubicBezTo>
                  <a:cubicBezTo>
                    <a:pt x="509790" y="78919"/>
                    <a:pt x="510896" y="91163"/>
                    <a:pt x="503981" y="99356"/>
                  </a:cubicBezTo>
                  <a:lnTo>
                    <a:pt x="464796" y="145940"/>
                  </a:lnTo>
                  <a:cubicBezTo>
                    <a:pt x="461016" y="150543"/>
                    <a:pt x="455484" y="152844"/>
                    <a:pt x="449952" y="152844"/>
                  </a:cubicBezTo>
                  <a:cubicBezTo>
                    <a:pt x="445527" y="152844"/>
                    <a:pt x="441101" y="151371"/>
                    <a:pt x="437505" y="148333"/>
                  </a:cubicBezTo>
                  <a:cubicBezTo>
                    <a:pt x="429299" y="141429"/>
                    <a:pt x="428193" y="129185"/>
                    <a:pt x="435108" y="120991"/>
                  </a:cubicBezTo>
                  <a:lnTo>
                    <a:pt x="474293" y="74408"/>
                  </a:lnTo>
                  <a:cubicBezTo>
                    <a:pt x="477704" y="70311"/>
                    <a:pt x="482476" y="68010"/>
                    <a:pt x="487420" y="67584"/>
                  </a:cubicBezTo>
                  <a:close/>
                  <a:moveTo>
                    <a:pt x="119800" y="67502"/>
                  </a:moveTo>
                  <a:cubicBezTo>
                    <a:pt x="124745" y="67939"/>
                    <a:pt x="129516" y="70265"/>
                    <a:pt x="132927" y="74364"/>
                  </a:cubicBezTo>
                  <a:lnTo>
                    <a:pt x="172112" y="120973"/>
                  </a:lnTo>
                  <a:cubicBezTo>
                    <a:pt x="179027" y="129171"/>
                    <a:pt x="177921" y="141422"/>
                    <a:pt x="169715" y="148331"/>
                  </a:cubicBezTo>
                  <a:cubicBezTo>
                    <a:pt x="166119" y="151370"/>
                    <a:pt x="161694" y="152844"/>
                    <a:pt x="157268" y="152844"/>
                  </a:cubicBezTo>
                  <a:cubicBezTo>
                    <a:pt x="151736" y="152844"/>
                    <a:pt x="146204" y="150449"/>
                    <a:pt x="142332" y="145936"/>
                  </a:cubicBezTo>
                  <a:lnTo>
                    <a:pt x="103239" y="99234"/>
                  </a:lnTo>
                  <a:cubicBezTo>
                    <a:pt x="96324" y="91036"/>
                    <a:pt x="97430" y="78785"/>
                    <a:pt x="105636" y="71969"/>
                  </a:cubicBezTo>
                  <a:cubicBezTo>
                    <a:pt x="109739" y="68515"/>
                    <a:pt x="114856" y="67064"/>
                    <a:pt x="119800" y="67502"/>
                  </a:cubicBezTo>
                  <a:close/>
                  <a:moveTo>
                    <a:pt x="303621" y="0"/>
                  </a:moveTo>
                  <a:cubicBezTo>
                    <a:pt x="314314" y="0"/>
                    <a:pt x="322980" y="8656"/>
                    <a:pt x="322980" y="19338"/>
                  </a:cubicBezTo>
                  <a:lnTo>
                    <a:pt x="322980" y="80207"/>
                  </a:lnTo>
                  <a:cubicBezTo>
                    <a:pt x="322980" y="90982"/>
                    <a:pt x="314314" y="99638"/>
                    <a:pt x="303621" y="99638"/>
                  </a:cubicBezTo>
                  <a:cubicBezTo>
                    <a:pt x="292835" y="99638"/>
                    <a:pt x="284169" y="90982"/>
                    <a:pt x="284169" y="80207"/>
                  </a:cubicBezTo>
                  <a:lnTo>
                    <a:pt x="284169" y="19338"/>
                  </a:lnTo>
                  <a:cubicBezTo>
                    <a:pt x="284169" y="8656"/>
                    <a:pt x="292835" y="0"/>
                    <a:pt x="303621" y="0"/>
                  </a:cubicBezTo>
                  <a:close/>
                </a:path>
              </a:pathLst>
            </a:custGeom>
            <a:solidFill>
              <a:schemeClr val="accent1"/>
            </a:solidFill>
            <a:ln>
              <a:noFill/>
            </a:ln>
          </p:spPr>
        </p:sp>
      </p:grpSp>
      <p:grpSp>
        <p:nvGrpSpPr>
          <p:cNvPr id="5" name="组合 4">
            <a:extLst>
              <a:ext uri="{FF2B5EF4-FFF2-40B4-BE49-F238E27FC236}">
                <a16:creationId xmlns:a16="http://schemas.microsoft.com/office/drawing/2014/main" id="{D89BFAF7-B652-2241-B0BD-264D0CD5F0AF}"/>
              </a:ext>
            </a:extLst>
          </p:cNvPr>
          <p:cNvGrpSpPr/>
          <p:nvPr/>
        </p:nvGrpSpPr>
        <p:grpSpPr>
          <a:xfrm>
            <a:off x="294625" y="2264388"/>
            <a:ext cx="6096000" cy="3007334"/>
            <a:chOff x="246180" y="2536892"/>
            <a:chExt cx="6096000" cy="3007334"/>
          </a:xfrm>
        </p:grpSpPr>
        <p:grpSp>
          <p:nvGrpSpPr>
            <p:cNvPr id="29" name="组合 28"/>
            <p:cNvGrpSpPr/>
            <p:nvPr/>
          </p:nvGrpSpPr>
          <p:grpSpPr>
            <a:xfrm>
              <a:off x="246180" y="3328305"/>
              <a:ext cx="6096000" cy="2215921"/>
              <a:chOff x="1017439" y="2496976"/>
              <a:chExt cx="6096000" cy="1994794"/>
            </a:xfrm>
          </p:grpSpPr>
          <p:sp>
            <p:nvSpPr>
              <p:cNvPr id="3" name="矩形 2"/>
              <p:cNvSpPr/>
              <p:nvPr/>
            </p:nvSpPr>
            <p:spPr>
              <a:xfrm>
                <a:off x="1017439" y="2496976"/>
                <a:ext cx="6096000" cy="1960513"/>
              </a:xfrm>
              <a:prstGeom prst="rect">
                <a:avLst/>
              </a:prstGeom>
            </p:spPr>
            <p:txBody>
              <a:bodyPr wrap="square">
                <a:spAutoFit/>
              </a:bodyPr>
              <a:lstStyle/>
              <a:p>
                <a:pPr>
                  <a:lnSpc>
                    <a:spcPct val="150000"/>
                  </a:lnSpc>
                </a:pPr>
                <a:r>
                  <a:rPr lang="en-US" altLang="zh-CN" sz="4800" dirty="0">
                    <a:solidFill>
                      <a:srgbClr val="C00000"/>
                    </a:solidFill>
                    <a:latin typeface="思源宋体 CN Heavy" panose="02020900000000000000" pitchFamily="18" charset="-122"/>
                    <a:ea typeface="思源宋体 CN Heavy" panose="02020900000000000000" pitchFamily="18" charset="-122"/>
                  </a:rPr>
                  <a:t>4</a:t>
                </a:r>
                <a:r>
                  <a:rPr lang="zh-CN" altLang="zh-CN" sz="4800" dirty="0">
                    <a:solidFill>
                      <a:srgbClr val="C00000"/>
                    </a:solidFill>
                    <a:latin typeface="思源宋体 CN Heavy" panose="02020900000000000000" pitchFamily="18" charset="-122"/>
                    <a:ea typeface="思源宋体 CN Heavy" panose="02020900000000000000" pitchFamily="18" charset="-122"/>
                  </a:rPr>
                  <a:t>万</a:t>
                </a:r>
                <a:r>
                  <a:rPr lang="en-US" altLang="zh-CN" sz="4800" dirty="0">
                    <a:solidFill>
                      <a:srgbClr val="C00000"/>
                    </a:solidFill>
                    <a:latin typeface="思源宋体 CN Heavy" panose="02020900000000000000" pitchFamily="18" charset="-122"/>
                    <a:ea typeface="思源宋体 CN Heavy" panose="02020900000000000000" pitchFamily="18" charset="-122"/>
                  </a:rPr>
                  <a:t> </a:t>
                </a:r>
                <a:r>
                  <a:rPr lang="zh-CN" altLang="zh-CN" sz="2000" dirty="0">
                    <a:latin typeface="思源黑体 CN Light" panose="020B0300000000000000" pitchFamily="34" charset="-122"/>
                    <a:ea typeface="思源黑体 CN Light" panose="020B0300000000000000" pitchFamily="34" charset="-122"/>
                  </a:rPr>
                  <a:t>余名医务人员白衣执甲，</a:t>
                </a:r>
                <a:r>
                  <a:rPr lang="zh-CN" altLang="en-US" sz="2000" dirty="0">
                    <a:ea typeface="思源黑体 CN Light" panose="020B0300000000000000" pitchFamily="34" charset="-122"/>
                  </a:rPr>
                  <a:t>集结一地</a:t>
                </a:r>
                <a:endParaRPr lang="en-US" altLang="zh-CN" sz="2000" dirty="0">
                  <a:ea typeface="思源黑体 CN Light" panose="020B0300000000000000" pitchFamily="34" charset="-122"/>
                </a:endParaRPr>
              </a:p>
              <a:p>
                <a:pPr>
                  <a:lnSpc>
                    <a:spcPct val="150000"/>
                  </a:lnSpc>
                </a:pPr>
                <a:r>
                  <a:rPr lang="en-US" altLang="zh-CN" sz="4800" dirty="0">
                    <a:solidFill>
                      <a:srgbClr val="C00000"/>
                    </a:solidFill>
                    <a:latin typeface="思源宋体 CN Heavy" panose="02020900000000000000" pitchFamily="18" charset="-122"/>
                    <a:ea typeface="思源宋体 CN Heavy" panose="02020900000000000000" pitchFamily="18" charset="-122"/>
                  </a:rPr>
                  <a:t>14</a:t>
                </a:r>
                <a:r>
                  <a:rPr lang="zh-CN" altLang="zh-CN" sz="4800" dirty="0">
                    <a:solidFill>
                      <a:srgbClr val="C00000"/>
                    </a:solidFill>
                    <a:latin typeface="思源宋体 CN Heavy" panose="02020900000000000000" pitchFamily="18" charset="-122"/>
                    <a:ea typeface="思源宋体 CN Heavy" panose="02020900000000000000" pitchFamily="18" charset="-122"/>
                  </a:rPr>
                  <a:t>亿</a:t>
                </a:r>
                <a:r>
                  <a:rPr lang="en-US" altLang="zh-CN" sz="4800" dirty="0">
                    <a:solidFill>
                      <a:srgbClr val="C00000"/>
                    </a:solidFill>
                    <a:latin typeface="思源宋体 CN Heavy" panose="02020900000000000000" pitchFamily="18" charset="-122"/>
                    <a:ea typeface="思源宋体 CN Heavy" panose="02020900000000000000" pitchFamily="18" charset="-122"/>
                  </a:rPr>
                  <a:t> </a:t>
                </a:r>
                <a:r>
                  <a:rPr lang="zh-CN" altLang="zh-CN" sz="2000" dirty="0">
                    <a:latin typeface="思源黑体 CN Light" panose="020B0300000000000000" pitchFamily="34" charset="-122"/>
                    <a:ea typeface="思源黑体 CN Light" panose="020B0300000000000000" pitchFamily="34" charset="-122"/>
                  </a:rPr>
                  <a:t>中国人</a:t>
                </a:r>
                <a:r>
                  <a:rPr lang="zh-CN" altLang="en-US" sz="2000" dirty="0">
                    <a:ea typeface="思源黑体 CN Light" panose="020B0300000000000000" pitchFamily="34" charset="-122"/>
                  </a:rPr>
                  <a:t>统一行动，自行“禁足”</a:t>
                </a:r>
              </a:p>
            </p:txBody>
          </p:sp>
          <p:cxnSp>
            <p:nvCxnSpPr>
              <p:cNvPr id="8" name="直接连接符 7"/>
              <p:cNvCxnSpPr>
                <a:cxnSpLocks/>
              </p:cNvCxnSpPr>
              <p:nvPr/>
            </p:nvCxnSpPr>
            <p:spPr>
              <a:xfrm>
                <a:off x="2164465" y="3552608"/>
                <a:ext cx="380194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529069" y="4491770"/>
                <a:ext cx="33566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4D52D0B3-38C9-21C5-E4C6-2B4E4E1141B0}"/>
                </a:ext>
              </a:extLst>
            </p:cNvPr>
            <p:cNvSpPr txBox="1"/>
            <p:nvPr/>
          </p:nvSpPr>
          <p:spPr>
            <a:xfrm>
              <a:off x="346112" y="2536892"/>
              <a:ext cx="5691513" cy="906915"/>
            </a:xfrm>
            <a:prstGeom prst="rect">
              <a:avLst/>
            </a:prstGeom>
            <a:noFill/>
          </p:spPr>
          <p:txBody>
            <a:bodyPr wrap="square">
              <a:spAutoFit/>
            </a:bodyPr>
            <a:lstStyle/>
            <a:p>
              <a:pPr>
                <a:lnSpc>
                  <a:spcPct val="150000"/>
                </a:lnSpc>
              </a:pPr>
              <a:r>
                <a:rPr lang="zh-CN" altLang="en-US" sz="4000" dirty="0">
                  <a:solidFill>
                    <a:srgbClr val="C00000"/>
                  </a:solidFill>
                  <a:latin typeface="思源宋体 CN Heavy" panose="02020900000000000000" pitchFamily="18" charset="-122"/>
                  <a:ea typeface="思源宋体 CN Heavy" panose="02020900000000000000" pitchFamily="18" charset="-122"/>
                </a:rPr>
                <a:t>千万人口</a:t>
              </a:r>
              <a:r>
                <a:rPr lang="en-US" altLang="zh-CN" sz="4000" dirty="0">
                  <a:solidFill>
                    <a:srgbClr val="C00000"/>
                  </a:solidFill>
                  <a:latin typeface="思源宋体 CN Heavy" panose="02020900000000000000" pitchFamily="18" charset="-122"/>
                  <a:ea typeface="思源宋体 CN Heavy" panose="02020900000000000000" pitchFamily="18" charset="-122"/>
                </a:rPr>
                <a:t> </a:t>
              </a:r>
              <a:r>
                <a:rPr lang="zh-CN" altLang="en-US" dirty="0">
                  <a:ea typeface="思源黑体 CN Light" panose="020B0300000000000000" pitchFamily="34" charset="-122"/>
                </a:rPr>
                <a:t>的城市主动“封城”</a:t>
              </a:r>
              <a:r>
                <a:rPr lang="en-US" altLang="zh-CN" dirty="0">
                  <a:ea typeface="思源黑体 CN Light" panose="020B0300000000000000" pitchFamily="34" charset="-122"/>
                </a:rPr>
                <a:t>·</a:t>
              </a:r>
              <a:endParaRPr lang="zh-CN" altLang="en-US" sz="1800" dirty="0">
                <a:ea typeface="思源黑体 CN Light" panose="020B0300000000000000" pitchFamily="34" charset="-122"/>
              </a:endParaRPr>
            </a:p>
          </p:txBody>
        </p:sp>
      </p:grpSp>
      <p:cxnSp>
        <p:nvCxnSpPr>
          <p:cNvPr id="7" name="直接连接符 6">
            <a:extLst>
              <a:ext uri="{FF2B5EF4-FFF2-40B4-BE49-F238E27FC236}">
                <a16:creationId xmlns:a16="http://schemas.microsoft.com/office/drawing/2014/main" id="{B3BE3CBC-B21B-1219-089A-406DD2DC59BD}"/>
              </a:ext>
            </a:extLst>
          </p:cNvPr>
          <p:cNvCxnSpPr>
            <a:cxnSpLocks/>
          </p:cNvCxnSpPr>
          <p:nvPr/>
        </p:nvCxnSpPr>
        <p:spPr>
          <a:xfrm>
            <a:off x="2636756" y="3126975"/>
            <a:ext cx="222200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57653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2873288-64EC-F0C2-0782-5EE29469E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280" y="1515079"/>
            <a:ext cx="3953478" cy="2578996"/>
          </a:xfrm>
          <a:prstGeom prst="rect">
            <a:avLst/>
          </a:prstGeom>
        </p:spPr>
      </p:pic>
      <p:sp>
        <p:nvSpPr>
          <p:cNvPr id="6" name="文本框 5">
            <a:extLst>
              <a:ext uri="{FF2B5EF4-FFF2-40B4-BE49-F238E27FC236}">
                <a16:creationId xmlns:a16="http://schemas.microsoft.com/office/drawing/2014/main" id="{ED8A7E4C-82F8-A195-029F-13C39EF79E49}"/>
              </a:ext>
            </a:extLst>
          </p:cNvPr>
          <p:cNvSpPr txBox="1"/>
          <p:nvPr/>
        </p:nvSpPr>
        <p:spPr>
          <a:xfrm>
            <a:off x="543287" y="4212714"/>
            <a:ext cx="5730192" cy="369332"/>
          </a:xfrm>
          <a:prstGeom prst="rect">
            <a:avLst/>
          </a:prstGeom>
          <a:noFill/>
        </p:spPr>
        <p:txBody>
          <a:bodyPr wrap="square" rtlCol="0">
            <a:spAutoFit/>
          </a:bodyPr>
          <a:lstStyle/>
          <a:p>
            <a:pPr algn="l"/>
            <a:r>
              <a:rPr lang="zh-CN" altLang="en-US" dirty="0">
                <a:solidFill>
                  <a:srgbClr val="000080"/>
                </a:solidFill>
                <a:latin typeface="仿宋" panose="02010609060101010101" pitchFamily="49" charset="-122"/>
                <a:ea typeface="仿宋" panose="02010609060101010101" pitchFamily="49" charset="-122"/>
              </a:rPr>
              <a:t>二月十七日，刚下飞机的医疗队员列队跑步离开停机坪</a:t>
            </a:r>
          </a:p>
        </p:txBody>
      </p:sp>
      <p:pic>
        <p:nvPicPr>
          <p:cNvPr id="8" name="图片 7">
            <a:extLst>
              <a:ext uri="{FF2B5EF4-FFF2-40B4-BE49-F238E27FC236}">
                <a16:creationId xmlns:a16="http://schemas.microsoft.com/office/drawing/2014/main" id="{15FDAA73-1B54-907D-C48A-38A5E70E7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824" y="2082901"/>
            <a:ext cx="4035706" cy="4028979"/>
          </a:xfrm>
          <a:prstGeom prst="rect">
            <a:avLst/>
          </a:prstGeom>
        </p:spPr>
      </p:pic>
      <p:sp>
        <p:nvSpPr>
          <p:cNvPr id="9" name="文本框 8">
            <a:extLst>
              <a:ext uri="{FF2B5EF4-FFF2-40B4-BE49-F238E27FC236}">
                <a16:creationId xmlns:a16="http://schemas.microsoft.com/office/drawing/2014/main" id="{F2281423-6E9B-7451-E022-8D87AB57A7EA}"/>
              </a:ext>
            </a:extLst>
          </p:cNvPr>
          <p:cNvSpPr txBox="1"/>
          <p:nvPr/>
        </p:nvSpPr>
        <p:spPr>
          <a:xfrm>
            <a:off x="6574934" y="1637819"/>
            <a:ext cx="3849485" cy="369332"/>
          </a:xfrm>
          <a:prstGeom prst="rect">
            <a:avLst/>
          </a:prstGeom>
          <a:noFill/>
        </p:spPr>
        <p:txBody>
          <a:bodyPr wrap="square" rtlCol="0">
            <a:spAutoFit/>
          </a:bodyPr>
          <a:lstStyle/>
          <a:p>
            <a:pPr algn="l"/>
            <a:r>
              <a:rPr lang="zh-CN" altLang="en-US" b="0" i="0" dirty="0">
                <a:solidFill>
                  <a:srgbClr val="000080"/>
                </a:solidFill>
                <a:effectLst/>
                <a:latin typeface="仿宋" panose="02010609060101010101" pitchFamily="49" charset="-122"/>
                <a:ea typeface="仿宋" panose="02010609060101010101" pitchFamily="49" charset="-122"/>
              </a:rPr>
              <a:t>厚重的防护隔离服背后是医者的坚守</a:t>
            </a:r>
            <a:endParaRPr lang="zh-CN" altLang="en-US" dirty="0">
              <a:solidFill>
                <a:schemeClr val="accent1"/>
              </a:solidFill>
              <a:latin typeface="方正小标宋简体" panose="02000000000000000000" pitchFamily="2" charset="-122"/>
              <a:ea typeface="方正小标宋简体" panose="02000000000000000000" pitchFamily="2" charset="-122"/>
            </a:endParaRPr>
          </a:p>
        </p:txBody>
      </p:sp>
    </p:spTree>
    <p:extLst>
      <p:ext uri="{BB962C8B-B14F-4D97-AF65-F5344CB8AC3E}">
        <p14:creationId xmlns:p14="http://schemas.microsoft.com/office/powerpoint/2010/main" val="1219330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874713" y="5762083"/>
            <a:ext cx="10442575" cy="45506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21" name="矩形 20"/>
          <p:cNvSpPr/>
          <p:nvPr/>
        </p:nvSpPr>
        <p:spPr>
          <a:xfrm>
            <a:off x="886924" y="2019196"/>
            <a:ext cx="10442575" cy="792653"/>
          </a:xfrm>
          <a:prstGeom prst="rect">
            <a:avLst/>
          </a:prstGeom>
        </p:spPr>
        <p:txBody>
          <a:bodyPr wrap="square">
            <a:spAutoFit/>
          </a:bodyPr>
          <a:lstStyle/>
          <a:p>
            <a:pPr algn="just">
              <a:lnSpc>
                <a:spcPct val="150000"/>
              </a:lnSpc>
            </a:pPr>
            <a:r>
              <a:rPr lang="zh-CN" altLang="zh-CN" sz="1600" dirty="0">
                <a:latin typeface="思源黑体 CN Light" panose="020B0300000000000000" pitchFamily="34" charset="-122"/>
                <a:ea typeface="思源黑体 CN Light" panose="020B0300000000000000" pitchFamily="34" charset="-122"/>
              </a:rPr>
              <a:t>在这场波澜壮阔的抗疫斗争中，</a:t>
            </a:r>
            <a:r>
              <a:rPr lang="zh-CN" altLang="en-US" sz="1600" dirty="0">
                <a:latin typeface="思源黑体 CN Light" panose="020B0300000000000000" pitchFamily="34" charset="-122"/>
                <a:ea typeface="思源黑体 CN Light" panose="020B0300000000000000" pitchFamily="34" charset="-122"/>
              </a:rPr>
              <a:t>陕领导</a:t>
            </a:r>
            <a:r>
              <a:rPr lang="zh-CN" altLang="zh-CN" sz="1600" dirty="0">
                <a:latin typeface="思源黑体 CN Light" panose="020B0300000000000000" pitchFamily="34" charset="-122"/>
                <a:ea typeface="思源黑体 CN Light" panose="020B0300000000000000" pitchFamily="34" charset="-122"/>
              </a:rPr>
              <a:t>亲自指挥，亲自部署，提出“坚定信心、同舟共济、科学防治、精准施策”的总要求，明确“坚决遏制疫情蔓延势头、坚决打赢疫情防控阻击战”的总目标，因时因势调整防控策略。</a:t>
            </a:r>
          </a:p>
        </p:txBody>
      </p:sp>
      <p:grpSp>
        <p:nvGrpSpPr>
          <p:cNvPr id="27" name="组合 26"/>
          <p:cNvGrpSpPr/>
          <p:nvPr/>
        </p:nvGrpSpPr>
        <p:grpSpPr>
          <a:xfrm>
            <a:off x="911225" y="1472184"/>
            <a:ext cx="3142615" cy="448056"/>
            <a:chOff x="911225" y="1618488"/>
            <a:chExt cx="3142615" cy="448056"/>
          </a:xfrm>
        </p:grpSpPr>
        <p:sp>
          <p:nvSpPr>
            <p:cNvPr id="23" name="圆角矩形 22"/>
            <p:cNvSpPr/>
            <p:nvPr/>
          </p:nvSpPr>
          <p:spPr>
            <a:xfrm>
              <a:off x="911225" y="1618488"/>
              <a:ext cx="3142615" cy="448056"/>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26" name="文本框 25"/>
            <p:cNvSpPr txBox="1"/>
            <p:nvPr/>
          </p:nvSpPr>
          <p:spPr>
            <a:xfrm>
              <a:off x="975056" y="1658973"/>
              <a:ext cx="3014952" cy="400110"/>
            </a:xfrm>
            <a:prstGeom prst="rect">
              <a:avLst/>
            </a:prstGeom>
            <a:noFill/>
          </p:spPr>
          <p:txBody>
            <a:bodyPr wrap="square" rtlCol="0">
              <a:spAutoFit/>
            </a:bodyPr>
            <a:lstStyle/>
            <a:p>
              <a:r>
                <a:rPr lang="zh-CN" altLang="zh-CN" sz="2000" dirty="0">
                  <a:solidFill>
                    <a:schemeClr val="bg1"/>
                  </a:solidFill>
                  <a:latin typeface="思源宋体 CN Heavy" panose="02020900000000000000" pitchFamily="18" charset="-122"/>
                  <a:ea typeface="思源宋体 CN Heavy" panose="02020900000000000000" pitchFamily="18" charset="-122"/>
                </a:rPr>
                <a:t>跨越冬与春，经历死与生</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grpSp>
        <p:nvGrpSpPr>
          <p:cNvPr id="4" name="组合 3"/>
          <p:cNvGrpSpPr/>
          <p:nvPr/>
        </p:nvGrpSpPr>
        <p:grpSpPr>
          <a:xfrm>
            <a:off x="911225" y="3000986"/>
            <a:ext cx="5081013" cy="2606040"/>
            <a:chOff x="911225" y="3429000"/>
            <a:chExt cx="5081013" cy="2606040"/>
          </a:xfrm>
        </p:grpSpPr>
        <p:sp>
          <p:nvSpPr>
            <p:cNvPr id="2" name="矩形 1"/>
            <p:cNvSpPr/>
            <p:nvPr/>
          </p:nvSpPr>
          <p:spPr>
            <a:xfrm>
              <a:off x="1049820" y="3464907"/>
              <a:ext cx="4806231" cy="2554545"/>
            </a:xfrm>
            <a:prstGeom prst="rect">
              <a:avLst/>
            </a:prstGeom>
          </p:spPr>
          <p:txBody>
            <a:bodyPr wrap="square">
              <a:spAutoFit/>
            </a:bodyPr>
            <a:lstStyle/>
            <a:p>
              <a:pPr algn="just">
                <a:lnSpc>
                  <a:spcPts val="3150"/>
                </a:lnSpc>
                <a:spcBef>
                  <a:spcPts val="1500"/>
                </a:spcBef>
                <a:spcAft>
                  <a:spcPts val="0"/>
                </a:spcAft>
              </a:pPr>
              <a:r>
                <a:rPr lang="zh-CN" altLang="zh-CN" sz="1600" dirty="0">
                  <a:solidFill>
                    <a:srgbClr val="333333"/>
                  </a:solidFill>
                  <a:latin typeface="思源黑体 CN Light" panose="020B0300000000000000" pitchFamily="34" charset="-122"/>
                  <a:ea typeface="思源黑体 CN Light" panose="020B0300000000000000" pitchFamily="34" charset="-122"/>
                  <a:cs typeface="微软雅黑" panose="020B0503020204020204" pitchFamily="34" charset="-122"/>
                </a:rPr>
                <a:t>始终把人民生命安全和身体健康放在第一位——在以</a:t>
              </a:r>
              <a:r>
                <a:rPr lang="zh-CN" altLang="en-US" sz="1600" dirty="0">
                  <a:solidFill>
                    <a:srgbClr val="333333"/>
                  </a:solidFill>
                  <a:latin typeface="思源黑体 CN Light" panose="020B0300000000000000" pitchFamily="34" charset="-122"/>
                  <a:ea typeface="思源黑体 CN Light" panose="020B0300000000000000" pitchFamily="34" charset="-122"/>
                  <a:cs typeface="微软雅黑" panose="020B0503020204020204" pitchFamily="34" charset="-122"/>
                </a:rPr>
                <a:t>陕领导</a:t>
              </a:r>
              <a:r>
                <a:rPr lang="zh-CN" altLang="zh-CN" sz="1600" dirty="0">
                  <a:solidFill>
                    <a:srgbClr val="333333"/>
                  </a:solidFill>
                  <a:latin typeface="思源黑体 CN Light" panose="020B0300000000000000" pitchFamily="34" charset="-122"/>
                  <a:ea typeface="思源黑体 CN Light" panose="020B0300000000000000" pitchFamily="34" charset="-122"/>
                  <a:cs typeface="微软雅黑" panose="020B0503020204020204" pitchFamily="34" charset="-122"/>
                </a:rPr>
                <a:t>为核心的党中央坚强领导下，中国以坚决果断的勇气和决心，采取前所未有科学精准的防控策略和措施，经过艰苦卓绝努力，疫情防控阻击战取得重大战略成果，统筹推进疫情防控和经济社会发展工作取得积极成效。</a:t>
              </a:r>
              <a:endParaRPr lang="zh-CN" altLang="zh-CN" sz="1400" dirty="0">
                <a:effectLst/>
                <a:latin typeface="思源黑体 CN Light" panose="020B0300000000000000" pitchFamily="34" charset="-122"/>
                <a:ea typeface="思源黑体 CN Light" panose="020B0300000000000000" pitchFamily="34" charset="-122"/>
                <a:cs typeface="宋体" panose="02010600030101010101" pitchFamily="2" charset="-122"/>
              </a:endParaRPr>
            </a:p>
          </p:txBody>
        </p:sp>
        <p:sp>
          <p:nvSpPr>
            <p:cNvPr id="3" name="圆角矩形 2"/>
            <p:cNvSpPr/>
            <p:nvPr/>
          </p:nvSpPr>
          <p:spPr>
            <a:xfrm>
              <a:off x="911225" y="3429000"/>
              <a:ext cx="5081013" cy="2606040"/>
            </a:xfrm>
            <a:prstGeom prst="roundRect">
              <a:avLst>
                <a:gd name="adj" fmla="val 7700"/>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grpSp>
      <p:grpSp>
        <p:nvGrpSpPr>
          <p:cNvPr id="19" name="组合 18"/>
          <p:cNvGrpSpPr/>
          <p:nvPr/>
        </p:nvGrpSpPr>
        <p:grpSpPr>
          <a:xfrm>
            <a:off x="6364007" y="3009316"/>
            <a:ext cx="6096000" cy="2461123"/>
            <a:chOff x="1151424" y="3239142"/>
            <a:chExt cx="6096000" cy="2461123"/>
          </a:xfrm>
        </p:grpSpPr>
        <p:sp>
          <p:nvSpPr>
            <p:cNvPr id="20" name="矩形 19"/>
            <p:cNvSpPr/>
            <p:nvPr/>
          </p:nvSpPr>
          <p:spPr>
            <a:xfrm>
              <a:off x="1151424" y="3239142"/>
              <a:ext cx="6096000" cy="2461123"/>
            </a:xfrm>
            <a:prstGeom prst="rect">
              <a:avLst/>
            </a:prstGeom>
          </p:spPr>
          <p:txBody>
            <a:bodyPr wrap="square">
              <a:spAutoFit/>
            </a:bodyPr>
            <a:lstStyle/>
            <a:p>
              <a:pPr>
                <a:lnSpc>
                  <a:spcPts val="6300"/>
                </a:lnSpc>
              </a:pPr>
              <a:r>
                <a:rPr lang="en-US" altLang="zh-CN" sz="4800" dirty="0">
                  <a:solidFill>
                    <a:srgbClr val="C00000"/>
                  </a:solidFill>
                  <a:latin typeface="思源宋体 CN Heavy" panose="02020900000000000000" pitchFamily="18" charset="-122"/>
                  <a:ea typeface="思源宋体 CN Heavy" panose="02020900000000000000" pitchFamily="18" charset="-122"/>
                </a:rPr>
                <a:t>1 </a:t>
              </a:r>
              <a:r>
                <a:rPr lang="zh-CN" altLang="en-US" sz="2000" dirty="0">
                  <a:latin typeface="思源黑体 CN Light" panose="020B0300000000000000" pitchFamily="34" charset="-122"/>
                  <a:ea typeface="思源黑体 CN Light" panose="020B0300000000000000" pitchFamily="34" charset="-122"/>
                </a:rPr>
                <a:t>个多月初步遏制疫情蔓延</a:t>
              </a:r>
              <a:endParaRPr lang="en-US" altLang="zh-CN" sz="2000" dirty="0">
                <a:latin typeface="思源黑体 CN Light" panose="020B0300000000000000" pitchFamily="34" charset="-122"/>
                <a:ea typeface="思源黑体 CN Light" panose="020B0300000000000000" pitchFamily="34" charset="-122"/>
              </a:endParaRPr>
            </a:p>
            <a:p>
              <a:pPr>
                <a:lnSpc>
                  <a:spcPts val="6300"/>
                </a:lnSpc>
              </a:pPr>
              <a:r>
                <a:rPr lang="en-US" altLang="zh-CN" sz="4800" dirty="0">
                  <a:solidFill>
                    <a:srgbClr val="C00000"/>
                  </a:solidFill>
                  <a:latin typeface="思源宋体 CN Heavy" panose="02020900000000000000" pitchFamily="18" charset="-122"/>
                  <a:ea typeface="思源宋体 CN Heavy" panose="02020900000000000000" pitchFamily="18" charset="-122"/>
                </a:rPr>
                <a:t>2 </a:t>
              </a:r>
              <a:r>
                <a:rPr lang="zh-CN" altLang="en-US" sz="2000" dirty="0">
                  <a:latin typeface="思源黑体 CN Light" panose="020B0300000000000000" pitchFamily="34" charset="-122"/>
                  <a:ea typeface="思源黑体 CN Light" panose="020B0300000000000000" pitchFamily="34" charset="-122"/>
                </a:rPr>
                <a:t>个月左右将本土新增病例控制在个位数</a:t>
              </a:r>
              <a:endParaRPr lang="en-US" altLang="zh-CN" sz="2000" dirty="0">
                <a:latin typeface="思源黑体 CN Light" panose="020B0300000000000000" pitchFamily="34" charset="-122"/>
                <a:ea typeface="思源黑体 CN Light" panose="020B0300000000000000" pitchFamily="34" charset="-122"/>
              </a:endParaRPr>
            </a:p>
            <a:p>
              <a:pPr>
                <a:lnSpc>
                  <a:spcPts val="6300"/>
                </a:lnSpc>
              </a:pPr>
              <a:r>
                <a:rPr lang="en-US" altLang="zh-CN" sz="4800" dirty="0">
                  <a:solidFill>
                    <a:srgbClr val="C00000"/>
                  </a:solidFill>
                  <a:latin typeface="思源宋体 CN Heavy" panose="02020900000000000000" pitchFamily="18" charset="-122"/>
                  <a:ea typeface="思源宋体 CN Heavy" panose="02020900000000000000" pitchFamily="18" charset="-122"/>
                </a:rPr>
                <a:t>3 </a:t>
              </a:r>
              <a:r>
                <a:rPr lang="zh-CN" altLang="en-US" sz="2000" dirty="0">
                  <a:latin typeface="思源黑体 CN Light" panose="020B0300000000000000" pitchFamily="34" charset="-122"/>
                  <a:ea typeface="思源黑体 CN Light" panose="020B0300000000000000" pitchFamily="34" charset="-122"/>
                </a:rPr>
                <a:t>个月左右取得武汉湖北保卫战</a:t>
              </a:r>
            </a:p>
          </p:txBody>
        </p:sp>
        <p:cxnSp>
          <p:nvCxnSpPr>
            <p:cNvPr id="22" name="直接连接符 21"/>
            <p:cNvCxnSpPr/>
            <p:nvPr/>
          </p:nvCxnSpPr>
          <p:spPr>
            <a:xfrm>
              <a:off x="1626223" y="4000103"/>
              <a:ext cx="304146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626223" y="4790260"/>
              <a:ext cx="437538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626223" y="5595033"/>
              <a:ext cx="437538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864354" y="5713443"/>
            <a:ext cx="10479087" cy="455061"/>
          </a:xfrm>
          <a:prstGeom prst="rect">
            <a:avLst/>
          </a:prstGeom>
        </p:spPr>
        <p:txBody>
          <a:bodyPr wrap="square">
            <a:spAutoFit/>
          </a:bodyPr>
          <a:lstStyle/>
          <a:p>
            <a:pPr algn="ctr">
              <a:lnSpc>
                <a:spcPts val="3150"/>
              </a:lnSpc>
              <a:spcBef>
                <a:spcPts val="1500"/>
              </a:spcBef>
              <a:spcAft>
                <a:spcPts val="0"/>
              </a:spcAft>
            </a:pPr>
            <a:r>
              <a:rPr lang="zh-CN" altLang="zh-CN" dirty="0">
                <a:solidFill>
                  <a:schemeClr val="bg1"/>
                </a:solidFill>
                <a:latin typeface="思源宋体 CN Heavy" panose="02020900000000000000" pitchFamily="18" charset="-122"/>
                <a:ea typeface="思源宋体 CN Heavy" panose="02020900000000000000" pitchFamily="18" charset="-122"/>
                <a:cs typeface="微软雅黑" panose="020B0503020204020204" pitchFamily="34" charset="-122"/>
              </a:rPr>
              <a:t>中国人民挺过来了！</a:t>
            </a:r>
            <a:endParaRPr lang="zh-CN" altLang="zh-CN" sz="1600" dirty="0">
              <a:solidFill>
                <a:schemeClr val="bg1"/>
              </a:solidFill>
              <a:effectLst/>
              <a:latin typeface="思源宋体 CN Heavy" panose="02020900000000000000" pitchFamily="18" charset="-122"/>
              <a:ea typeface="思源宋体 CN Heavy" panose="02020900000000000000" pitchFamily="18" charset="-122"/>
              <a:cs typeface="宋体" panose="02010600030101010101" pitchFamily="2" charset="-122"/>
            </a:endParaRPr>
          </a:p>
        </p:txBody>
      </p:sp>
    </p:spTree>
    <p:extLst>
      <p:ext uri="{BB962C8B-B14F-4D97-AF65-F5344CB8AC3E}">
        <p14:creationId xmlns:p14="http://schemas.microsoft.com/office/powerpoint/2010/main" val="1421090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形状 34">
            <a:extLst>
              <a:ext uri="{FF2B5EF4-FFF2-40B4-BE49-F238E27FC236}">
                <a16:creationId xmlns:a16="http://schemas.microsoft.com/office/drawing/2014/main" id="{E1CF0FAA-FEBE-4051-AA38-944FE074D253}"/>
              </a:ext>
            </a:extLst>
          </p:cNvPr>
          <p:cNvSpPr/>
          <p:nvPr/>
        </p:nvSpPr>
        <p:spPr>
          <a:xfrm>
            <a:off x="0" y="2002283"/>
            <a:ext cx="4773307" cy="4855717"/>
          </a:xfrm>
          <a:custGeom>
            <a:avLst/>
            <a:gdLst>
              <a:gd name="connsiteX0" fmla="*/ 2032250 w 4773307"/>
              <a:gd name="connsiteY0" fmla="*/ 0 h 4855717"/>
              <a:gd name="connsiteX1" fmla="*/ 4773307 w 4773307"/>
              <a:gd name="connsiteY1" fmla="*/ 2741057 h 4855717"/>
              <a:gd name="connsiteX2" fmla="*/ 3970470 w 4773307"/>
              <a:gd name="connsiteY2" fmla="*/ 4679277 h 4855717"/>
              <a:gd name="connsiteX3" fmla="*/ 3776337 w 4773307"/>
              <a:gd name="connsiteY3" fmla="*/ 4855717 h 4855717"/>
              <a:gd name="connsiteX4" fmla="*/ 288163 w 4773307"/>
              <a:gd name="connsiteY4" fmla="*/ 4855717 h 4855717"/>
              <a:gd name="connsiteX5" fmla="*/ 94030 w 4773307"/>
              <a:gd name="connsiteY5" fmla="*/ 4679277 h 4855717"/>
              <a:gd name="connsiteX6" fmla="*/ 0 w 4773307"/>
              <a:gd name="connsiteY6" fmla="*/ 4575818 h 4855717"/>
              <a:gd name="connsiteX7" fmla="*/ 0 w 4773307"/>
              <a:gd name="connsiteY7" fmla="*/ 906296 h 4855717"/>
              <a:gd name="connsiteX8" fmla="*/ 94030 w 4773307"/>
              <a:gd name="connsiteY8" fmla="*/ 802837 h 4855717"/>
              <a:gd name="connsiteX9" fmla="*/ 2032250 w 4773307"/>
              <a:gd name="connsiteY9" fmla="*/ 0 h 485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73307" h="4855717">
                <a:moveTo>
                  <a:pt x="2032250" y="0"/>
                </a:moveTo>
                <a:cubicBezTo>
                  <a:pt x="3546094" y="0"/>
                  <a:pt x="4773307" y="1227213"/>
                  <a:pt x="4773307" y="2741057"/>
                </a:cubicBezTo>
                <a:cubicBezTo>
                  <a:pt x="4773307" y="3497979"/>
                  <a:pt x="4466504" y="4183244"/>
                  <a:pt x="3970470" y="4679277"/>
                </a:cubicBezTo>
                <a:lnTo>
                  <a:pt x="3776337" y="4855717"/>
                </a:lnTo>
                <a:lnTo>
                  <a:pt x="288163" y="4855717"/>
                </a:lnTo>
                <a:lnTo>
                  <a:pt x="94030" y="4679277"/>
                </a:lnTo>
                <a:lnTo>
                  <a:pt x="0" y="4575818"/>
                </a:lnTo>
                <a:lnTo>
                  <a:pt x="0" y="906296"/>
                </a:lnTo>
                <a:lnTo>
                  <a:pt x="94030" y="802837"/>
                </a:lnTo>
                <a:cubicBezTo>
                  <a:pt x="590064" y="306803"/>
                  <a:pt x="1275328" y="0"/>
                  <a:pt x="2032250" y="0"/>
                </a:cubicBezTo>
                <a:close/>
              </a:path>
            </a:pathLst>
          </a:custGeom>
          <a:gradFill flip="none" rotWithShape="1">
            <a:gsLst>
              <a:gs pos="0">
                <a:schemeClr val="accent1">
                  <a:alpha val="0"/>
                </a:schemeClr>
              </a:gs>
              <a:gs pos="100000">
                <a:schemeClr val="accent1">
                  <a:lumMod val="75000"/>
                  <a:alpha val="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8" name="椭圆 27">
            <a:extLst>
              <a:ext uri="{FF2B5EF4-FFF2-40B4-BE49-F238E27FC236}">
                <a16:creationId xmlns:a16="http://schemas.microsoft.com/office/drawing/2014/main" id="{6003490C-FC56-45A1-8BE6-E358ACBA31CC}"/>
              </a:ext>
            </a:extLst>
          </p:cNvPr>
          <p:cNvSpPr/>
          <p:nvPr/>
        </p:nvSpPr>
        <p:spPr>
          <a:xfrm>
            <a:off x="10159746" y="4376529"/>
            <a:ext cx="1331822" cy="1331822"/>
          </a:xfrm>
          <a:prstGeom prst="ellipse">
            <a:avLst/>
          </a:prstGeom>
          <a:gradFill flip="none" rotWithShape="1">
            <a:gsLst>
              <a:gs pos="0">
                <a:schemeClr val="accent1">
                  <a:alpha val="0"/>
                </a:schemeClr>
              </a:gs>
              <a:gs pos="100000">
                <a:schemeClr val="accent1">
                  <a:lumMod val="75000"/>
                  <a:alpha val="1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grpSp>
        <p:nvGrpSpPr>
          <p:cNvPr id="23" name="组合 22">
            <a:extLst>
              <a:ext uri="{FF2B5EF4-FFF2-40B4-BE49-F238E27FC236}">
                <a16:creationId xmlns:a16="http://schemas.microsoft.com/office/drawing/2014/main" id="{F500E9BA-711B-489F-B81B-D5CA30815048}"/>
              </a:ext>
            </a:extLst>
          </p:cNvPr>
          <p:cNvGrpSpPr/>
          <p:nvPr/>
        </p:nvGrpSpPr>
        <p:grpSpPr>
          <a:xfrm>
            <a:off x="3697117" y="549769"/>
            <a:ext cx="4797765" cy="2652694"/>
            <a:chOff x="-311956" y="-548972"/>
            <a:chExt cx="4797765" cy="2652694"/>
          </a:xfrm>
        </p:grpSpPr>
        <p:sp>
          <p:nvSpPr>
            <p:cNvPr id="24" name="文本框 23">
              <a:extLst>
                <a:ext uri="{FF2B5EF4-FFF2-40B4-BE49-F238E27FC236}">
                  <a16:creationId xmlns:a16="http://schemas.microsoft.com/office/drawing/2014/main" id="{B54E7E8E-9623-4326-8541-99F04184ADE8}"/>
                </a:ext>
              </a:extLst>
            </p:cNvPr>
            <p:cNvSpPr txBox="1"/>
            <p:nvPr/>
          </p:nvSpPr>
          <p:spPr>
            <a:xfrm>
              <a:off x="1189083" y="-548972"/>
              <a:ext cx="1715534" cy="1991123"/>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en-US" altLang="zh-CN" sz="11500" dirty="0">
                  <a:gradFill flip="none" rotWithShape="1">
                    <a:gsLst>
                      <a:gs pos="0">
                        <a:schemeClr val="accent4">
                          <a:lumMod val="20000"/>
                          <a:lumOff val="80000"/>
                        </a:schemeClr>
                      </a:gs>
                      <a:gs pos="100000">
                        <a:schemeClr val="accent4">
                          <a:lumMod val="20000"/>
                          <a:lumOff val="80000"/>
                          <a:alpha val="0"/>
                        </a:schemeClr>
                      </a:gs>
                    </a:gsLst>
                    <a:lin ang="5400000" scaled="1"/>
                    <a:tileRect/>
                  </a:gradFill>
                  <a:latin typeface="Impact" panose="020B0806030902050204" pitchFamily="34" charset="0"/>
                  <a:ea typeface="思源宋体 CN Heavy" panose="02020900000000000000" pitchFamily="18" charset="-122"/>
                </a:rPr>
                <a:t>02</a:t>
              </a:r>
              <a:endParaRPr lang="zh-CN" altLang="en-US" sz="11500" dirty="0">
                <a:gradFill flip="none" rotWithShape="1">
                  <a:gsLst>
                    <a:gs pos="0">
                      <a:schemeClr val="accent4">
                        <a:lumMod val="20000"/>
                        <a:lumOff val="80000"/>
                      </a:schemeClr>
                    </a:gs>
                    <a:gs pos="100000">
                      <a:schemeClr val="accent4">
                        <a:lumMod val="20000"/>
                        <a:lumOff val="80000"/>
                        <a:alpha val="0"/>
                      </a:schemeClr>
                    </a:gs>
                  </a:gsLst>
                  <a:lin ang="5400000" scaled="1"/>
                  <a:tileRect/>
                </a:gradFill>
                <a:latin typeface="Impact" panose="020B0806030902050204" pitchFamily="34" charset="0"/>
                <a:ea typeface="思源宋体 CN Heavy" panose="02020900000000000000" pitchFamily="18" charset="-122"/>
              </a:endParaRPr>
            </a:p>
          </p:txBody>
        </p:sp>
        <p:sp>
          <p:nvSpPr>
            <p:cNvPr id="25" name="文本框 24">
              <a:extLst>
                <a:ext uri="{FF2B5EF4-FFF2-40B4-BE49-F238E27FC236}">
                  <a16:creationId xmlns:a16="http://schemas.microsoft.com/office/drawing/2014/main" id="{76FA47C7-8EDB-48DF-9BED-2F9DA60A24EA}"/>
                </a:ext>
              </a:extLst>
            </p:cNvPr>
            <p:cNvSpPr txBox="1"/>
            <p:nvPr/>
          </p:nvSpPr>
          <p:spPr>
            <a:xfrm>
              <a:off x="-311956" y="480072"/>
              <a:ext cx="4797765" cy="1623650"/>
            </a:xfrm>
            <a:prstGeom prst="rect">
              <a:avLst/>
            </a:prstGeom>
            <a:noFill/>
          </p:spPr>
          <p:txBody>
            <a:bodyPr wrap="square" rtlCol="0">
              <a:spAutoFit/>
            </a:bodyPr>
            <a:lstStyle/>
            <a:p>
              <a:pPr algn="ctr">
                <a:lnSpc>
                  <a:spcPct val="120000"/>
                </a:lnSpc>
              </a:pPr>
              <a:r>
                <a:rPr lang="zh-CN" altLang="en-US" sz="8800" dirty="0">
                  <a:solidFill>
                    <a:schemeClr val="accent1"/>
                  </a:solidFill>
                  <a:latin typeface="优设标题黑" panose="00000500000000000000" pitchFamily="2" charset="-122"/>
                  <a:ea typeface="优设标题黑" panose="00000500000000000000" pitchFamily="2" charset="-122"/>
                </a:rPr>
                <a:t>第二部分</a:t>
              </a:r>
            </a:p>
          </p:txBody>
        </p:sp>
      </p:grpSp>
      <p:sp>
        <p:nvSpPr>
          <p:cNvPr id="27" name="文本框 26">
            <a:extLst>
              <a:ext uri="{FF2B5EF4-FFF2-40B4-BE49-F238E27FC236}">
                <a16:creationId xmlns:a16="http://schemas.microsoft.com/office/drawing/2014/main" id="{AE9F1F9C-B624-40FC-8695-1BD1E6810153}"/>
              </a:ext>
            </a:extLst>
          </p:cNvPr>
          <p:cNvSpPr txBox="1"/>
          <p:nvPr/>
        </p:nvSpPr>
        <p:spPr>
          <a:xfrm>
            <a:off x="1285461" y="3208738"/>
            <a:ext cx="9621074" cy="1172629"/>
          </a:xfrm>
          <a:prstGeom prst="rect">
            <a:avLst/>
          </a:prstGeom>
          <a:noFill/>
        </p:spPr>
        <p:txBody>
          <a:bodyPr wrap="square" rtlCol="0">
            <a:spAutoFit/>
          </a:bodyPr>
          <a:lstStyle/>
          <a:p>
            <a:pPr algn="ctr">
              <a:lnSpc>
                <a:spcPct val="130000"/>
              </a:lnSpc>
            </a:pPr>
            <a:r>
              <a:rPr lang="zh-CN" altLang="en-US" sz="5400" b="1" dirty="0">
                <a:solidFill>
                  <a:schemeClr val="bg2">
                    <a:lumMod val="25000"/>
                  </a:schemeClr>
                </a:solidFill>
                <a:latin typeface="思源宋体 CN Heavy" panose="02020900000000000000" pitchFamily="18" charset="-122"/>
                <a:ea typeface="思源宋体 CN Heavy" panose="02020900000000000000" pitchFamily="18" charset="-122"/>
              </a:rPr>
              <a:t>伟大抗疫精神解析</a:t>
            </a:r>
          </a:p>
        </p:txBody>
      </p:sp>
    </p:spTree>
    <p:extLst>
      <p:ext uri="{BB962C8B-B14F-4D97-AF65-F5344CB8AC3E}">
        <p14:creationId xmlns:p14="http://schemas.microsoft.com/office/powerpoint/2010/main" val="3254436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74713" y="2755763"/>
            <a:ext cx="10442575" cy="3411573"/>
            <a:chOff x="179769" y="2440203"/>
            <a:chExt cx="10442575" cy="3411573"/>
          </a:xfrm>
        </p:grpSpPr>
        <p:sp>
          <p:nvSpPr>
            <p:cNvPr id="11" name="文本框 10"/>
            <p:cNvSpPr txBox="1"/>
            <p:nvPr/>
          </p:nvSpPr>
          <p:spPr>
            <a:xfrm>
              <a:off x="1542418" y="2666075"/>
              <a:ext cx="9079926" cy="2264851"/>
            </a:xfrm>
            <a:prstGeom prst="rect">
              <a:avLst/>
            </a:prstGeom>
            <a:noFill/>
          </p:spPr>
          <p:txBody>
            <a:bodyPr wrap="square" rtlCol="0">
              <a:spAutoFit/>
            </a:bodyPr>
            <a:lstStyle/>
            <a:p>
              <a:pPr algn="just">
                <a:lnSpc>
                  <a:spcPct val="150000"/>
                </a:lnSpc>
              </a:pPr>
              <a:r>
                <a:rPr lang="zh-CN" altLang="zh-CN" sz="1600" dirty="0">
                  <a:latin typeface="思源黑体 CN Light" panose="020B0300000000000000" pitchFamily="34" charset="-122"/>
                  <a:ea typeface="思源黑体 CN Light" panose="020B0300000000000000" pitchFamily="34" charset="-122"/>
                </a:rPr>
                <a:t>疫情无情人有情。人的生命是最宝贵的，生命只有一次，失去不会再来。在保护人民生命安全面前，我们必须不惜一切代价，我们也能够做到不惜一切代价，因为中国共产党的根本宗旨是全心全意为人民服务，我们的国家是人民当家作主的社会主义国家。我们果断关闭离汉离鄂通道，实施史无前例的严格管控。作出这一决策，需要巨大的政治勇气，需要果敢的历史担当。为了保护人民生命安全，什么都可以豁得出来！这是中国共产党执政为民理念的最好诠释！这是中华文明人命关天的道德观念的最好体现！这也是中国人民敬仰生命的人文精神的最好印证！</a:t>
              </a:r>
            </a:p>
          </p:txBody>
        </p:sp>
        <p:sp>
          <p:nvSpPr>
            <p:cNvPr id="13" name="圆角矩形 12"/>
            <p:cNvSpPr/>
            <p:nvPr/>
          </p:nvSpPr>
          <p:spPr>
            <a:xfrm>
              <a:off x="179769" y="2440203"/>
              <a:ext cx="10442575" cy="3411573"/>
            </a:xfrm>
            <a:prstGeom prst="roundRect">
              <a:avLst>
                <a:gd name="adj" fmla="val 6129"/>
              </a:avLst>
            </a:prstGeom>
            <a:noFill/>
            <a:ln w="19050">
              <a:solidFill>
                <a:srgbClr val="C4190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grpSp>
      <p:sp>
        <p:nvSpPr>
          <p:cNvPr id="2" name="矩形 1"/>
          <p:cNvSpPr/>
          <p:nvPr/>
        </p:nvSpPr>
        <p:spPr>
          <a:xfrm>
            <a:off x="840242" y="1201904"/>
            <a:ext cx="10477046" cy="874407"/>
          </a:xfrm>
          <a:prstGeom prst="rect">
            <a:avLst/>
          </a:prstGeom>
        </p:spPr>
        <p:txBody>
          <a:bodyPr wrap="square">
            <a:spAutoFit/>
          </a:bodyPr>
          <a:lstStyle/>
          <a:p>
            <a:pPr>
              <a:lnSpc>
                <a:spcPct val="150000"/>
              </a:lnSpc>
            </a:pPr>
            <a:r>
              <a:rPr lang="zh-CN" altLang="zh-CN" dirty="0">
                <a:solidFill>
                  <a:srgbClr val="C00000"/>
                </a:solidFill>
                <a:latin typeface="思源宋体 CN Heavy" panose="02020900000000000000" pitchFamily="18" charset="-122"/>
                <a:ea typeface="思源宋体 CN Heavy" panose="02020900000000000000" pitchFamily="18" charset="-122"/>
              </a:rPr>
              <a:t>在这场同严重疫情的殊死较量中，中国人民和中华民族以敢于斗争、敢于胜利的大无畏气概，铸就了生命至上、举国同心、舍生忘死、尊重科学、命运与共的伟大抗疫精神。</a:t>
            </a:r>
          </a:p>
        </p:txBody>
      </p:sp>
      <p:pic>
        <p:nvPicPr>
          <p:cNvPr id="24" name="图片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23" name="组合 22"/>
          <p:cNvGrpSpPr/>
          <p:nvPr/>
        </p:nvGrpSpPr>
        <p:grpSpPr>
          <a:xfrm>
            <a:off x="874713" y="2134282"/>
            <a:ext cx="10442575" cy="448056"/>
            <a:chOff x="911225" y="1618488"/>
            <a:chExt cx="4380813" cy="448056"/>
          </a:xfrm>
        </p:grpSpPr>
        <p:sp>
          <p:nvSpPr>
            <p:cNvPr id="25" name="圆角矩形 24"/>
            <p:cNvSpPr/>
            <p:nvPr/>
          </p:nvSpPr>
          <p:spPr>
            <a:xfrm>
              <a:off x="911225" y="1618488"/>
              <a:ext cx="4380813" cy="448056"/>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26" name="文本框 25"/>
            <p:cNvSpPr txBox="1"/>
            <p:nvPr/>
          </p:nvSpPr>
          <p:spPr>
            <a:xfrm>
              <a:off x="1179101" y="1650985"/>
              <a:ext cx="3972500" cy="369332"/>
            </a:xfrm>
            <a:prstGeom prst="rect">
              <a:avLst/>
            </a:prstGeom>
            <a:noFill/>
          </p:spPr>
          <p:txBody>
            <a:bodyPr wrap="square" rtlCol="0">
              <a:spAutoFit/>
            </a:bodyPr>
            <a:lstStyle/>
            <a:p>
              <a:r>
                <a:rPr lang="zh-CN" altLang="zh-CN" dirty="0">
                  <a:solidFill>
                    <a:schemeClr val="bg1"/>
                  </a:solidFill>
                  <a:latin typeface="思源宋体 CN Heavy" panose="02020900000000000000" pitchFamily="18" charset="-122"/>
                  <a:ea typeface="思源宋体 CN Heavy" panose="02020900000000000000" pitchFamily="18" charset="-122"/>
                </a:rPr>
                <a:t>生命至上，集中体现了中国人民深厚的仁爱传统和中国共产党人以人民为中心的价值追求</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grpSp>
        <p:nvGrpSpPr>
          <p:cNvPr id="7" name="组合 6"/>
          <p:cNvGrpSpPr/>
          <p:nvPr/>
        </p:nvGrpSpPr>
        <p:grpSpPr>
          <a:xfrm>
            <a:off x="1289127" y="3044757"/>
            <a:ext cx="626834" cy="4173166"/>
            <a:chOff x="1513251" y="3103123"/>
            <a:chExt cx="626834" cy="4173166"/>
          </a:xfrm>
        </p:grpSpPr>
        <p:sp>
          <p:nvSpPr>
            <p:cNvPr id="5" name="圆角矩形 4"/>
            <p:cNvSpPr/>
            <p:nvPr/>
          </p:nvSpPr>
          <p:spPr>
            <a:xfrm>
              <a:off x="1513251" y="3103123"/>
              <a:ext cx="626834" cy="272651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6" name="文本框 5"/>
            <p:cNvSpPr txBox="1"/>
            <p:nvPr/>
          </p:nvSpPr>
          <p:spPr>
            <a:xfrm>
              <a:off x="1580446" y="3579779"/>
              <a:ext cx="492443" cy="3696510"/>
            </a:xfrm>
            <a:prstGeom prst="rect">
              <a:avLst/>
            </a:prstGeom>
            <a:noFill/>
          </p:spPr>
          <p:txBody>
            <a:bodyPr vert="eaVert" wrap="square" rtlCol="0">
              <a:spAutoFit/>
            </a:bodyPr>
            <a:lstStyle/>
            <a:p>
              <a:r>
                <a:rPr lang="zh-CN" altLang="zh-CN" sz="2000" dirty="0">
                  <a:solidFill>
                    <a:schemeClr val="bg1"/>
                  </a:solidFill>
                  <a:latin typeface="思源宋体 CN Heavy" panose="02020900000000000000" pitchFamily="18" charset="-122"/>
                  <a:ea typeface="思源宋体 CN Heavy" panose="02020900000000000000" pitchFamily="18" charset="-122"/>
                </a:rPr>
                <a:t>爱人利物之谓仁</a:t>
              </a:r>
              <a:endParaRPr lang="zh-CN" altLang="en-US" sz="2000" dirty="0">
                <a:solidFill>
                  <a:schemeClr val="bg1"/>
                </a:solidFill>
                <a:latin typeface="思源宋体 CN Heavy" panose="02020900000000000000" pitchFamily="18" charset="-122"/>
                <a:ea typeface="思源宋体 CN Heavy" panose="02020900000000000000" pitchFamily="18" charset="-122"/>
              </a:endParaRPr>
            </a:p>
          </p:txBody>
        </p:sp>
      </p:grpSp>
    </p:spTree>
    <p:extLst>
      <p:ext uri="{BB962C8B-B14F-4D97-AF65-F5344CB8AC3E}">
        <p14:creationId xmlns:p14="http://schemas.microsoft.com/office/powerpoint/2010/main" val="1216183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8" name="组合 7"/>
          <p:cNvGrpSpPr/>
          <p:nvPr/>
        </p:nvGrpSpPr>
        <p:grpSpPr>
          <a:xfrm>
            <a:off x="874713" y="1521439"/>
            <a:ext cx="11401593" cy="448056"/>
            <a:chOff x="911225" y="1618488"/>
            <a:chExt cx="4783135" cy="448056"/>
          </a:xfrm>
        </p:grpSpPr>
        <p:sp>
          <p:nvSpPr>
            <p:cNvPr id="9" name="圆角矩形 8"/>
            <p:cNvSpPr/>
            <p:nvPr/>
          </p:nvSpPr>
          <p:spPr>
            <a:xfrm>
              <a:off x="911225" y="1618488"/>
              <a:ext cx="4380813" cy="448056"/>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10" name="文本框 9"/>
            <p:cNvSpPr txBox="1"/>
            <p:nvPr/>
          </p:nvSpPr>
          <p:spPr>
            <a:xfrm>
              <a:off x="1721860" y="1661906"/>
              <a:ext cx="3972500" cy="369332"/>
            </a:xfrm>
            <a:prstGeom prst="rect">
              <a:avLst/>
            </a:prstGeom>
            <a:noFill/>
          </p:spPr>
          <p:txBody>
            <a:bodyPr wrap="square" rtlCol="0">
              <a:spAutoFit/>
            </a:bodyPr>
            <a:lstStyle/>
            <a:p>
              <a:r>
                <a:rPr lang="zh-CN" altLang="zh-CN" dirty="0">
                  <a:solidFill>
                    <a:schemeClr val="bg1"/>
                  </a:solidFill>
                  <a:latin typeface="思源宋体 CN Heavy" panose="02020900000000000000" pitchFamily="18" charset="-122"/>
                  <a:ea typeface="思源宋体 CN Heavy" panose="02020900000000000000" pitchFamily="18" charset="-122"/>
                </a:rPr>
                <a:t>举国同心，集中体现了中国人民万众一心、同甘共苦的团结伟力</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2" name="文本框 1"/>
          <p:cNvSpPr txBox="1"/>
          <p:nvPr/>
        </p:nvSpPr>
        <p:spPr>
          <a:xfrm>
            <a:off x="957009" y="3014463"/>
            <a:ext cx="5306631" cy="2536400"/>
          </a:xfrm>
          <a:prstGeom prst="rect">
            <a:avLst/>
          </a:prstGeom>
          <a:noFill/>
        </p:spPr>
        <p:txBody>
          <a:bodyPr wrap="square" rtlCol="0">
            <a:spAutoFit/>
          </a:bodyPr>
          <a:lstStyle/>
          <a:p>
            <a:pPr>
              <a:lnSpc>
                <a:spcPct val="150000"/>
              </a:lnSpc>
            </a:pPr>
            <a:r>
              <a:rPr lang="zh-CN" altLang="zh-CN" dirty="0">
                <a:latin typeface="思源黑体 CN Light" panose="020B0300000000000000" pitchFamily="34" charset="-122"/>
                <a:ea typeface="思源黑体 CN Light" panose="020B0300000000000000" pitchFamily="34" charset="-122"/>
              </a:rPr>
              <a:t>面对生死考验，面对长时间隔离带来的巨大身心压力，广大人民群众生死较量不畏惧、全国人民心往一处想、劲往一处使，把个人冷暖、集体荣辱、国家安危融为一体，“天使白”、“橄榄绿”、“守护蓝”、“志愿红”迅速集结，“我是党员我先上”、“疫情不退我不退”，誓言铿锵，丹心闪耀。</a:t>
            </a:r>
          </a:p>
        </p:txBody>
      </p:sp>
      <p:sp>
        <p:nvSpPr>
          <p:cNvPr id="12" name="文本框 11"/>
          <p:cNvSpPr txBox="1"/>
          <p:nvPr/>
        </p:nvSpPr>
        <p:spPr>
          <a:xfrm>
            <a:off x="796892" y="2067507"/>
            <a:ext cx="8882130" cy="507831"/>
          </a:xfrm>
          <a:prstGeom prst="rect">
            <a:avLst/>
          </a:prstGeom>
          <a:noFill/>
        </p:spPr>
        <p:txBody>
          <a:bodyPr wrap="square" rtlCol="0">
            <a:spAutoFit/>
          </a:bodyPr>
          <a:lstStyle/>
          <a:p>
            <a:pPr>
              <a:lnSpc>
                <a:spcPct val="150000"/>
              </a:lnSpc>
            </a:pPr>
            <a:r>
              <a:rPr lang="en-US" altLang="zh-CN" dirty="0">
                <a:solidFill>
                  <a:srgbClr val="C00000"/>
                </a:solidFill>
                <a:latin typeface="思源宋体 CN Heavy" panose="02020900000000000000" pitchFamily="18" charset="-122"/>
                <a:ea typeface="思源宋体 CN Heavy" panose="02020900000000000000" pitchFamily="18" charset="-122"/>
              </a:rPr>
              <a:t>14</a:t>
            </a:r>
            <a:r>
              <a:rPr lang="zh-CN" altLang="zh-CN" dirty="0">
                <a:solidFill>
                  <a:srgbClr val="C00000"/>
                </a:solidFill>
                <a:latin typeface="思源宋体 CN Heavy" panose="02020900000000000000" pitchFamily="18" charset="-122"/>
                <a:ea typeface="思源宋体 CN Heavy" panose="02020900000000000000" pitchFamily="18" charset="-122"/>
              </a:rPr>
              <a:t>亿中国人民同呼吸、共命运，肩并肩、心连心，绘就了团结就是力量的时代画卷！</a:t>
            </a:r>
          </a:p>
        </p:txBody>
      </p:sp>
      <p:pic>
        <p:nvPicPr>
          <p:cNvPr id="24" name="图片 23"/>
          <p:cNvPicPr>
            <a:picLocks noChangeAspect="1"/>
          </p:cNvPicPr>
          <p:nvPr/>
        </p:nvPicPr>
        <p:blipFill>
          <a:blip r:embed="rId3"/>
          <a:srcRect l="10378" r="8506"/>
          <a:stretch>
            <a:fillRect/>
          </a:stretch>
        </p:blipFill>
        <p:spPr>
          <a:xfrm>
            <a:off x="6927640" y="2887013"/>
            <a:ext cx="3597576" cy="3228019"/>
          </a:xfrm>
          <a:custGeom>
            <a:avLst/>
            <a:gdLst>
              <a:gd name="connsiteX0" fmla="*/ 0 w 3814836"/>
              <a:gd name="connsiteY0" fmla="*/ 0 h 3422961"/>
              <a:gd name="connsiteX1" fmla="*/ 3814836 w 3814836"/>
              <a:gd name="connsiteY1" fmla="*/ 0 h 3422961"/>
              <a:gd name="connsiteX2" fmla="*/ 3814836 w 3814836"/>
              <a:gd name="connsiteY2" fmla="*/ 3422961 h 3422961"/>
              <a:gd name="connsiteX3" fmla="*/ 0 w 3814836"/>
              <a:gd name="connsiteY3" fmla="*/ 3422961 h 3422961"/>
            </a:gdLst>
            <a:ahLst/>
            <a:cxnLst>
              <a:cxn ang="0">
                <a:pos x="connsiteX0" y="connsiteY0"/>
              </a:cxn>
              <a:cxn ang="0">
                <a:pos x="connsiteX1" y="connsiteY1"/>
              </a:cxn>
              <a:cxn ang="0">
                <a:pos x="connsiteX2" y="connsiteY2"/>
              </a:cxn>
              <a:cxn ang="0">
                <a:pos x="connsiteX3" y="connsiteY3"/>
              </a:cxn>
            </a:cxnLst>
            <a:rect l="l" t="t" r="r" b="b"/>
            <a:pathLst>
              <a:path w="3814836" h="3422961">
                <a:moveTo>
                  <a:pt x="0" y="0"/>
                </a:moveTo>
                <a:lnTo>
                  <a:pt x="3814836" y="0"/>
                </a:lnTo>
                <a:lnTo>
                  <a:pt x="3814836" y="3422961"/>
                </a:lnTo>
                <a:lnTo>
                  <a:pt x="0" y="3422961"/>
                </a:lnTo>
                <a:close/>
              </a:path>
            </a:pathLst>
          </a:custGeom>
        </p:spPr>
      </p:pic>
    </p:spTree>
    <p:extLst>
      <p:ext uri="{BB962C8B-B14F-4D97-AF65-F5344CB8AC3E}">
        <p14:creationId xmlns:p14="http://schemas.microsoft.com/office/powerpoint/2010/main" val="91185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8" name="组合 7"/>
          <p:cNvGrpSpPr/>
          <p:nvPr/>
        </p:nvGrpSpPr>
        <p:grpSpPr>
          <a:xfrm>
            <a:off x="874713" y="1521439"/>
            <a:ext cx="10442575" cy="448056"/>
            <a:chOff x="911225" y="1618488"/>
            <a:chExt cx="4380813" cy="448056"/>
          </a:xfrm>
        </p:grpSpPr>
        <p:sp>
          <p:nvSpPr>
            <p:cNvPr id="9" name="圆角矩形 8"/>
            <p:cNvSpPr/>
            <p:nvPr/>
          </p:nvSpPr>
          <p:spPr>
            <a:xfrm>
              <a:off x="911225" y="1618488"/>
              <a:ext cx="4380813" cy="448056"/>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10" name="文本框 9"/>
            <p:cNvSpPr txBox="1"/>
            <p:nvPr/>
          </p:nvSpPr>
          <p:spPr>
            <a:xfrm>
              <a:off x="1277043" y="1666303"/>
              <a:ext cx="3972500" cy="369332"/>
            </a:xfrm>
            <a:prstGeom prst="rect">
              <a:avLst/>
            </a:prstGeom>
            <a:noFill/>
          </p:spPr>
          <p:txBody>
            <a:bodyPr wrap="square" rtlCol="0">
              <a:spAutoFit/>
            </a:bodyPr>
            <a:lstStyle/>
            <a:p>
              <a:r>
                <a:rPr lang="zh-CN" altLang="zh-CN" dirty="0">
                  <a:solidFill>
                    <a:schemeClr val="bg1"/>
                  </a:solidFill>
                  <a:latin typeface="思源宋体 CN Heavy" panose="02020900000000000000" pitchFamily="18" charset="-122"/>
                  <a:ea typeface="思源宋体 CN Heavy" panose="02020900000000000000" pitchFamily="18" charset="-122"/>
                </a:rPr>
                <a:t>舍生忘死，集中体现了中国人民敢于压倒一切困难而不被任何困难所压倒的顽强意志</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2" name="文本框 1"/>
          <p:cNvSpPr txBox="1"/>
          <p:nvPr/>
        </p:nvSpPr>
        <p:spPr>
          <a:xfrm>
            <a:off x="756457" y="2928517"/>
            <a:ext cx="5612860" cy="2120902"/>
          </a:xfrm>
          <a:prstGeom prst="rect">
            <a:avLst/>
          </a:prstGeom>
          <a:noFill/>
        </p:spPr>
        <p:txBody>
          <a:bodyPr wrap="square" rtlCol="0">
            <a:spAutoFit/>
          </a:bodyPr>
          <a:lstStyle/>
          <a:p>
            <a:pPr algn="just">
              <a:lnSpc>
                <a:spcPct val="150000"/>
              </a:lnSpc>
            </a:pPr>
            <a:r>
              <a:rPr lang="zh-CN" altLang="zh-CN" dirty="0">
                <a:latin typeface="思源黑体 CN Light" panose="020B0300000000000000" pitchFamily="34" charset="-122"/>
                <a:ea typeface="思源黑体 CN Light" panose="020B0300000000000000" pitchFamily="34" charset="-122"/>
              </a:rPr>
              <a:t>各条战线的抗疫勇士临危不惧、视死如归，困难面前豁得出、关键时刻冲得上，以生命赴使命，用大爱护众生。面对疫情，中国人民没有被吓倒，而是用明知山有虎、偏向虎山行的壮举，书写下可歌可泣、荡气回肠的壮丽篇章！</a:t>
            </a:r>
          </a:p>
        </p:txBody>
      </p:sp>
      <p:grpSp>
        <p:nvGrpSpPr>
          <p:cNvPr id="5" name="组合 4"/>
          <p:cNvGrpSpPr/>
          <p:nvPr/>
        </p:nvGrpSpPr>
        <p:grpSpPr>
          <a:xfrm>
            <a:off x="924128" y="2182103"/>
            <a:ext cx="2850204" cy="430289"/>
            <a:chOff x="2665379" y="3429000"/>
            <a:chExt cx="2850204" cy="430289"/>
          </a:xfrm>
        </p:grpSpPr>
        <p:sp>
          <p:nvSpPr>
            <p:cNvPr id="3" name="圆角矩形 2"/>
            <p:cNvSpPr/>
            <p:nvPr/>
          </p:nvSpPr>
          <p:spPr>
            <a:xfrm>
              <a:off x="2665379" y="3429000"/>
              <a:ext cx="2850204" cy="430289"/>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4" name="矩形 3"/>
            <p:cNvSpPr/>
            <p:nvPr/>
          </p:nvSpPr>
          <p:spPr>
            <a:xfrm>
              <a:off x="2728569" y="3474717"/>
              <a:ext cx="2723823" cy="369332"/>
            </a:xfrm>
            <a:prstGeom prst="rect">
              <a:avLst/>
            </a:prstGeom>
          </p:spPr>
          <p:txBody>
            <a:bodyPr wrap="none">
              <a:spAutoFit/>
            </a:bodyPr>
            <a:lstStyle/>
            <a:p>
              <a:r>
                <a:rPr lang="zh-CN" altLang="zh-CN" kern="100" dirty="0">
                  <a:solidFill>
                    <a:srgbClr val="C00000"/>
                  </a:solidFill>
                  <a:latin typeface="思源宋体 CN Heavy" panose="02020900000000000000" pitchFamily="18" charset="-122"/>
                  <a:ea typeface="思源宋体 CN Heavy" panose="02020900000000000000" pitchFamily="18" charset="-122"/>
                  <a:cs typeface="微软雅黑" panose="020B0503020204020204" pitchFamily="34" charset="-122"/>
                </a:rPr>
                <a:t>危急时刻，又见遍地英雄</a:t>
              </a:r>
              <a:endParaRPr lang="zh-CN" altLang="en-US" dirty="0">
                <a:solidFill>
                  <a:srgbClr val="C00000"/>
                </a:solidFill>
                <a:latin typeface="思源宋体 CN Heavy" panose="02020900000000000000" pitchFamily="18" charset="-122"/>
                <a:ea typeface="思源宋体 CN Heavy" panose="02020900000000000000" pitchFamily="18" charset="-122"/>
              </a:endParaRPr>
            </a:p>
          </p:txBody>
        </p:sp>
      </p:grpSp>
      <p:pic>
        <p:nvPicPr>
          <p:cNvPr id="18" name="图片 17"/>
          <p:cNvPicPr>
            <a:picLocks noChangeAspect="1"/>
          </p:cNvPicPr>
          <p:nvPr/>
        </p:nvPicPr>
        <p:blipFill>
          <a:blip r:embed="rId3">
            <a:extLst>
              <a:ext uri="{28A0092B-C50C-407E-A947-70E740481C1C}">
                <a14:useLocalDpi xmlns:a14="http://schemas.microsoft.com/office/drawing/2010/main" val="0"/>
              </a:ext>
            </a:extLst>
          </a:blip>
          <a:srcRect r="8371"/>
          <a:stretch>
            <a:fillRect/>
          </a:stretch>
        </p:blipFill>
        <p:spPr>
          <a:xfrm>
            <a:off x="6546958" y="2872688"/>
            <a:ext cx="4770330" cy="2926038"/>
          </a:xfrm>
          <a:custGeom>
            <a:avLst/>
            <a:gdLst>
              <a:gd name="connsiteX0" fmla="*/ 0 w 4770330"/>
              <a:gd name="connsiteY0" fmla="*/ 0 h 2926038"/>
              <a:gd name="connsiteX1" fmla="*/ 4770330 w 4770330"/>
              <a:gd name="connsiteY1" fmla="*/ 0 h 2926038"/>
              <a:gd name="connsiteX2" fmla="*/ 4770330 w 4770330"/>
              <a:gd name="connsiteY2" fmla="*/ 2926038 h 2926038"/>
              <a:gd name="connsiteX3" fmla="*/ 0 w 4770330"/>
              <a:gd name="connsiteY3" fmla="*/ 2926038 h 2926038"/>
            </a:gdLst>
            <a:ahLst/>
            <a:cxnLst>
              <a:cxn ang="0">
                <a:pos x="connsiteX0" y="connsiteY0"/>
              </a:cxn>
              <a:cxn ang="0">
                <a:pos x="connsiteX1" y="connsiteY1"/>
              </a:cxn>
              <a:cxn ang="0">
                <a:pos x="connsiteX2" y="connsiteY2"/>
              </a:cxn>
              <a:cxn ang="0">
                <a:pos x="connsiteX3" y="connsiteY3"/>
              </a:cxn>
            </a:cxnLst>
            <a:rect l="l" t="t" r="r" b="b"/>
            <a:pathLst>
              <a:path w="4770330" h="2926038">
                <a:moveTo>
                  <a:pt x="0" y="0"/>
                </a:moveTo>
                <a:lnTo>
                  <a:pt x="4770330" y="0"/>
                </a:lnTo>
                <a:lnTo>
                  <a:pt x="4770330" y="2926038"/>
                </a:lnTo>
                <a:lnTo>
                  <a:pt x="0" y="2926038"/>
                </a:lnTo>
                <a:close/>
              </a:path>
            </a:pathLst>
          </a:custGeom>
        </p:spPr>
      </p:pic>
    </p:spTree>
    <p:extLst>
      <p:ext uri="{BB962C8B-B14F-4D97-AF65-F5344CB8AC3E}">
        <p14:creationId xmlns:p14="http://schemas.microsoft.com/office/powerpoint/2010/main" val="3484726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8" name="组合 7"/>
          <p:cNvGrpSpPr/>
          <p:nvPr/>
        </p:nvGrpSpPr>
        <p:grpSpPr>
          <a:xfrm>
            <a:off x="874713" y="1521439"/>
            <a:ext cx="11469688" cy="448056"/>
            <a:chOff x="911225" y="1618488"/>
            <a:chExt cx="4811702" cy="448056"/>
          </a:xfrm>
        </p:grpSpPr>
        <p:sp>
          <p:nvSpPr>
            <p:cNvPr id="9" name="圆角矩形 8"/>
            <p:cNvSpPr/>
            <p:nvPr/>
          </p:nvSpPr>
          <p:spPr>
            <a:xfrm>
              <a:off x="911225" y="1618488"/>
              <a:ext cx="4380813" cy="448056"/>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10" name="文本框 9"/>
            <p:cNvSpPr txBox="1"/>
            <p:nvPr/>
          </p:nvSpPr>
          <p:spPr>
            <a:xfrm>
              <a:off x="1750427" y="1657850"/>
              <a:ext cx="3972500" cy="369332"/>
            </a:xfrm>
            <a:prstGeom prst="rect">
              <a:avLst/>
            </a:prstGeom>
            <a:noFill/>
          </p:spPr>
          <p:txBody>
            <a:bodyPr wrap="square" rtlCol="0">
              <a:spAutoFit/>
            </a:bodyPr>
            <a:lstStyle/>
            <a:p>
              <a:r>
                <a:rPr lang="zh-CN" altLang="zh-CN" dirty="0">
                  <a:solidFill>
                    <a:schemeClr val="bg1"/>
                  </a:solidFill>
                  <a:latin typeface="思源宋体 CN Heavy" panose="02020900000000000000" pitchFamily="18" charset="-122"/>
                  <a:ea typeface="思源宋体 CN Heavy" panose="02020900000000000000" pitchFamily="18" charset="-122"/>
                </a:rPr>
                <a:t>尊重科学，集中体现了中国人民求真务实、开拓创新的实践品格</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2" name="文本框 1"/>
          <p:cNvSpPr txBox="1"/>
          <p:nvPr/>
        </p:nvSpPr>
        <p:spPr>
          <a:xfrm>
            <a:off x="4649821" y="2267080"/>
            <a:ext cx="6527260" cy="3003515"/>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Ø"/>
            </a:pPr>
            <a:r>
              <a:rPr lang="zh-CN" altLang="zh-CN" sz="1600" dirty="0">
                <a:latin typeface="思源黑体 CN Light" panose="020B0300000000000000" pitchFamily="34" charset="-122"/>
                <a:ea typeface="思源黑体 CN Light" panose="020B0300000000000000" pitchFamily="34" charset="-122"/>
              </a:rPr>
              <a:t>面对前所未知的新型传染性疾病，我们秉持科学精神、科学态度，把遵循科学规律贯穿到决策指挥、病患治疗、技术攻关、社会治理各方面全过程。</a:t>
            </a:r>
            <a:endParaRPr lang="en-US" altLang="zh-CN" sz="1600" dirty="0">
              <a:latin typeface="思源黑体 CN Light" panose="020B0300000000000000" pitchFamily="34" charset="-122"/>
              <a:ea typeface="思源黑体 CN Light" panose="020B0300000000000000" pitchFamily="34" charset="-122"/>
            </a:endParaRPr>
          </a:p>
          <a:p>
            <a:pPr marL="285750" indent="-285750" algn="just">
              <a:lnSpc>
                <a:spcPct val="150000"/>
              </a:lnSpc>
              <a:buClr>
                <a:srgbClr val="C00000"/>
              </a:buClr>
              <a:buFont typeface="Wingdings" panose="05000000000000000000" pitchFamily="2" charset="2"/>
              <a:buChar char="Ø"/>
            </a:pPr>
            <a:r>
              <a:rPr lang="zh-CN" altLang="zh-CN" sz="1600" dirty="0">
                <a:latin typeface="思源黑体 CN Light" panose="020B0300000000000000" pitchFamily="34" charset="-122"/>
                <a:ea typeface="思源黑体 CN Light" panose="020B0300000000000000" pitchFamily="34" charset="-122"/>
              </a:rPr>
              <a:t>在没有特效药的情况下，实行中西医结合，先后推出八版全国新冠肺炎诊疗方案，筛选出“三药三方”等临床有效的中药西药和治疗办法，被多个国家借鉴和使用。</a:t>
            </a:r>
            <a:endParaRPr lang="en-US" altLang="zh-CN" sz="1600" dirty="0">
              <a:latin typeface="思源黑体 CN Light" panose="020B0300000000000000" pitchFamily="34" charset="-122"/>
              <a:ea typeface="思源黑体 CN Light" panose="020B0300000000000000" pitchFamily="34" charset="-122"/>
            </a:endParaRPr>
          </a:p>
          <a:p>
            <a:pPr marL="285750" indent="-285750">
              <a:lnSpc>
                <a:spcPct val="150000"/>
              </a:lnSpc>
              <a:buClr>
                <a:srgbClr val="C00000"/>
              </a:buClr>
              <a:buFont typeface="Wingdings" panose="05000000000000000000" pitchFamily="2" charset="2"/>
              <a:buChar char="Ø"/>
            </a:pPr>
            <a:r>
              <a:rPr lang="zh-CN" altLang="zh-CN" sz="1600" dirty="0">
                <a:latin typeface="思源黑体 CN Light" panose="020B0300000000000000" pitchFamily="34" charset="-122"/>
                <a:ea typeface="思源黑体 CN Light" panose="020B0300000000000000" pitchFamily="34" charset="-122"/>
              </a:rPr>
              <a:t>无论是开展大规模核酸检测和健康码识别，有序推进复工复产，都是对科学精神的尊崇和弘扬，都为战胜疫情提供了强大科技支撑！</a:t>
            </a:r>
          </a:p>
        </p:txBody>
      </p:sp>
      <p:sp>
        <p:nvSpPr>
          <p:cNvPr id="11" name="iconfont-11253-5330699"/>
          <p:cNvSpPr>
            <a:spLocks noChangeAspect="1"/>
          </p:cNvSpPr>
          <p:nvPr/>
        </p:nvSpPr>
        <p:spPr bwMode="auto">
          <a:xfrm>
            <a:off x="1284781" y="2402871"/>
            <a:ext cx="3016095" cy="3290974"/>
          </a:xfrm>
          <a:custGeom>
            <a:avLst/>
            <a:gdLst>
              <a:gd name="T0" fmla="*/ 8691 w 9166"/>
              <a:gd name="T1" fmla="*/ 9551 h 10000"/>
              <a:gd name="T2" fmla="*/ 1738 w 9166"/>
              <a:gd name="T3" fmla="*/ 10000 h 10000"/>
              <a:gd name="T4" fmla="*/ 0 w 9166"/>
              <a:gd name="T5" fmla="*/ 8315 h 10000"/>
              <a:gd name="T6" fmla="*/ 192 w 9166"/>
              <a:gd name="T7" fmla="*/ 6564 h 10000"/>
              <a:gd name="T8" fmla="*/ 1029 w 9166"/>
              <a:gd name="T9" fmla="*/ 5030 h 10000"/>
              <a:gd name="T10" fmla="*/ 1667 w 9166"/>
              <a:gd name="T11" fmla="*/ 5418 h 10000"/>
              <a:gd name="T12" fmla="*/ 1062 w 9166"/>
              <a:gd name="T13" fmla="*/ 7195 h 10000"/>
              <a:gd name="T14" fmla="*/ 1198 w 9166"/>
              <a:gd name="T15" fmla="*/ 8804 h 10000"/>
              <a:gd name="T16" fmla="*/ 2971 w 9166"/>
              <a:gd name="T17" fmla="*/ 8804 h 10000"/>
              <a:gd name="T18" fmla="*/ 3103 w 9166"/>
              <a:gd name="T19" fmla="*/ 7195 h 10000"/>
              <a:gd name="T20" fmla="*/ 2501 w 9166"/>
              <a:gd name="T21" fmla="*/ 5418 h 10000"/>
              <a:gd name="T22" fmla="*/ 4584 w 9166"/>
              <a:gd name="T23" fmla="*/ 5489 h 10000"/>
              <a:gd name="T24" fmla="*/ 6668 w 9166"/>
              <a:gd name="T25" fmla="*/ 5418 h 10000"/>
              <a:gd name="T26" fmla="*/ 5489 w 9166"/>
              <a:gd name="T27" fmla="*/ 6322 h 10000"/>
              <a:gd name="T28" fmla="*/ 5001 w 9166"/>
              <a:gd name="T29" fmla="*/ 8080 h 10000"/>
              <a:gd name="T30" fmla="*/ 4974 w 9166"/>
              <a:gd name="T31" fmla="*/ 8985 h 10000"/>
              <a:gd name="T32" fmla="*/ 5859 w 9166"/>
              <a:gd name="T33" fmla="*/ 8985 h 10000"/>
              <a:gd name="T34" fmla="*/ 5833 w 9166"/>
              <a:gd name="T35" fmla="*/ 8080 h 10000"/>
              <a:gd name="T36" fmla="*/ 6080 w 9166"/>
              <a:gd name="T37" fmla="*/ 6915 h 10000"/>
              <a:gd name="T38" fmla="*/ 7253 w 9166"/>
              <a:gd name="T39" fmla="*/ 6915 h 10000"/>
              <a:gd name="T40" fmla="*/ 7500 w 9166"/>
              <a:gd name="T41" fmla="*/ 8080 h 10000"/>
              <a:gd name="T42" fmla="*/ 7474 w 9166"/>
              <a:gd name="T43" fmla="*/ 8985 h 10000"/>
              <a:gd name="T44" fmla="*/ 8359 w 9166"/>
              <a:gd name="T45" fmla="*/ 8985 h 10000"/>
              <a:gd name="T46" fmla="*/ 8333 w 9166"/>
              <a:gd name="T47" fmla="*/ 8080 h 10000"/>
              <a:gd name="T48" fmla="*/ 8108 w 9166"/>
              <a:gd name="T49" fmla="*/ 6671 h 10000"/>
              <a:gd name="T50" fmla="*/ 7502 w 9166"/>
              <a:gd name="T51" fmla="*/ 5786 h 10000"/>
              <a:gd name="T52" fmla="*/ 7485 w 9166"/>
              <a:gd name="T53" fmla="*/ 5204 h 10000"/>
              <a:gd name="T54" fmla="*/ 7355 w 9166"/>
              <a:gd name="T55" fmla="*/ 4639 h 10000"/>
              <a:gd name="T56" fmla="*/ 8664 w 9166"/>
              <a:gd name="T57" fmla="*/ 5704 h 10000"/>
              <a:gd name="T58" fmla="*/ 9130 w 9166"/>
              <a:gd name="T59" fmla="*/ 7465 h 10000"/>
              <a:gd name="T60" fmla="*/ 2376 w 9166"/>
              <a:gd name="T61" fmla="*/ 7624 h 10000"/>
              <a:gd name="T62" fmla="*/ 2376 w 9166"/>
              <a:gd name="T63" fmla="*/ 8209 h 10000"/>
              <a:gd name="T64" fmla="*/ 1791 w 9166"/>
              <a:gd name="T65" fmla="*/ 8209 h 10000"/>
              <a:gd name="T66" fmla="*/ 1791 w 9166"/>
              <a:gd name="T67" fmla="*/ 7624 h 10000"/>
              <a:gd name="T68" fmla="*/ 2376 w 9166"/>
              <a:gd name="T69" fmla="*/ 7624 h 10000"/>
              <a:gd name="T70" fmla="*/ 7083 w 9166"/>
              <a:gd name="T71" fmla="*/ 2500 h 10000"/>
              <a:gd name="T72" fmla="*/ 4583 w 9166"/>
              <a:gd name="T73" fmla="*/ 5000 h 10000"/>
              <a:gd name="T74" fmla="*/ 2083 w 9166"/>
              <a:gd name="T75" fmla="*/ 2500 h 10000"/>
              <a:gd name="T76" fmla="*/ 4583 w 9166"/>
              <a:gd name="T77" fmla="*/ 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166" h="10000">
                <a:moveTo>
                  <a:pt x="9166" y="8315"/>
                </a:moveTo>
                <a:cubicBezTo>
                  <a:pt x="9166" y="8841"/>
                  <a:pt x="9007" y="9253"/>
                  <a:pt x="8691" y="9551"/>
                </a:cubicBezTo>
                <a:cubicBezTo>
                  <a:pt x="8374" y="9851"/>
                  <a:pt x="7953" y="10000"/>
                  <a:pt x="7428" y="10000"/>
                </a:cubicBezTo>
                <a:lnTo>
                  <a:pt x="1738" y="10000"/>
                </a:lnTo>
                <a:cubicBezTo>
                  <a:pt x="1212" y="10000"/>
                  <a:pt x="792" y="9851"/>
                  <a:pt x="475" y="9551"/>
                </a:cubicBezTo>
                <a:cubicBezTo>
                  <a:pt x="159" y="9251"/>
                  <a:pt x="0" y="8839"/>
                  <a:pt x="0" y="8315"/>
                </a:cubicBezTo>
                <a:cubicBezTo>
                  <a:pt x="0" y="8019"/>
                  <a:pt x="13" y="7736"/>
                  <a:pt x="35" y="7463"/>
                </a:cubicBezTo>
                <a:cubicBezTo>
                  <a:pt x="59" y="7189"/>
                  <a:pt x="110" y="6890"/>
                  <a:pt x="192" y="6564"/>
                </a:cubicBezTo>
                <a:cubicBezTo>
                  <a:pt x="273" y="6238"/>
                  <a:pt x="375" y="5950"/>
                  <a:pt x="502" y="5701"/>
                </a:cubicBezTo>
                <a:cubicBezTo>
                  <a:pt x="628" y="5453"/>
                  <a:pt x="803" y="5229"/>
                  <a:pt x="1029" y="5030"/>
                </a:cubicBezTo>
                <a:cubicBezTo>
                  <a:pt x="1256" y="4833"/>
                  <a:pt x="1515" y="4701"/>
                  <a:pt x="1811" y="4636"/>
                </a:cubicBezTo>
                <a:cubicBezTo>
                  <a:pt x="1714" y="4863"/>
                  <a:pt x="1667" y="5122"/>
                  <a:pt x="1667" y="5418"/>
                </a:cubicBezTo>
                <a:lnTo>
                  <a:pt x="1667" y="6739"/>
                </a:lnTo>
                <a:cubicBezTo>
                  <a:pt x="1414" y="6825"/>
                  <a:pt x="1213" y="6978"/>
                  <a:pt x="1062" y="7195"/>
                </a:cubicBezTo>
                <a:cubicBezTo>
                  <a:pt x="909" y="7413"/>
                  <a:pt x="834" y="7653"/>
                  <a:pt x="834" y="7918"/>
                </a:cubicBezTo>
                <a:cubicBezTo>
                  <a:pt x="834" y="8265"/>
                  <a:pt x="956" y="8560"/>
                  <a:pt x="1198" y="8804"/>
                </a:cubicBezTo>
                <a:cubicBezTo>
                  <a:pt x="1441" y="9048"/>
                  <a:pt x="1737" y="9168"/>
                  <a:pt x="2084" y="9168"/>
                </a:cubicBezTo>
                <a:cubicBezTo>
                  <a:pt x="2432" y="9168"/>
                  <a:pt x="2727" y="9046"/>
                  <a:pt x="2971" y="8804"/>
                </a:cubicBezTo>
                <a:cubicBezTo>
                  <a:pt x="3213" y="8561"/>
                  <a:pt x="3334" y="8265"/>
                  <a:pt x="3334" y="7918"/>
                </a:cubicBezTo>
                <a:cubicBezTo>
                  <a:pt x="3334" y="7654"/>
                  <a:pt x="3258" y="7413"/>
                  <a:pt x="3103" y="7195"/>
                </a:cubicBezTo>
                <a:cubicBezTo>
                  <a:pt x="2948" y="6979"/>
                  <a:pt x="2748" y="6826"/>
                  <a:pt x="2501" y="6739"/>
                </a:cubicBezTo>
                <a:lnTo>
                  <a:pt x="2501" y="5418"/>
                </a:lnTo>
                <a:cubicBezTo>
                  <a:pt x="2501" y="5147"/>
                  <a:pt x="2556" y="4946"/>
                  <a:pt x="2663" y="4813"/>
                </a:cubicBezTo>
                <a:cubicBezTo>
                  <a:pt x="3236" y="5264"/>
                  <a:pt x="3877" y="5489"/>
                  <a:pt x="4584" y="5489"/>
                </a:cubicBezTo>
                <a:cubicBezTo>
                  <a:pt x="5292" y="5489"/>
                  <a:pt x="5932" y="5263"/>
                  <a:pt x="6506" y="4813"/>
                </a:cubicBezTo>
                <a:cubicBezTo>
                  <a:pt x="6614" y="4946"/>
                  <a:pt x="6668" y="5149"/>
                  <a:pt x="6668" y="5418"/>
                </a:cubicBezTo>
                <a:lnTo>
                  <a:pt x="6668" y="5834"/>
                </a:lnTo>
                <a:cubicBezTo>
                  <a:pt x="6208" y="5834"/>
                  <a:pt x="5815" y="5996"/>
                  <a:pt x="5489" y="6322"/>
                </a:cubicBezTo>
                <a:cubicBezTo>
                  <a:pt x="5163" y="6649"/>
                  <a:pt x="5001" y="7041"/>
                  <a:pt x="5001" y="7501"/>
                </a:cubicBezTo>
                <a:lnTo>
                  <a:pt x="5001" y="8080"/>
                </a:lnTo>
                <a:cubicBezTo>
                  <a:pt x="4862" y="8206"/>
                  <a:pt x="4792" y="8359"/>
                  <a:pt x="4792" y="8542"/>
                </a:cubicBezTo>
                <a:cubicBezTo>
                  <a:pt x="4792" y="8716"/>
                  <a:pt x="4852" y="8864"/>
                  <a:pt x="4974" y="8985"/>
                </a:cubicBezTo>
                <a:cubicBezTo>
                  <a:pt x="5096" y="9106"/>
                  <a:pt x="5244" y="9167"/>
                  <a:pt x="5417" y="9167"/>
                </a:cubicBezTo>
                <a:cubicBezTo>
                  <a:pt x="5590" y="9167"/>
                  <a:pt x="5738" y="9107"/>
                  <a:pt x="5859" y="8985"/>
                </a:cubicBezTo>
                <a:cubicBezTo>
                  <a:pt x="5980" y="8864"/>
                  <a:pt x="6042" y="8715"/>
                  <a:pt x="6042" y="8542"/>
                </a:cubicBezTo>
                <a:cubicBezTo>
                  <a:pt x="6042" y="8360"/>
                  <a:pt x="5972" y="8206"/>
                  <a:pt x="5833" y="8080"/>
                </a:cubicBezTo>
                <a:lnTo>
                  <a:pt x="5833" y="7501"/>
                </a:lnTo>
                <a:cubicBezTo>
                  <a:pt x="5833" y="7275"/>
                  <a:pt x="5915" y="7081"/>
                  <a:pt x="6080" y="6915"/>
                </a:cubicBezTo>
                <a:cubicBezTo>
                  <a:pt x="6244" y="6751"/>
                  <a:pt x="6440" y="6668"/>
                  <a:pt x="6667" y="6668"/>
                </a:cubicBezTo>
                <a:cubicBezTo>
                  <a:pt x="6893" y="6668"/>
                  <a:pt x="7087" y="6750"/>
                  <a:pt x="7253" y="6915"/>
                </a:cubicBezTo>
                <a:cubicBezTo>
                  <a:pt x="7417" y="7081"/>
                  <a:pt x="7500" y="7275"/>
                  <a:pt x="7500" y="7501"/>
                </a:cubicBezTo>
                <a:lnTo>
                  <a:pt x="7500" y="8080"/>
                </a:lnTo>
                <a:cubicBezTo>
                  <a:pt x="7362" y="8206"/>
                  <a:pt x="7292" y="8359"/>
                  <a:pt x="7292" y="8542"/>
                </a:cubicBezTo>
                <a:cubicBezTo>
                  <a:pt x="7292" y="8716"/>
                  <a:pt x="7352" y="8864"/>
                  <a:pt x="7474" y="8985"/>
                </a:cubicBezTo>
                <a:cubicBezTo>
                  <a:pt x="7595" y="9106"/>
                  <a:pt x="7743" y="9167"/>
                  <a:pt x="7917" y="9167"/>
                </a:cubicBezTo>
                <a:cubicBezTo>
                  <a:pt x="8090" y="9167"/>
                  <a:pt x="8238" y="9107"/>
                  <a:pt x="8359" y="8985"/>
                </a:cubicBezTo>
                <a:cubicBezTo>
                  <a:pt x="8480" y="8864"/>
                  <a:pt x="8542" y="8715"/>
                  <a:pt x="8542" y="8542"/>
                </a:cubicBezTo>
                <a:cubicBezTo>
                  <a:pt x="8542" y="8360"/>
                  <a:pt x="8472" y="8206"/>
                  <a:pt x="8333" y="8080"/>
                </a:cubicBezTo>
                <a:lnTo>
                  <a:pt x="8333" y="7501"/>
                </a:lnTo>
                <a:cubicBezTo>
                  <a:pt x="8333" y="7205"/>
                  <a:pt x="8258" y="6929"/>
                  <a:pt x="8108" y="6671"/>
                </a:cubicBezTo>
                <a:cubicBezTo>
                  <a:pt x="7959" y="6412"/>
                  <a:pt x="7754" y="6210"/>
                  <a:pt x="7499" y="6062"/>
                </a:cubicBezTo>
                <a:cubicBezTo>
                  <a:pt x="7499" y="6019"/>
                  <a:pt x="7500" y="5927"/>
                  <a:pt x="7502" y="5786"/>
                </a:cubicBezTo>
                <a:cubicBezTo>
                  <a:pt x="7504" y="5645"/>
                  <a:pt x="7504" y="5541"/>
                  <a:pt x="7502" y="5474"/>
                </a:cubicBezTo>
                <a:cubicBezTo>
                  <a:pt x="7499" y="5406"/>
                  <a:pt x="7493" y="5316"/>
                  <a:pt x="7485" y="5204"/>
                </a:cubicBezTo>
                <a:cubicBezTo>
                  <a:pt x="7477" y="5091"/>
                  <a:pt x="7462" y="4989"/>
                  <a:pt x="7440" y="4899"/>
                </a:cubicBezTo>
                <a:cubicBezTo>
                  <a:pt x="7418" y="4807"/>
                  <a:pt x="7392" y="4721"/>
                  <a:pt x="7355" y="4639"/>
                </a:cubicBezTo>
                <a:cubicBezTo>
                  <a:pt x="7652" y="4705"/>
                  <a:pt x="7912" y="4835"/>
                  <a:pt x="8137" y="5032"/>
                </a:cubicBezTo>
                <a:cubicBezTo>
                  <a:pt x="8363" y="5230"/>
                  <a:pt x="8538" y="5454"/>
                  <a:pt x="8664" y="5704"/>
                </a:cubicBezTo>
                <a:cubicBezTo>
                  <a:pt x="8790" y="5954"/>
                  <a:pt x="8893" y="6240"/>
                  <a:pt x="8974" y="6566"/>
                </a:cubicBezTo>
                <a:cubicBezTo>
                  <a:pt x="9055" y="6893"/>
                  <a:pt x="9107" y="7191"/>
                  <a:pt x="9130" y="7465"/>
                </a:cubicBezTo>
                <a:cubicBezTo>
                  <a:pt x="9155" y="7734"/>
                  <a:pt x="9165" y="8019"/>
                  <a:pt x="9166" y="8315"/>
                </a:cubicBezTo>
                <a:close/>
                <a:moveTo>
                  <a:pt x="2376" y="7624"/>
                </a:moveTo>
                <a:cubicBezTo>
                  <a:pt x="2458" y="7706"/>
                  <a:pt x="2499" y="7805"/>
                  <a:pt x="2499" y="7916"/>
                </a:cubicBezTo>
                <a:cubicBezTo>
                  <a:pt x="2499" y="8029"/>
                  <a:pt x="2458" y="8128"/>
                  <a:pt x="2376" y="8209"/>
                </a:cubicBezTo>
                <a:cubicBezTo>
                  <a:pt x="2293" y="8291"/>
                  <a:pt x="2194" y="8333"/>
                  <a:pt x="2083" y="8333"/>
                </a:cubicBezTo>
                <a:cubicBezTo>
                  <a:pt x="1972" y="8333"/>
                  <a:pt x="1872" y="8291"/>
                  <a:pt x="1791" y="8209"/>
                </a:cubicBezTo>
                <a:cubicBezTo>
                  <a:pt x="1709" y="8126"/>
                  <a:pt x="1667" y="8028"/>
                  <a:pt x="1667" y="7916"/>
                </a:cubicBezTo>
                <a:cubicBezTo>
                  <a:pt x="1667" y="7804"/>
                  <a:pt x="1708" y="7705"/>
                  <a:pt x="1791" y="7624"/>
                </a:cubicBezTo>
                <a:cubicBezTo>
                  <a:pt x="1873" y="7543"/>
                  <a:pt x="1971" y="7500"/>
                  <a:pt x="2083" y="7500"/>
                </a:cubicBezTo>
                <a:cubicBezTo>
                  <a:pt x="2197" y="7500"/>
                  <a:pt x="2293" y="7541"/>
                  <a:pt x="2376" y="7624"/>
                </a:cubicBezTo>
                <a:close/>
                <a:moveTo>
                  <a:pt x="6351" y="733"/>
                </a:moveTo>
                <a:cubicBezTo>
                  <a:pt x="6839" y="1221"/>
                  <a:pt x="7083" y="1810"/>
                  <a:pt x="7083" y="2500"/>
                </a:cubicBezTo>
                <a:cubicBezTo>
                  <a:pt x="7083" y="3190"/>
                  <a:pt x="6839" y="3779"/>
                  <a:pt x="6351" y="4268"/>
                </a:cubicBezTo>
                <a:cubicBezTo>
                  <a:pt x="5862" y="4756"/>
                  <a:pt x="5273" y="5000"/>
                  <a:pt x="4583" y="5000"/>
                </a:cubicBezTo>
                <a:cubicBezTo>
                  <a:pt x="3893" y="5000"/>
                  <a:pt x="3304" y="4756"/>
                  <a:pt x="2816" y="4268"/>
                </a:cubicBezTo>
                <a:cubicBezTo>
                  <a:pt x="2327" y="3779"/>
                  <a:pt x="2083" y="3190"/>
                  <a:pt x="2083" y="2500"/>
                </a:cubicBezTo>
                <a:cubicBezTo>
                  <a:pt x="2083" y="1810"/>
                  <a:pt x="2327" y="1221"/>
                  <a:pt x="2816" y="733"/>
                </a:cubicBezTo>
                <a:cubicBezTo>
                  <a:pt x="3304" y="244"/>
                  <a:pt x="3893" y="0"/>
                  <a:pt x="4583" y="0"/>
                </a:cubicBezTo>
                <a:cubicBezTo>
                  <a:pt x="5273" y="0"/>
                  <a:pt x="5862" y="244"/>
                  <a:pt x="6351" y="733"/>
                </a:cubicBezTo>
                <a:close/>
              </a:path>
            </a:pathLst>
          </a:custGeom>
          <a:solidFill>
            <a:schemeClr val="accent1"/>
          </a:solidFill>
          <a:ln>
            <a:noFill/>
          </a:ln>
        </p:spPr>
      </p:sp>
    </p:spTree>
    <p:custDataLst>
      <p:tags r:id="rId1"/>
    </p:custDataLst>
    <p:extLst>
      <p:ext uri="{BB962C8B-B14F-4D97-AF65-F5344CB8AC3E}">
        <p14:creationId xmlns:p14="http://schemas.microsoft.com/office/powerpoint/2010/main" val="250554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132513" y="3220149"/>
            <a:ext cx="5184775" cy="2346283"/>
          </a:xfrm>
          <a:prstGeom prst="rect">
            <a:avLst/>
          </a:prstGeom>
          <a:noFill/>
        </p:spPr>
        <p:txBody>
          <a:bodyPr wrap="square" rtlCol="0">
            <a:spAutoFit/>
          </a:bodyPr>
          <a:lstStyle/>
          <a:p>
            <a:pPr algn="just">
              <a:lnSpc>
                <a:spcPct val="150000"/>
              </a:lnSpc>
            </a:pPr>
            <a:r>
              <a:rPr lang="zh-CN" altLang="zh-CN" sz="2000" dirty="0">
                <a:latin typeface="思源黑体 CN Light" panose="020B0300000000000000" pitchFamily="34" charset="-122"/>
                <a:ea typeface="思源黑体 CN Light" panose="020B0300000000000000" pitchFamily="34" charset="-122"/>
              </a:rPr>
              <a:t>我们发起了新中国成立以来援助时间最集中、涉及范围最广的紧急人道主义行动，为全球疫情防控注入源源不断的动力，充分展示了讲信义、重情义、扬正义、守道义的大国形象</a:t>
            </a:r>
            <a:r>
              <a:rPr lang="zh-CN" altLang="en-US" sz="2000" dirty="0">
                <a:latin typeface="思源黑体 CN Light" panose="020B0300000000000000" pitchFamily="34" charset="-122"/>
                <a:ea typeface="思源黑体 CN Light" panose="020B0300000000000000" pitchFamily="34" charset="-122"/>
              </a:rPr>
              <a:t>。</a:t>
            </a:r>
            <a:endParaRPr lang="zh-CN" altLang="zh-CN" sz="2000" dirty="0">
              <a:latin typeface="思源黑体 CN Light" panose="020B0300000000000000" pitchFamily="34" charset="-122"/>
              <a:ea typeface="思源黑体 CN Light" panose="020B0300000000000000" pitchFamily="34" charset="-122"/>
            </a:endParaRPr>
          </a:p>
        </p:txBody>
      </p:sp>
      <p:grpSp>
        <p:nvGrpSpPr>
          <p:cNvPr id="9" name="组合 8"/>
          <p:cNvGrpSpPr/>
          <p:nvPr/>
        </p:nvGrpSpPr>
        <p:grpSpPr>
          <a:xfrm>
            <a:off x="874712" y="1952729"/>
            <a:ext cx="10491215" cy="958707"/>
            <a:chOff x="874712" y="1991641"/>
            <a:chExt cx="10491215" cy="958707"/>
          </a:xfrm>
        </p:grpSpPr>
        <p:sp>
          <p:nvSpPr>
            <p:cNvPr id="7" name="矩形 6"/>
            <p:cNvSpPr/>
            <p:nvPr/>
          </p:nvSpPr>
          <p:spPr>
            <a:xfrm>
              <a:off x="923352" y="2027018"/>
              <a:ext cx="10442575" cy="881139"/>
            </a:xfrm>
            <a:prstGeom prst="rect">
              <a:avLst/>
            </a:prstGeom>
          </p:spPr>
          <p:txBody>
            <a:bodyPr wrap="square">
              <a:spAutoFit/>
            </a:bodyPr>
            <a:lstStyle/>
            <a:p>
              <a:pPr>
                <a:lnSpc>
                  <a:spcPct val="150000"/>
                </a:lnSpc>
              </a:pPr>
              <a:r>
                <a:rPr lang="zh-CN" altLang="zh-CN" dirty="0">
                  <a:solidFill>
                    <a:srgbClr val="C00000"/>
                  </a:solidFill>
                  <a:latin typeface="思源宋体 CN Heavy" panose="02020900000000000000" pitchFamily="18" charset="-122"/>
                  <a:ea typeface="思源宋体 CN Heavy" panose="02020900000000000000" pitchFamily="18" charset="-122"/>
                </a:rPr>
                <a:t>大道不孤，大爱无疆。我们秉承“天下一家”的理念，不仅对中国人民生命安全和身体健康负责，也对全球公共卫生事业尽责。</a:t>
              </a:r>
              <a:endParaRPr lang="zh-CN" altLang="en-US" dirty="0">
                <a:solidFill>
                  <a:srgbClr val="C00000"/>
                </a:solidFill>
                <a:latin typeface="思源宋体 CN Heavy" panose="02020900000000000000" pitchFamily="18" charset="-122"/>
                <a:ea typeface="思源宋体 CN Heavy" panose="02020900000000000000" pitchFamily="18" charset="-122"/>
              </a:endParaRPr>
            </a:p>
          </p:txBody>
        </p:sp>
        <p:sp>
          <p:nvSpPr>
            <p:cNvPr id="8" name="圆角矩形 7"/>
            <p:cNvSpPr/>
            <p:nvPr/>
          </p:nvSpPr>
          <p:spPr>
            <a:xfrm>
              <a:off x="874712" y="1991641"/>
              <a:ext cx="10442576" cy="958707"/>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gr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11" name="组合 10"/>
          <p:cNvGrpSpPr/>
          <p:nvPr/>
        </p:nvGrpSpPr>
        <p:grpSpPr>
          <a:xfrm>
            <a:off x="874713" y="1348719"/>
            <a:ext cx="11185207" cy="448056"/>
            <a:chOff x="911225" y="1618488"/>
            <a:chExt cx="4692358" cy="448056"/>
          </a:xfrm>
        </p:grpSpPr>
        <p:sp>
          <p:nvSpPr>
            <p:cNvPr id="12" name="圆角矩形 11"/>
            <p:cNvSpPr/>
            <p:nvPr/>
          </p:nvSpPr>
          <p:spPr>
            <a:xfrm>
              <a:off x="911225" y="1618488"/>
              <a:ext cx="4380813" cy="448056"/>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13" name="文本框 12"/>
            <p:cNvSpPr txBox="1"/>
            <p:nvPr/>
          </p:nvSpPr>
          <p:spPr>
            <a:xfrm>
              <a:off x="1631083" y="1676029"/>
              <a:ext cx="3972500" cy="369332"/>
            </a:xfrm>
            <a:prstGeom prst="rect">
              <a:avLst/>
            </a:prstGeom>
            <a:noFill/>
          </p:spPr>
          <p:txBody>
            <a:bodyPr wrap="square" rtlCol="0">
              <a:spAutoFit/>
            </a:bodyPr>
            <a:lstStyle/>
            <a:p>
              <a:r>
                <a:rPr lang="zh-CN" altLang="zh-CN" dirty="0">
                  <a:solidFill>
                    <a:schemeClr val="bg1"/>
                  </a:solidFill>
                  <a:latin typeface="思源宋体 CN Heavy" panose="02020900000000000000" pitchFamily="18" charset="-122"/>
                  <a:ea typeface="思源宋体 CN Heavy" panose="02020900000000000000" pitchFamily="18" charset="-122"/>
                </a:rPr>
                <a:t>命运与共，集中体现了中国人民和衷共济、爱好和平的道义担当</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pic>
        <p:nvPicPr>
          <p:cNvPr id="23" name="图片 22"/>
          <p:cNvPicPr>
            <a:picLocks noChangeAspect="1"/>
          </p:cNvPicPr>
          <p:nvPr/>
        </p:nvPicPr>
        <p:blipFill>
          <a:blip r:embed="rId3">
            <a:extLst>
              <a:ext uri="{28A0092B-C50C-407E-A947-70E740481C1C}">
                <a14:useLocalDpi xmlns:a14="http://schemas.microsoft.com/office/drawing/2010/main" val="0"/>
              </a:ext>
            </a:extLst>
          </a:blip>
          <a:srcRect t="1934"/>
          <a:stretch>
            <a:fillRect/>
          </a:stretch>
        </p:blipFill>
        <p:spPr>
          <a:xfrm>
            <a:off x="923352" y="3113512"/>
            <a:ext cx="4662488" cy="3101541"/>
          </a:xfrm>
          <a:custGeom>
            <a:avLst/>
            <a:gdLst>
              <a:gd name="connsiteX0" fmla="*/ 0 w 4662488"/>
              <a:gd name="connsiteY0" fmla="*/ 0 h 3101541"/>
              <a:gd name="connsiteX1" fmla="*/ 4662488 w 4662488"/>
              <a:gd name="connsiteY1" fmla="*/ 0 h 3101541"/>
              <a:gd name="connsiteX2" fmla="*/ 4662488 w 4662488"/>
              <a:gd name="connsiteY2" fmla="*/ 3101541 h 3101541"/>
              <a:gd name="connsiteX3" fmla="*/ 0 w 4662488"/>
              <a:gd name="connsiteY3" fmla="*/ 3101541 h 3101541"/>
            </a:gdLst>
            <a:ahLst/>
            <a:cxnLst>
              <a:cxn ang="0">
                <a:pos x="connsiteX0" y="connsiteY0"/>
              </a:cxn>
              <a:cxn ang="0">
                <a:pos x="connsiteX1" y="connsiteY1"/>
              </a:cxn>
              <a:cxn ang="0">
                <a:pos x="connsiteX2" y="connsiteY2"/>
              </a:cxn>
              <a:cxn ang="0">
                <a:pos x="connsiteX3" y="connsiteY3"/>
              </a:cxn>
            </a:cxnLst>
            <a:rect l="l" t="t" r="r" b="b"/>
            <a:pathLst>
              <a:path w="4662488" h="3101541">
                <a:moveTo>
                  <a:pt x="0" y="0"/>
                </a:moveTo>
                <a:lnTo>
                  <a:pt x="4662488" y="0"/>
                </a:lnTo>
                <a:lnTo>
                  <a:pt x="4662488" y="3101541"/>
                </a:lnTo>
                <a:lnTo>
                  <a:pt x="0" y="3101541"/>
                </a:lnTo>
                <a:close/>
              </a:path>
            </a:pathLst>
          </a:custGeom>
        </p:spPr>
      </p:pic>
    </p:spTree>
    <p:extLst>
      <p:ext uri="{BB962C8B-B14F-4D97-AF65-F5344CB8AC3E}">
        <p14:creationId xmlns:p14="http://schemas.microsoft.com/office/powerpoint/2010/main" val="2258591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形状 34">
            <a:extLst>
              <a:ext uri="{FF2B5EF4-FFF2-40B4-BE49-F238E27FC236}">
                <a16:creationId xmlns:a16="http://schemas.microsoft.com/office/drawing/2014/main" id="{E1CF0FAA-FEBE-4051-AA38-944FE074D253}"/>
              </a:ext>
            </a:extLst>
          </p:cNvPr>
          <p:cNvSpPr/>
          <p:nvPr/>
        </p:nvSpPr>
        <p:spPr>
          <a:xfrm>
            <a:off x="0" y="2002283"/>
            <a:ext cx="4773307" cy="4855717"/>
          </a:xfrm>
          <a:custGeom>
            <a:avLst/>
            <a:gdLst>
              <a:gd name="connsiteX0" fmla="*/ 2032250 w 4773307"/>
              <a:gd name="connsiteY0" fmla="*/ 0 h 4855717"/>
              <a:gd name="connsiteX1" fmla="*/ 4773307 w 4773307"/>
              <a:gd name="connsiteY1" fmla="*/ 2741057 h 4855717"/>
              <a:gd name="connsiteX2" fmla="*/ 3970470 w 4773307"/>
              <a:gd name="connsiteY2" fmla="*/ 4679277 h 4855717"/>
              <a:gd name="connsiteX3" fmla="*/ 3776337 w 4773307"/>
              <a:gd name="connsiteY3" fmla="*/ 4855717 h 4855717"/>
              <a:gd name="connsiteX4" fmla="*/ 288163 w 4773307"/>
              <a:gd name="connsiteY4" fmla="*/ 4855717 h 4855717"/>
              <a:gd name="connsiteX5" fmla="*/ 94030 w 4773307"/>
              <a:gd name="connsiteY5" fmla="*/ 4679277 h 4855717"/>
              <a:gd name="connsiteX6" fmla="*/ 0 w 4773307"/>
              <a:gd name="connsiteY6" fmla="*/ 4575818 h 4855717"/>
              <a:gd name="connsiteX7" fmla="*/ 0 w 4773307"/>
              <a:gd name="connsiteY7" fmla="*/ 906296 h 4855717"/>
              <a:gd name="connsiteX8" fmla="*/ 94030 w 4773307"/>
              <a:gd name="connsiteY8" fmla="*/ 802837 h 4855717"/>
              <a:gd name="connsiteX9" fmla="*/ 2032250 w 4773307"/>
              <a:gd name="connsiteY9" fmla="*/ 0 h 485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73307" h="4855717">
                <a:moveTo>
                  <a:pt x="2032250" y="0"/>
                </a:moveTo>
                <a:cubicBezTo>
                  <a:pt x="3546094" y="0"/>
                  <a:pt x="4773307" y="1227213"/>
                  <a:pt x="4773307" y="2741057"/>
                </a:cubicBezTo>
                <a:cubicBezTo>
                  <a:pt x="4773307" y="3497979"/>
                  <a:pt x="4466504" y="4183244"/>
                  <a:pt x="3970470" y="4679277"/>
                </a:cubicBezTo>
                <a:lnTo>
                  <a:pt x="3776337" y="4855717"/>
                </a:lnTo>
                <a:lnTo>
                  <a:pt x="288163" y="4855717"/>
                </a:lnTo>
                <a:lnTo>
                  <a:pt x="94030" y="4679277"/>
                </a:lnTo>
                <a:lnTo>
                  <a:pt x="0" y="4575818"/>
                </a:lnTo>
                <a:lnTo>
                  <a:pt x="0" y="906296"/>
                </a:lnTo>
                <a:lnTo>
                  <a:pt x="94030" y="802837"/>
                </a:lnTo>
                <a:cubicBezTo>
                  <a:pt x="590064" y="306803"/>
                  <a:pt x="1275328" y="0"/>
                  <a:pt x="2032250" y="0"/>
                </a:cubicBezTo>
                <a:close/>
              </a:path>
            </a:pathLst>
          </a:custGeom>
          <a:gradFill flip="none" rotWithShape="1">
            <a:gsLst>
              <a:gs pos="0">
                <a:schemeClr val="accent1">
                  <a:alpha val="0"/>
                </a:schemeClr>
              </a:gs>
              <a:gs pos="100000">
                <a:schemeClr val="accent1">
                  <a:lumMod val="75000"/>
                  <a:alpha val="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8" name="椭圆 27">
            <a:extLst>
              <a:ext uri="{FF2B5EF4-FFF2-40B4-BE49-F238E27FC236}">
                <a16:creationId xmlns:a16="http://schemas.microsoft.com/office/drawing/2014/main" id="{6003490C-FC56-45A1-8BE6-E358ACBA31CC}"/>
              </a:ext>
            </a:extLst>
          </p:cNvPr>
          <p:cNvSpPr/>
          <p:nvPr/>
        </p:nvSpPr>
        <p:spPr>
          <a:xfrm>
            <a:off x="10159746" y="4376529"/>
            <a:ext cx="1331822" cy="1331822"/>
          </a:xfrm>
          <a:prstGeom prst="ellipse">
            <a:avLst/>
          </a:prstGeom>
          <a:gradFill flip="none" rotWithShape="1">
            <a:gsLst>
              <a:gs pos="0">
                <a:schemeClr val="accent1">
                  <a:alpha val="0"/>
                </a:schemeClr>
              </a:gs>
              <a:gs pos="100000">
                <a:schemeClr val="accent1">
                  <a:lumMod val="75000"/>
                  <a:alpha val="1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grpSp>
        <p:nvGrpSpPr>
          <p:cNvPr id="23" name="组合 22">
            <a:extLst>
              <a:ext uri="{FF2B5EF4-FFF2-40B4-BE49-F238E27FC236}">
                <a16:creationId xmlns:a16="http://schemas.microsoft.com/office/drawing/2014/main" id="{F500E9BA-711B-489F-B81B-D5CA30815048}"/>
              </a:ext>
            </a:extLst>
          </p:cNvPr>
          <p:cNvGrpSpPr/>
          <p:nvPr/>
        </p:nvGrpSpPr>
        <p:grpSpPr>
          <a:xfrm>
            <a:off x="3697117" y="549769"/>
            <a:ext cx="4797765" cy="2652694"/>
            <a:chOff x="-311956" y="-548972"/>
            <a:chExt cx="4797765" cy="2652694"/>
          </a:xfrm>
        </p:grpSpPr>
        <p:sp>
          <p:nvSpPr>
            <p:cNvPr id="24" name="文本框 23">
              <a:extLst>
                <a:ext uri="{FF2B5EF4-FFF2-40B4-BE49-F238E27FC236}">
                  <a16:creationId xmlns:a16="http://schemas.microsoft.com/office/drawing/2014/main" id="{B54E7E8E-9623-4326-8541-99F04184ADE8}"/>
                </a:ext>
              </a:extLst>
            </p:cNvPr>
            <p:cNvSpPr txBox="1"/>
            <p:nvPr/>
          </p:nvSpPr>
          <p:spPr>
            <a:xfrm>
              <a:off x="1189083" y="-548972"/>
              <a:ext cx="1757212" cy="1991123"/>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en-US" altLang="zh-CN" sz="11500" dirty="0">
                  <a:gradFill flip="none" rotWithShape="1">
                    <a:gsLst>
                      <a:gs pos="0">
                        <a:schemeClr val="accent4">
                          <a:lumMod val="20000"/>
                          <a:lumOff val="80000"/>
                        </a:schemeClr>
                      </a:gs>
                      <a:gs pos="100000">
                        <a:schemeClr val="accent4">
                          <a:lumMod val="20000"/>
                          <a:lumOff val="80000"/>
                          <a:alpha val="0"/>
                        </a:schemeClr>
                      </a:gs>
                    </a:gsLst>
                    <a:lin ang="5400000" scaled="1"/>
                    <a:tileRect/>
                  </a:gradFill>
                  <a:latin typeface="Impact" panose="020B0806030902050204" pitchFamily="34" charset="0"/>
                  <a:ea typeface="思源宋体 CN Heavy" panose="02020900000000000000" pitchFamily="18" charset="-122"/>
                </a:rPr>
                <a:t>03</a:t>
              </a:r>
              <a:endParaRPr lang="zh-CN" altLang="en-US" sz="11500" dirty="0">
                <a:gradFill flip="none" rotWithShape="1">
                  <a:gsLst>
                    <a:gs pos="0">
                      <a:schemeClr val="accent4">
                        <a:lumMod val="20000"/>
                        <a:lumOff val="80000"/>
                      </a:schemeClr>
                    </a:gs>
                    <a:gs pos="100000">
                      <a:schemeClr val="accent4">
                        <a:lumMod val="20000"/>
                        <a:lumOff val="80000"/>
                        <a:alpha val="0"/>
                      </a:schemeClr>
                    </a:gs>
                  </a:gsLst>
                  <a:lin ang="5400000" scaled="1"/>
                  <a:tileRect/>
                </a:gradFill>
                <a:latin typeface="Impact" panose="020B0806030902050204" pitchFamily="34" charset="0"/>
                <a:ea typeface="思源宋体 CN Heavy" panose="02020900000000000000" pitchFamily="18" charset="-122"/>
              </a:endParaRPr>
            </a:p>
          </p:txBody>
        </p:sp>
        <p:sp>
          <p:nvSpPr>
            <p:cNvPr id="25" name="文本框 24">
              <a:extLst>
                <a:ext uri="{FF2B5EF4-FFF2-40B4-BE49-F238E27FC236}">
                  <a16:creationId xmlns:a16="http://schemas.microsoft.com/office/drawing/2014/main" id="{76FA47C7-8EDB-48DF-9BED-2F9DA60A24EA}"/>
                </a:ext>
              </a:extLst>
            </p:cNvPr>
            <p:cNvSpPr txBox="1"/>
            <p:nvPr/>
          </p:nvSpPr>
          <p:spPr>
            <a:xfrm>
              <a:off x="-311956" y="480072"/>
              <a:ext cx="4797765" cy="1623650"/>
            </a:xfrm>
            <a:prstGeom prst="rect">
              <a:avLst/>
            </a:prstGeom>
            <a:noFill/>
          </p:spPr>
          <p:txBody>
            <a:bodyPr wrap="square" rtlCol="0">
              <a:spAutoFit/>
            </a:bodyPr>
            <a:lstStyle/>
            <a:p>
              <a:pPr algn="ctr">
                <a:lnSpc>
                  <a:spcPct val="120000"/>
                </a:lnSpc>
              </a:pPr>
              <a:r>
                <a:rPr lang="zh-CN" altLang="en-US" sz="8800" dirty="0">
                  <a:solidFill>
                    <a:schemeClr val="accent1"/>
                  </a:solidFill>
                  <a:latin typeface="优设标题黑" panose="00000500000000000000" pitchFamily="2" charset="-122"/>
                  <a:ea typeface="优设标题黑" panose="00000500000000000000" pitchFamily="2" charset="-122"/>
                </a:rPr>
                <a:t>第三部分</a:t>
              </a:r>
            </a:p>
          </p:txBody>
        </p:sp>
      </p:grpSp>
      <p:sp>
        <p:nvSpPr>
          <p:cNvPr id="27" name="文本框 26">
            <a:extLst>
              <a:ext uri="{FF2B5EF4-FFF2-40B4-BE49-F238E27FC236}">
                <a16:creationId xmlns:a16="http://schemas.microsoft.com/office/drawing/2014/main" id="{AE9F1F9C-B624-40FC-8695-1BD1E6810153}"/>
              </a:ext>
            </a:extLst>
          </p:cNvPr>
          <p:cNvSpPr txBox="1"/>
          <p:nvPr/>
        </p:nvSpPr>
        <p:spPr>
          <a:xfrm>
            <a:off x="1285461" y="3208738"/>
            <a:ext cx="9621074" cy="1172629"/>
          </a:xfrm>
          <a:prstGeom prst="rect">
            <a:avLst/>
          </a:prstGeom>
          <a:noFill/>
        </p:spPr>
        <p:txBody>
          <a:bodyPr wrap="square" rtlCol="0">
            <a:spAutoFit/>
          </a:bodyPr>
          <a:lstStyle/>
          <a:p>
            <a:pPr algn="ctr">
              <a:lnSpc>
                <a:spcPct val="130000"/>
              </a:lnSpc>
            </a:pPr>
            <a:r>
              <a:rPr lang="zh-CN" altLang="en-US" sz="5400" b="1" dirty="0">
                <a:solidFill>
                  <a:schemeClr val="bg2">
                    <a:lumMod val="25000"/>
                  </a:schemeClr>
                </a:solidFill>
                <a:latin typeface="思源宋体 CN Heavy" panose="02020900000000000000" pitchFamily="18" charset="-122"/>
                <a:ea typeface="思源宋体 CN Heavy" panose="02020900000000000000" pitchFamily="18" charset="-122"/>
              </a:rPr>
              <a:t>伟大抗疫精神的时代价值</a:t>
            </a:r>
          </a:p>
        </p:txBody>
      </p:sp>
    </p:spTree>
    <p:extLst>
      <p:ext uri="{BB962C8B-B14F-4D97-AF65-F5344CB8AC3E}">
        <p14:creationId xmlns:p14="http://schemas.microsoft.com/office/powerpoint/2010/main" val="3904175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874713" y="2397762"/>
            <a:ext cx="10479086" cy="899146"/>
            <a:chOff x="911225" y="1528899"/>
            <a:chExt cx="4396130" cy="537645"/>
          </a:xfrm>
        </p:grpSpPr>
        <p:sp>
          <p:nvSpPr>
            <p:cNvPr id="23" name="圆角矩形 22"/>
            <p:cNvSpPr/>
            <p:nvPr/>
          </p:nvSpPr>
          <p:spPr>
            <a:xfrm>
              <a:off x="911225" y="1559274"/>
              <a:ext cx="4380813" cy="507270"/>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24" name="文本框 23"/>
            <p:cNvSpPr txBox="1"/>
            <p:nvPr/>
          </p:nvSpPr>
          <p:spPr>
            <a:xfrm>
              <a:off x="926542" y="1528899"/>
              <a:ext cx="4380813" cy="522965"/>
            </a:xfrm>
            <a:prstGeom prst="rect">
              <a:avLst/>
            </a:prstGeom>
            <a:noFill/>
          </p:spPr>
          <p:txBody>
            <a:bodyPr wrap="square" rtlCol="0">
              <a:spAutoFit/>
            </a:bodyPr>
            <a:lstStyle/>
            <a:p>
              <a:pPr algn="ctr">
                <a:lnSpc>
                  <a:spcPct val="150000"/>
                </a:lnSpc>
              </a:pPr>
              <a:r>
                <a:rPr lang="zh-CN" altLang="zh-CN" dirty="0">
                  <a:solidFill>
                    <a:schemeClr val="bg1"/>
                  </a:solidFill>
                  <a:latin typeface="思源宋体 CN Heavy" panose="02020900000000000000" pitchFamily="18" charset="-122"/>
                  <a:ea typeface="思源宋体 CN Heavy" panose="02020900000000000000" pitchFamily="18" charset="-122"/>
                </a:rPr>
                <a:t>抗疫斗争伟大实践再次证明，中国共产党所具有的无比坚强的领导力，是风雨来袭时中国人民最可靠的主心骨</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5" name="文本框 4"/>
          <p:cNvSpPr txBox="1"/>
          <p:nvPr/>
        </p:nvSpPr>
        <p:spPr>
          <a:xfrm>
            <a:off x="911224" y="3347707"/>
            <a:ext cx="6318567" cy="2634183"/>
          </a:xfrm>
          <a:prstGeom prst="rect">
            <a:avLst/>
          </a:prstGeom>
          <a:noFill/>
        </p:spPr>
        <p:txBody>
          <a:bodyPr wrap="square" rtlCol="0">
            <a:spAutoFit/>
          </a:bodyPr>
          <a:lstStyle/>
          <a:p>
            <a:pPr algn="just">
              <a:lnSpc>
                <a:spcPct val="150000"/>
              </a:lnSpc>
            </a:pPr>
            <a:r>
              <a:rPr lang="zh-CN" altLang="zh-CN" sz="1600" dirty="0">
                <a:latin typeface="思源黑体 CN Light" panose="020B0300000000000000" pitchFamily="34" charset="-122"/>
                <a:ea typeface="思源黑体 CN Light" panose="020B0300000000000000" pitchFamily="34" charset="-122"/>
              </a:rPr>
              <a:t>中国共产党来自人民、植根人民，始终坚持一切为了人民、一切依靠人民，得到了最广大人民衷心拥护和坚定支持，这是中国共产党领导力和执政力的广大而深厚的基础。这次抗疫斗争伊始，党中央就号召全党，让党旗在防控疫情斗争第一线高高飘扬，充分体现了中国共产党人的担当和风骨！</a:t>
            </a:r>
            <a:r>
              <a:rPr lang="zh-CN" altLang="zh-CN" sz="1600" dirty="0">
                <a:solidFill>
                  <a:srgbClr val="333333"/>
                </a:solidFill>
                <a:latin typeface="思源黑体 CN Light" panose="020B0300000000000000" pitchFamily="34" charset="-122"/>
                <a:ea typeface="思源黑体 CN Light" panose="020B0300000000000000" pitchFamily="34" charset="-122"/>
                <a:cs typeface="微软雅黑" panose="020B0503020204020204" pitchFamily="34" charset="-122"/>
              </a:rPr>
              <a:t>正是因为有中国共产党领导、有全国各族人民对中国共产党的拥护和支持，中国才能创造出世所罕见的经济快速发展奇迹和社会长期稳定奇迹</a:t>
            </a:r>
            <a:r>
              <a:rPr lang="zh-CN" altLang="en-US" sz="1600" dirty="0">
                <a:solidFill>
                  <a:srgbClr val="333333"/>
                </a:solidFill>
                <a:latin typeface="思源黑体 CN Light" panose="020B0300000000000000" pitchFamily="34" charset="-122"/>
                <a:ea typeface="思源黑体 CN Light" panose="020B0300000000000000" pitchFamily="34" charset="-122"/>
                <a:cs typeface="微软雅黑" panose="020B0503020204020204" pitchFamily="34" charset="-122"/>
              </a:rPr>
              <a:t>。</a:t>
            </a:r>
            <a:endParaRPr lang="zh-CN" altLang="en-US" sz="1600" dirty="0">
              <a:solidFill>
                <a:schemeClr val="accent1"/>
              </a:solidFill>
              <a:latin typeface="思源黑体 CN Light" panose="020B0300000000000000" pitchFamily="34" charset="-122"/>
              <a:ea typeface="思源黑体 CN Light" panose="020B0300000000000000" pitchFamily="34" charset="-122"/>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5780" y="2855188"/>
            <a:ext cx="3785944" cy="3785944"/>
          </a:xfrm>
          <a:prstGeom prst="rect">
            <a:avLst/>
          </a:prstGeom>
        </p:spPr>
      </p:pic>
      <p:grpSp>
        <p:nvGrpSpPr>
          <p:cNvPr id="11" name="组合 10"/>
          <p:cNvGrpSpPr/>
          <p:nvPr/>
        </p:nvGrpSpPr>
        <p:grpSpPr>
          <a:xfrm>
            <a:off x="874713" y="1381758"/>
            <a:ext cx="10442575" cy="874598"/>
            <a:chOff x="874713" y="1341118"/>
            <a:chExt cx="10442575" cy="874598"/>
          </a:xfrm>
        </p:grpSpPr>
        <p:sp>
          <p:nvSpPr>
            <p:cNvPr id="19" name="文本框 18"/>
            <p:cNvSpPr txBox="1"/>
            <p:nvPr/>
          </p:nvSpPr>
          <p:spPr>
            <a:xfrm>
              <a:off x="874713" y="1341118"/>
              <a:ext cx="10301287" cy="874598"/>
            </a:xfrm>
            <a:prstGeom prst="rect">
              <a:avLst/>
            </a:prstGeom>
            <a:noFill/>
          </p:spPr>
          <p:txBody>
            <a:bodyPr wrap="square" rtlCol="0">
              <a:spAutoFit/>
            </a:bodyPr>
            <a:lstStyle/>
            <a:p>
              <a:pPr>
                <a:lnSpc>
                  <a:spcPct val="150000"/>
                </a:lnSpc>
              </a:pPr>
              <a:r>
                <a:rPr lang="zh-CN" altLang="zh-CN" dirty="0">
                  <a:solidFill>
                    <a:srgbClr val="C00000"/>
                  </a:solidFill>
                  <a:latin typeface="思源宋体 CN Heavy" panose="02020900000000000000" pitchFamily="18" charset="-122"/>
                  <a:ea typeface="思源宋体 CN Heavy" panose="02020900000000000000" pitchFamily="18" charset="-122"/>
                </a:rPr>
                <a:t>“物有甘苦，尝之者识；道有夷险，履之者知。”在这场波澜壮阔的抗疫斗争中，我们积累了重要经验，收获了深刻启示。</a:t>
              </a:r>
            </a:p>
          </p:txBody>
        </p:sp>
        <p:sp>
          <p:nvSpPr>
            <p:cNvPr id="10" name="圆角矩形 9"/>
            <p:cNvSpPr/>
            <p:nvPr/>
          </p:nvSpPr>
          <p:spPr>
            <a:xfrm>
              <a:off x="874713" y="1341118"/>
              <a:ext cx="10442575" cy="874598"/>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grpSp>
      <p:pic>
        <p:nvPicPr>
          <p:cNvPr id="27" name="图片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spTree>
    <p:extLst>
      <p:ext uri="{BB962C8B-B14F-4D97-AF65-F5344CB8AC3E}">
        <p14:creationId xmlns:p14="http://schemas.microsoft.com/office/powerpoint/2010/main" val="2988894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5" name="组合 4"/>
          <p:cNvGrpSpPr/>
          <p:nvPr/>
        </p:nvGrpSpPr>
        <p:grpSpPr>
          <a:xfrm>
            <a:off x="874713" y="1412242"/>
            <a:ext cx="10479086" cy="899146"/>
            <a:chOff x="911225" y="1528899"/>
            <a:chExt cx="4396130" cy="537645"/>
          </a:xfrm>
        </p:grpSpPr>
        <p:sp>
          <p:nvSpPr>
            <p:cNvPr id="6" name="圆角矩形 5"/>
            <p:cNvSpPr/>
            <p:nvPr/>
          </p:nvSpPr>
          <p:spPr>
            <a:xfrm>
              <a:off x="911225" y="1559274"/>
              <a:ext cx="4380813" cy="507270"/>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7" name="文本框 6"/>
            <p:cNvSpPr txBox="1"/>
            <p:nvPr/>
          </p:nvSpPr>
          <p:spPr>
            <a:xfrm>
              <a:off x="926542" y="1528899"/>
              <a:ext cx="4380813" cy="526034"/>
            </a:xfrm>
            <a:prstGeom prst="rect">
              <a:avLst/>
            </a:prstGeom>
            <a:noFill/>
          </p:spPr>
          <p:txBody>
            <a:bodyPr wrap="square" rtlCol="0">
              <a:spAutoFit/>
            </a:bodyPr>
            <a:lstStyle/>
            <a:p>
              <a:pPr algn="ctr">
                <a:lnSpc>
                  <a:spcPct val="150000"/>
                </a:lnSpc>
              </a:pPr>
              <a:r>
                <a:rPr lang="zh-CN" altLang="zh-CN" dirty="0">
                  <a:solidFill>
                    <a:schemeClr val="bg1"/>
                  </a:solidFill>
                  <a:latin typeface="思源宋体 CN Heavy" panose="02020900000000000000" pitchFamily="18" charset="-122"/>
                  <a:ea typeface="思源宋体 CN Heavy" panose="02020900000000000000" pitchFamily="18" charset="-122"/>
                </a:rPr>
                <a:t>抗疫斗争伟大实践再次证明，中国人民所具有的不屈不挠的意志力，是战胜前进道路上一切艰难险阻的力量源泉</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2" name="矩形 1"/>
          <p:cNvSpPr/>
          <p:nvPr/>
        </p:nvSpPr>
        <p:spPr>
          <a:xfrm>
            <a:off x="668821" y="3047065"/>
            <a:ext cx="6399847" cy="2951898"/>
          </a:xfrm>
          <a:prstGeom prst="rect">
            <a:avLst/>
          </a:prstGeom>
        </p:spPr>
        <p:txBody>
          <a:bodyPr wrap="square">
            <a:spAutoFit/>
          </a:bodyPr>
          <a:lstStyle/>
          <a:p>
            <a:pPr algn="just">
              <a:lnSpc>
                <a:spcPct val="150000"/>
              </a:lnSpc>
              <a:spcBef>
                <a:spcPts val="1500"/>
              </a:spcBef>
              <a:spcAft>
                <a:spcPts val="0"/>
              </a:spcAft>
            </a:pPr>
            <a:r>
              <a:rPr lang="zh-CN" altLang="zh-CN" dirty="0">
                <a:solidFill>
                  <a:srgbClr val="333333"/>
                </a:solidFill>
                <a:latin typeface="思源黑体 CN Light" panose="020B0300000000000000" pitchFamily="34" charset="-122"/>
                <a:ea typeface="思源黑体 CN Light" panose="020B0300000000000000" pitchFamily="34" charset="-122"/>
                <a:cs typeface="微软雅黑" panose="020B0503020204020204" pitchFamily="34" charset="-122"/>
              </a:rPr>
              <a:t>正是因为中国人民经千难而前仆后继，历万险而锲而不舍，我们才能在列强侵略时顽强抗争，在山河破碎时浴血奋战，在一穷二白时发愤图强，在时代发展时与时俱进，中华民族才能始终屹立于世界民族之林。历史和现实都告诉我们，只要紧紧依靠人民、一切为了人民，充分激发广大人民顽强不屈的意志和坚忍不拔的毅力，我们就一定能够使最广大人民紧密团结在一起，不断创造中华民族新的历史辉煌。</a:t>
            </a:r>
            <a:endParaRPr lang="zh-CN" altLang="zh-CN" dirty="0">
              <a:effectLst/>
              <a:latin typeface="思源黑体 CN Light" panose="020B0300000000000000" pitchFamily="34" charset="-122"/>
              <a:ea typeface="思源黑体 CN Light" panose="020B0300000000000000" pitchFamily="34" charset="-122"/>
              <a:cs typeface="宋体" panose="02010600030101010101" pitchFamily="2" charset="-122"/>
            </a:endParaRPr>
          </a:p>
        </p:txBody>
      </p:sp>
      <p:sp>
        <p:nvSpPr>
          <p:cNvPr id="3" name="矩形 2"/>
          <p:cNvSpPr/>
          <p:nvPr/>
        </p:nvSpPr>
        <p:spPr>
          <a:xfrm>
            <a:off x="874712" y="2412986"/>
            <a:ext cx="4570482" cy="455253"/>
          </a:xfrm>
          <a:prstGeom prst="rect">
            <a:avLst/>
          </a:prstGeom>
        </p:spPr>
        <p:txBody>
          <a:bodyPr wrap="none">
            <a:spAutoFit/>
          </a:bodyPr>
          <a:lstStyle/>
          <a:p>
            <a:pPr algn="just">
              <a:lnSpc>
                <a:spcPts val="3150"/>
              </a:lnSpc>
              <a:spcBef>
                <a:spcPts val="1500"/>
              </a:spcBef>
              <a:spcAft>
                <a:spcPts val="0"/>
              </a:spcAft>
            </a:pPr>
            <a:r>
              <a:rPr lang="zh-CN" altLang="zh-CN" dirty="0">
                <a:solidFill>
                  <a:srgbClr val="C00000"/>
                </a:solidFill>
                <a:latin typeface="思源宋体 CN Heavy" panose="02020900000000000000" pitchFamily="18" charset="-122"/>
                <a:ea typeface="思源宋体 CN Heavy" panose="02020900000000000000" pitchFamily="18" charset="-122"/>
                <a:cs typeface="微软雅黑" panose="020B0503020204020204" pitchFamily="34" charset="-122"/>
              </a:rPr>
              <a:t>苦难考验了中国人民，也锻炼了中国人民。</a:t>
            </a:r>
            <a:endParaRPr lang="en-US" altLang="zh-CN" dirty="0">
              <a:solidFill>
                <a:srgbClr val="C00000"/>
              </a:solidFill>
              <a:latin typeface="思源宋体 CN Heavy" panose="02020900000000000000" pitchFamily="18" charset="-122"/>
              <a:ea typeface="思源宋体 CN Heavy" panose="02020900000000000000" pitchFamily="18" charset="-122"/>
              <a:cs typeface="微软雅黑" panose="020B0503020204020204" pitchFamily="34" charset="-122"/>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5906" y="3047065"/>
            <a:ext cx="3921382" cy="2782570"/>
          </a:xfrm>
          <a:prstGeom prst="rect">
            <a:avLst/>
          </a:prstGeom>
        </p:spPr>
      </p:pic>
    </p:spTree>
    <p:extLst>
      <p:ext uri="{BB962C8B-B14F-4D97-AF65-F5344CB8AC3E}">
        <p14:creationId xmlns:p14="http://schemas.microsoft.com/office/powerpoint/2010/main" val="925689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5" name="组合 4"/>
          <p:cNvGrpSpPr/>
          <p:nvPr/>
        </p:nvGrpSpPr>
        <p:grpSpPr>
          <a:xfrm>
            <a:off x="874713" y="1412242"/>
            <a:ext cx="10479086" cy="899146"/>
            <a:chOff x="911225" y="1528899"/>
            <a:chExt cx="4396130" cy="537645"/>
          </a:xfrm>
        </p:grpSpPr>
        <p:sp>
          <p:nvSpPr>
            <p:cNvPr id="6" name="圆角矩形 5"/>
            <p:cNvSpPr/>
            <p:nvPr/>
          </p:nvSpPr>
          <p:spPr>
            <a:xfrm>
              <a:off x="911225" y="1559274"/>
              <a:ext cx="4380813" cy="507270"/>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7" name="文本框 6"/>
            <p:cNvSpPr txBox="1"/>
            <p:nvPr/>
          </p:nvSpPr>
          <p:spPr>
            <a:xfrm>
              <a:off x="926542" y="1528899"/>
              <a:ext cx="4380813" cy="526034"/>
            </a:xfrm>
            <a:prstGeom prst="rect">
              <a:avLst/>
            </a:prstGeom>
            <a:noFill/>
          </p:spPr>
          <p:txBody>
            <a:bodyPr wrap="square" rtlCol="0">
              <a:spAutoFit/>
            </a:bodyPr>
            <a:lstStyle/>
            <a:p>
              <a:pPr algn="ctr">
                <a:lnSpc>
                  <a:spcPct val="150000"/>
                </a:lnSpc>
              </a:pPr>
              <a:r>
                <a:rPr lang="zh-CN" altLang="zh-CN" dirty="0">
                  <a:solidFill>
                    <a:schemeClr val="bg1"/>
                  </a:solidFill>
                  <a:latin typeface="思源宋体 CN Heavy" panose="02020900000000000000" pitchFamily="18" charset="-122"/>
                  <a:ea typeface="思源宋体 CN Heavy" panose="02020900000000000000" pitchFamily="18" charset="-122"/>
                </a:rPr>
                <a:t>抗疫斗争伟大实践再次证明，中国特色社会主义制度所具有的显著优势，是抵御风险挑战、提高国家治理效能的根本保证</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2" name="矩形 1"/>
          <p:cNvSpPr/>
          <p:nvPr/>
        </p:nvSpPr>
        <p:spPr>
          <a:xfrm>
            <a:off x="1178414" y="4685288"/>
            <a:ext cx="9835172" cy="1569660"/>
          </a:xfrm>
          <a:prstGeom prst="rect">
            <a:avLst/>
          </a:prstGeom>
        </p:spPr>
        <p:txBody>
          <a:bodyPr wrap="square">
            <a:spAutoFit/>
          </a:bodyPr>
          <a:lstStyle/>
          <a:p>
            <a:pPr algn="just">
              <a:lnSpc>
                <a:spcPct val="150000"/>
              </a:lnSpc>
            </a:pPr>
            <a:r>
              <a:rPr lang="zh-CN" altLang="zh-CN" sz="1600" dirty="0">
                <a:latin typeface="思源黑体 CN Light" panose="020B0300000000000000" pitchFamily="34" charset="-122"/>
                <a:ea typeface="思源黑体 CN Light" panose="020B0300000000000000" pitchFamily="34" charset="-122"/>
              </a:rPr>
              <a:t>我国社会主义制度具有非凡的组织动员能力、统筹协调能力、贯彻执行能力，能够充分发挥集中力量办大事、办难事、办急事的独特优势，这次抗疫斗争有力彰显了我国国家制度和国家治理体系的优越性。历史和现实都告诉我们，只要坚持和完善中国特色社会主义制度、推进国家治理体系和治理能力现代化，善于运用制度力量应对风险挑战冲击，我们就一定能够经受住一次次压力测试，不断化危为机、浴火重生。</a:t>
            </a:r>
          </a:p>
        </p:txBody>
      </p:sp>
      <p:grpSp>
        <p:nvGrpSpPr>
          <p:cNvPr id="10" name="组合 9"/>
          <p:cNvGrpSpPr/>
          <p:nvPr/>
        </p:nvGrpSpPr>
        <p:grpSpPr>
          <a:xfrm>
            <a:off x="2348978" y="2459881"/>
            <a:ext cx="2038077" cy="2038077"/>
            <a:chOff x="1919575" y="3180754"/>
            <a:chExt cx="2038077" cy="2038077"/>
          </a:xfrm>
        </p:grpSpPr>
        <p:sp>
          <p:nvSpPr>
            <p:cNvPr id="9" name="椭圆 8"/>
            <p:cNvSpPr/>
            <p:nvPr/>
          </p:nvSpPr>
          <p:spPr>
            <a:xfrm>
              <a:off x="1919575" y="3180754"/>
              <a:ext cx="2038077" cy="203807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4" name="矩形 3"/>
            <p:cNvSpPr/>
            <p:nvPr/>
          </p:nvSpPr>
          <p:spPr>
            <a:xfrm>
              <a:off x="1982908" y="3582501"/>
              <a:ext cx="1911410" cy="1290097"/>
            </a:xfrm>
            <a:prstGeom prst="rect">
              <a:avLst/>
            </a:prstGeom>
          </p:spPr>
          <p:txBody>
            <a:bodyPr wrap="square">
              <a:spAutoFit/>
            </a:bodyPr>
            <a:lstStyle/>
            <a:p>
              <a:pPr algn="ctr">
                <a:lnSpc>
                  <a:spcPct val="150000"/>
                </a:lnSpc>
              </a:pPr>
              <a:r>
                <a:rPr lang="zh-CN" altLang="zh-CN" dirty="0">
                  <a:solidFill>
                    <a:schemeClr val="bg1"/>
                  </a:solidFill>
                  <a:latin typeface="思源宋体 CN Heavy" panose="02020900000000000000" pitchFamily="18" charset="-122"/>
                  <a:ea typeface="思源宋体 CN Heavy" panose="02020900000000000000" pitchFamily="18" charset="-122"/>
                </a:rPr>
                <a:t>衡量一个国家的制度是否成功、是否优越</a:t>
              </a:r>
              <a:endParaRPr lang="zh-CN" altLang="en-US" dirty="0">
                <a:solidFill>
                  <a:schemeClr val="bg1"/>
                </a:solidFill>
                <a:latin typeface="思源宋体 CN Heavy" panose="02020900000000000000" pitchFamily="18" charset="-122"/>
                <a:ea typeface="思源宋体 CN Heavy" panose="02020900000000000000" pitchFamily="18" charset="-122"/>
              </a:endParaRPr>
            </a:p>
          </p:txBody>
        </p:sp>
      </p:grpSp>
      <p:sp>
        <p:nvSpPr>
          <p:cNvPr id="11" name="右箭头 10"/>
          <p:cNvSpPr/>
          <p:nvPr/>
        </p:nvSpPr>
        <p:spPr>
          <a:xfrm>
            <a:off x="5056841" y="3102292"/>
            <a:ext cx="1377633" cy="68580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grpSp>
        <p:nvGrpSpPr>
          <p:cNvPr id="19" name="组合 18"/>
          <p:cNvGrpSpPr/>
          <p:nvPr/>
        </p:nvGrpSpPr>
        <p:grpSpPr>
          <a:xfrm>
            <a:off x="7142480" y="2615244"/>
            <a:ext cx="2550160" cy="637067"/>
            <a:chOff x="7142480" y="2816583"/>
            <a:chExt cx="2550160" cy="637067"/>
          </a:xfrm>
        </p:grpSpPr>
        <p:sp>
          <p:nvSpPr>
            <p:cNvPr id="13" name="圆角矩形 12"/>
            <p:cNvSpPr/>
            <p:nvPr/>
          </p:nvSpPr>
          <p:spPr>
            <a:xfrm>
              <a:off x="7142480" y="2816583"/>
              <a:ext cx="2550160" cy="63706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18" name="矩形 17"/>
            <p:cNvSpPr/>
            <p:nvPr/>
          </p:nvSpPr>
          <p:spPr>
            <a:xfrm>
              <a:off x="7812266" y="2959428"/>
              <a:ext cx="1210588" cy="400110"/>
            </a:xfrm>
            <a:prstGeom prst="rect">
              <a:avLst/>
            </a:prstGeom>
          </p:spPr>
          <p:txBody>
            <a:bodyPr wrap="none">
              <a:spAutoFit/>
            </a:bodyPr>
            <a:lstStyle/>
            <a:p>
              <a:r>
                <a:rPr lang="zh-CN" altLang="zh-CN" sz="2000" dirty="0">
                  <a:solidFill>
                    <a:schemeClr val="bg1"/>
                  </a:solidFill>
                  <a:latin typeface="思源宋体 CN Heavy" panose="02020900000000000000" pitchFamily="18" charset="-122"/>
                  <a:ea typeface="思源宋体 CN Heavy" panose="02020900000000000000" pitchFamily="18" charset="-122"/>
                </a:rPr>
                <a:t>号令四面</a:t>
              </a:r>
              <a:endParaRPr lang="zh-CN" altLang="en-US" sz="2000" dirty="0">
                <a:solidFill>
                  <a:schemeClr val="bg1"/>
                </a:solidFill>
                <a:latin typeface="思源宋体 CN Heavy" panose="02020900000000000000" pitchFamily="18" charset="-122"/>
                <a:ea typeface="思源宋体 CN Heavy" panose="02020900000000000000" pitchFamily="18" charset="-122"/>
              </a:endParaRPr>
            </a:p>
          </p:txBody>
        </p:sp>
      </p:grpSp>
      <p:grpSp>
        <p:nvGrpSpPr>
          <p:cNvPr id="20" name="组合 19"/>
          <p:cNvGrpSpPr/>
          <p:nvPr/>
        </p:nvGrpSpPr>
        <p:grpSpPr>
          <a:xfrm>
            <a:off x="7142480" y="3662747"/>
            <a:ext cx="2550160" cy="637067"/>
            <a:chOff x="7142480" y="2816583"/>
            <a:chExt cx="2550160" cy="637067"/>
          </a:xfrm>
        </p:grpSpPr>
        <p:sp>
          <p:nvSpPr>
            <p:cNvPr id="21" name="圆角矩形 20"/>
            <p:cNvSpPr/>
            <p:nvPr/>
          </p:nvSpPr>
          <p:spPr>
            <a:xfrm>
              <a:off x="7142480" y="2816583"/>
              <a:ext cx="2550160" cy="63706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22" name="矩形 21"/>
            <p:cNvSpPr/>
            <p:nvPr/>
          </p:nvSpPr>
          <p:spPr>
            <a:xfrm>
              <a:off x="7812266" y="2959428"/>
              <a:ext cx="1210588" cy="400110"/>
            </a:xfrm>
            <a:prstGeom prst="rect">
              <a:avLst/>
            </a:prstGeom>
          </p:spPr>
          <p:txBody>
            <a:bodyPr wrap="none">
              <a:spAutoFit/>
            </a:bodyPr>
            <a:lstStyle/>
            <a:p>
              <a:r>
                <a:rPr lang="zh-CN" altLang="en-US" sz="2000" dirty="0">
                  <a:solidFill>
                    <a:schemeClr val="bg1"/>
                  </a:solidFill>
                  <a:latin typeface="思源宋体 CN Heavy" panose="02020900000000000000" pitchFamily="18" charset="-122"/>
                  <a:ea typeface="思源宋体 CN Heavy" panose="02020900000000000000" pitchFamily="18" charset="-122"/>
                </a:rPr>
                <a:t>组织八方</a:t>
              </a:r>
            </a:p>
          </p:txBody>
        </p:sp>
      </p:grpSp>
    </p:spTree>
    <p:extLst>
      <p:ext uri="{BB962C8B-B14F-4D97-AF65-F5344CB8AC3E}">
        <p14:creationId xmlns:p14="http://schemas.microsoft.com/office/powerpoint/2010/main" val="1642533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29635"/>
            <a:ext cx="12192000" cy="1040335"/>
          </a:xfrm>
          <a:prstGeom prst="rect">
            <a:avLst/>
          </a:prstGeom>
        </p:spPr>
      </p:pic>
      <p:grpSp>
        <p:nvGrpSpPr>
          <p:cNvPr id="5" name="组合 4"/>
          <p:cNvGrpSpPr/>
          <p:nvPr/>
        </p:nvGrpSpPr>
        <p:grpSpPr>
          <a:xfrm>
            <a:off x="874713" y="1589224"/>
            <a:ext cx="10479086" cy="899146"/>
            <a:chOff x="911225" y="1528899"/>
            <a:chExt cx="4396130" cy="537645"/>
          </a:xfrm>
        </p:grpSpPr>
        <p:sp>
          <p:nvSpPr>
            <p:cNvPr id="6" name="圆角矩形 5"/>
            <p:cNvSpPr/>
            <p:nvPr/>
          </p:nvSpPr>
          <p:spPr>
            <a:xfrm>
              <a:off x="911225" y="1559274"/>
              <a:ext cx="4380813" cy="507270"/>
            </a:xfrm>
            <a:prstGeom prst="roundRect">
              <a:avLst/>
            </a:prstGeom>
            <a:solidFill>
              <a:srgbClr val="C4190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7" name="文本框 6"/>
            <p:cNvSpPr txBox="1"/>
            <p:nvPr/>
          </p:nvSpPr>
          <p:spPr>
            <a:xfrm>
              <a:off x="926542" y="1528899"/>
              <a:ext cx="4380813" cy="526034"/>
            </a:xfrm>
            <a:prstGeom prst="rect">
              <a:avLst/>
            </a:prstGeom>
            <a:noFill/>
          </p:spPr>
          <p:txBody>
            <a:bodyPr wrap="square" rtlCol="0">
              <a:spAutoFit/>
            </a:bodyPr>
            <a:lstStyle/>
            <a:p>
              <a:pPr algn="ctr">
                <a:lnSpc>
                  <a:spcPct val="150000"/>
                </a:lnSpc>
              </a:pPr>
              <a:r>
                <a:rPr lang="zh-CN" altLang="zh-CN" dirty="0">
                  <a:solidFill>
                    <a:schemeClr val="bg1"/>
                  </a:solidFill>
                  <a:latin typeface="思源宋体 CN Heavy" panose="02020900000000000000" pitchFamily="18" charset="-122"/>
                  <a:ea typeface="思源宋体 CN Heavy" panose="02020900000000000000" pitchFamily="18" charset="-122"/>
                </a:rPr>
                <a:t>抗疫斗争伟大实践再次证明，构建人类命运共同体所具有的广泛感召力，是应对人类共同挑战、建设更加繁荣美好世界的人间正道</a:t>
              </a:r>
              <a:endParaRPr lang="zh-CN" altLang="en-US" sz="2400" dirty="0">
                <a:solidFill>
                  <a:schemeClr val="bg1"/>
                </a:solidFill>
                <a:latin typeface="思源宋体 CN Heavy" panose="02020900000000000000" pitchFamily="18" charset="-122"/>
                <a:ea typeface="思源宋体 CN Heavy" panose="02020900000000000000" pitchFamily="18" charset="-122"/>
              </a:endParaRPr>
            </a:p>
          </p:txBody>
        </p:sp>
      </p:grpSp>
      <p:sp>
        <p:nvSpPr>
          <p:cNvPr id="2" name="矩形 1"/>
          <p:cNvSpPr/>
          <p:nvPr/>
        </p:nvSpPr>
        <p:spPr>
          <a:xfrm>
            <a:off x="1129259" y="3028086"/>
            <a:ext cx="6573941" cy="2120902"/>
          </a:xfrm>
          <a:prstGeom prst="rect">
            <a:avLst/>
          </a:prstGeom>
        </p:spPr>
        <p:txBody>
          <a:bodyPr wrap="square">
            <a:spAutoFit/>
          </a:bodyPr>
          <a:lstStyle/>
          <a:p>
            <a:pPr algn="just">
              <a:lnSpc>
                <a:spcPct val="150000"/>
              </a:lnSpc>
            </a:pPr>
            <a:r>
              <a:rPr lang="zh-CN" altLang="zh-CN" dirty="0">
                <a:latin typeface="思源黑体 CN Light" panose="020B0300000000000000" pitchFamily="34" charset="-122"/>
                <a:ea typeface="思源黑体 CN Light" panose="020B0300000000000000" pitchFamily="34" charset="-122"/>
              </a:rPr>
              <a:t>新冠肺炎疫情以一种特殊形式告诫世人，人类是荣辱与共的命运共同体，重大危机面前没有任何一个国家可以独善其身，团结合作才是人间正道。只要国际社会秉持人类命运共同体理念，坚持多边主义、走团结合作之路，世界各国人民就一定能够携手应对各种全球性问题，共建美好地球家园。</a:t>
            </a:r>
          </a:p>
        </p:txBody>
      </p:sp>
      <p:sp>
        <p:nvSpPr>
          <p:cNvPr id="23" name="圆角矩形 22"/>
          <p:cNvSpPr/>
          <p:nvPr/>
        </p:nvSpPr>
        <p:spPr>
          <a:xfrm>
            <a:off x="911224" y="2881769"/>
            <a:ext cx="10479086" cy="2727397"/>
          </a:xfrm>
          <a:prstGeom prst="roundRect">
            <a:avLst>
              <a:gd name="adj" fmla="val 7065"/>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字魂58号-创中黑" panose="00000500000000000000" pitchFamily="2" charset="-122"/>
              <a:ea typeface="字魂58号-创中黑" panose="00000500000000000000" pitchFamily="2" charset="-122"/>
            </a:endParaRPr>
          </a:p>
        </p:txBody>
      </p:sp>
      <p:sp>
        <p:nvSpPr>
          <p:cNvPr id="24" name="recycle_360332"/>
          <p:cNvSpPr>
            <a:spLocks noChangeAspect="1"/>
          </p:cNvSpPr>
          <p:nvPr/>
        </p:nvSpPr>
        <p:spPr bwMode="auto">
          <a:xfrm>
            <a:off x="8308795" y="3075714"/>
            <a:ext cx="2343643" cy="2339506"/>
          </a:xfrm>
          <a:custGeom>
            <a:avLst/>
            <a:gdLst>
              <a:gd name="connsiteX0" fmla="*/ 579487 w 607607"/>
              <a:gd name="connsiteY0" fmla="*/ 232164 h 606535"/>
              <a:gd name="connsiteX1" fmla="*/ 602628 w 607607"/>
              <a:gd name="connsiteY1" fmla="*/ 248074 h 606535"/>
              <a:gd name="connsiteX2" fmla="*/ 518696 w 607607"/>
              <a:gd name="connsiteY2" fmla="*/ 517742 h 606535"/>
              <a:gd name="connsiteX3" fmla="*/ 303749 w 607607"/>
              <a:gd name="connsiteY3" fmla="*/ 606535 h 606535"/>
              <a:gd name="connsiteX4" fmla="*/ 103577 w 607607"/>
              <a:gd name="connsiteY4" fmla="*/ 530985 h 606535"/>
              <a:gd name="connsiteX5" fmla="*/ 74828 w 607607"/>
              <a:gd name="connsiteY5" fmla="*/ 559694 h 606535"/>
              <a:gd name="connsiteX6" fmla="*/ 55247 w 607607"/>
              <a:gd name="connsiteY6" fmla="*/ 564761 h 606535"/>
              <a:gd name="connsiteX7" fmla="*/ 41451 w 607607"/>
              <a:gd name="connsiteY7" fmla="*/ 549917 h 606535"/>
              <a:gd name="connsiteX8" fmla="*/ 18132 w 607607"/>
              <a:gd name="connsiteY8" fmla="*/ 442637 h 606535"/>
              <a:gd name="connsiteX9" fmla="*/ 23472 w 607607"/>
              <a:gd name="connsiteY9" fmla="*/ 424416 h 606535"/>
              <a:gd name="connsiteX10" fmla="*/ 41718 w 607607"/>
              <a:gd name="connsiteY10" fmla="*/ 419083 h 606535"/>
              <a:gd name="connsiteX11" fmla="*/ 149147 w 607607"/>
              <a:gd name="connsiteY11" fmla="*/ 442370 h 606535"/>
              <a:gd name="connsiteX12" fmla="*/ 163922 w 607607"/>
              <a:gd name="connsiteY12" fmla="*/ 456147 h 606535"/>
              <a:gd name="connsiteX13" fmla="*/ 158938 w 607607"/>
              <a:gd name="connsiteY13" fmla="*/ 475790 h 606535"/>
              <a:gd name="connsiteX14" fmla="*/ 131613 w 607607"/>
              <a:gd name="connsiteY14" fmla="*/ 503076 h 606535"/>
              <a:gd name="connsiteX15" fmla="*/ 303749 w 607607"/>
              <a:gd name="connsiteY15" fmla="*/ 566894 h 606535"/>
              <a:gd name="connsiteX16" fmla="*/ 490660 w 607607"/>
              <a:gd name="connsiteY16" fmla="*/ 489744 h 606535"/>
              <a:gd name="connsiteX17" fmla="*/ 563555 w 607607"/>
              <a:gd name="connsiteY17" fmla="*/ 255274 h 606535"/>
              <a:gd name="connsiteX18" fmla="*/ 579487 w 607607"/>
              <a:gd name="connsiteY18" fmla="*/ 232164 h 606535"/>
              <a:gd name="connsiteX19" fmla="*/ 303497 w 607607"/>
              <a:gd name="connsiteY19" fmla="*/ 184412 h 606535"/>
              <a:gd name="connsiteX20" fmla="*/ 323343 w 607607"/>
              <a:gd name="connsiteY20" fmla="*/ 204228 h 606535"/>
              <a:gd name="connsiteX21" fmla="*/ 323343 w 607607"/>
              <a:gd name="connsiteY21" fmla="*/ 266430 h 606535"/>
              <a:gd name="connsiteX22" fmla="*/ 361969 w 607607"/>
              <a:gd name="connsiteY22" fmla="*/ 232308 h 606535"/>
              <a:gd name="connsiteX23" fmla="*/ 439398 w 607607"/>
              <a:gd name="connsiteY23" fmla="*/ 231153 h 606535"/>
              <a:gd name="connsiteX24" fmla="*/ 467077 w 607607"/>
              <a:gd name="connsiteY24" fmla="*/ 244659 h 606535"/>
              <a:gd name="connsiteX25" fmla="*/ 470281 w 607607"/>
              <a:gd name="connsiteY25" fmla="*/ 251501 h 606535"/>
              <a:gd name="connsiteX26" fmla="*/ 412165 w 607607"/>
              <a:gd name="connsiteY26" fmla="*/ 339917 h 606535"/>
              <a:gd name="connsiteX27" fmla="*/ 335091 w 607607"/>
              <a:gd name="connsiteY27" fmla="*/ 341250 h 606535"/>
              <a:gd name="connsiteX28" fmla="*/ 323343 w 607607"/>
              <a:gd name="connsiteY28" fmla="*/ 336096 h 606535"/>
              <a:gd name="connsiteX29" fmla="*/ 323343 w 607607"/>
              <a:gd name="connsiteY29" fmla="*/ 428511 h 606535"/>
              <a:gd name="connsiteX30" fmla="*/ 303497 w 607607"/>
              <a:gd name="connsiteY30" fmla="*/ 448327 h 606535"/>
              <a:gd name="connsiteX31" fmla="*/ 283739 w 607607"/>
              <a:gd name="connsiteY31" fmla="*/ 428511 h 606535"/>
              <a:gd name="connsiteX32" fmla="*/ 283739 w 607607"/>
              <a:gd name="connsiteY32" fmla="*/ 335919 h 606535"/>
              <a:gd name="connsiteX33" fmla="*/ 271368 w 607607"/>
              <a:gd name="connsiteY33" fmla="*/ 341250 h 606535"/>
              <a:gd name="connsiteX34" fmla="*/ 194294 w 607607"/>
              <a:gd name="connsiteY34" fmla="*/ 339917 h 606535"/>
              <a:gd name="connsiteX35" fmla="*/ 136178 w 607607"/>
              <a:gd name="connsiteY35" fmla="*/ 251501 h 606535"/>
              <a:gd name="connsiteX36" fmla="*/ 139382 w 607607"/>
              <a:gd name="connsiteY36" fmla="*/ 244659 h 606535"/>
              <a:gd name="connsiteX37" fmla="*/ 167150 w 607607"/>
              <a:gd name="connsiteY37" fmla="*/ 231153 h 606535"/>
              <a:gd name="connsiteX38" fmla="*/ 244579 w 607607"/>
              <a:gd name="connsiteY38" fmla="*/ 232308 h 606535"/>
              <a:gd name="connsiteX39" fmla="*/ 283739 w 607607"/>
              <a:gd name="connsiteY39" fmla="*/ 267141 h 606535"/>
              <a:gd name="connsiteX40" fmla="*/ 283739 w 607607"/>
              <a:gd name="connsiteY40" fmla="*/ 204228 h 606535"/>
              <a:gd name="connsiteX41" fmla="*/ 303497 w 607607"/>
              <a:gd name="connsiteY41" fmla="*/ 184412 h 606535"/>
              <a:gd name="connsiteX42" fmla="*/ 294390 w 607607"/>
              <a:gd name="connsiteY42" fmla="*/ 133 h 606535"/>
              <a:gd name="connsiteX43" fmla="*/ 503941 w 607607"/>
              <a:gd name="connsiteY43" fmla="*/ 75249 h 606535"/>
              <a:gd name="connsiteX44" fmla="*/ 532690 w 607607"/>
              <a:gd name="connsiteY44" fmla="*/ 46545 h 606535"/>
              <a:gd name="connsiteX45" fmla="*/ 566067 w 607607"/>
              <a:gd name="connsiteY45" fmla="*/ 56320 h 606535"/>
              <a:gd name="connsiteX46" fmla="*/ 589475 w 607607"/>
              <a:gd name="connsiteY46" fmla="*/ 163673 h 606535"/>
              <a:gd name="connsiteX47" fmla="*/ 584135 w 607607"/>
              <a:gd name="connsiteY47" fmla="*/ 181891 h 606535"/>
              <a:gd name="connsiteX48" fmla="*/ 565889 w 607607"/>
              <a:gd name="connsiteY48" fmla="*/ 187223 h 606535"/>
              <a:gd name="connsiteX49" fmla="*/ 458460 w 607607"/>
              <a:gd name="connsiteY49" fmla="*/ 163851 h 606535"/>
              <a:gd name="connsiteX50" fmla="*/ 448669 w 607607"/>
              <a:gd name="connsiteY50" fmla="*/ 130525 h 606535"/>
              <a:gd name="connsiteX51" fmla="*/ 475994 w 607607"/>
              <a:gd name="connsiteY51" fmla="*/ 103243 h 606535"/>
              <a:gd name="connsiteX52" fmla="*/ 303769 w 607607"/>
              <a:gd name="connsiteY52" fmla="*/ 39346 h 606535"/>
              <a:gd name="connsiteX53" fmla="*/ 116947 w 607607"/>
              <a:gd name="connsiteY53" fmla="*/ 116573 h 606535"/>
              <a:gd name="connsiteX54" fmla="*/ 43963 w 607607"/>
              <a:gd name="connsiteY54" fmla="*/ 351007 h 606535"/>
              <a:gd name="connsiteX55" fmla="*/ 28031 w 607607"/>
              <a:gd name="connsiteY55" fmla="*/ 374024 h 606535"/>
              <a:gd name="connsiteX56" fmla="*/ 4979 w 607607"/>
              <a:gd name="connsiteY56" fmla="*/ 358117 h 606535"/>
              <a:gd name="connsiteX57" fmla="*/ 88911 w 607607"/>
              <a:gd name="connsiteY57" fmla="*/ 88579 h 606535"/>
              <a:gd name="connsiteX58" fmla="*/ 294390 w 607607"/>
              <a:gd name="connsiteY58" fmla="*/ 133 h 606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7607" h="606535">
                <a:moveTo>
                  <a:pt x="579487" y="232164"/>
                </a:moveTo>
                <a:cubicBezTo>
                  <a:pt x="590167" y="230209"/>
                  <a:pt x="600581" y="237320"/>
                  <a:pt x="602628" y="248074"/>
                </a:cubicBezTo>
                <a:cubicBezTo>
                  <a:pt x="620607" y="346467"/>
                  <a:pt x="589277" y="447259"/>
                  <a:pt x="518696" y="517742"/>
                </a:cubicBezTo>
                <a:cubicBezTo>
                  <a:pt x="459419" y="576937"/>
                  <a:pt x="381629" y="606535"/>
                  <a:pt x="303749" y="606535"/>
                </a:cubicBezTo>
                <a:cubicBezTo>
                  <a:pt x="232189" y="606535"/>
                  <a:pt x="160718" y="581115"/>
                  <a:pt x="103577" y="530985"/>
                </a:cubicBezTo>
                <a:lnTo>
                  <a:pt x="74828" y="559694"/>
                </a:lnTo>
                <a:cubicBezTo>
                  <a:pt x="69844" y="564761"/>
                  <a:pt x="62368" y="566805"/>
                  <a:pt x="55247" y="564761"/>
                </a:cubicBezTo>
                <a:cubicBezTo>
                  <a:pt x="48305" y="562716"/>
                  <a:pt x="42964" y="557028"/>
                  <a:pt x="41451" y="549917"/>
                </a:cubicBezTo>
                <a:lnTo>
                  <a:pt x="18132" y="442637"/>
                </a:lnTo>
                <a:cubicBezTo>
                  <a:pt x="16708" y="436059"/>
                  <a:pt x="18666" y="429216"/>
                  <a:pt x="23472" y="424416"/>
                </a:cubicBezTo>
                <a:cubicBezTo>
                  <a:pt x="28190" y="419616"/>
                  <a:pt x="35043" y="417661"/>
                  <a:pt x="41718" y="419083"/>
                </a:cubicBezTo>
                <a:lnTo>
                  <a:pt x="149147" y="442370"/>
                </a:lnTo>
                <a:cubicBezTo>
                  <a:pt x="156268" y="443970"/>
                  <a:pt x="161875" y="449214"/>
                  <a:pt x="163922" y="456147"/>
                </a:cubicBezTo>
                <a:cubicBezTo>
                  <a:pt x="165969" y="463168"/>
                  <a:pt x="164100" y="470635"/>
                  <a:pt x="158938" y="475790"/>
                </a:cubicBezTo>
                <a:lnTo>
                  <a:pt x="131613" y="503076"/>
                </a:lnTo>
                <a:cubicBezTo>
                  <a:pt x="179409" y="544229"/>
                  <a:pt x="239755" y="566894"/>
                  <a:pt x="303749" y="566894"/>
                </a:cubicBezTo>
                <a:cubicBezTo>
                  <a:pt x="374419" y="566894"/>
                  <a:pt x="440817" y="539518"/>
                  <a:pt x="490660" y="489744"/>
                </a:cubicBezTo>
                <a:cubicBezTo>
                  <a:pt x="551984" y="428505"/>
                  <a:pt x="579309" y="340778"/>
                  <a:pt x="563555" y="255274"/>
                </a:cubicBezTo>
                <a:cubicBezTo>
                  <a:pt x="561597" y="244519"/>
                  <a:pt x="568717" y="234209"/>
                  <a:pt x="579487" y="232164"/>
                </a:cubicBezTo>
                <a:close/>
                <a:moveTo>
                  <a:pt x="303497" y="184412"/>
                </a:moveTo>
                <a:cubicBezTo>
                  <a:pt x="314443" y="184412"/>
                  <a:pt x="323343" y="193298"/>
                  <a:pt x="323343" y="204228"/>
                </a:cubicBezTo>
                <a:lnTo>
                  <a:pt x="323343" y="266430"/>
                </a:lnTo>
                <a:cubicBezTo>
                  <a:pt x="333222" y="251324"/>
                  <a:pt x="346216" y="239683"/>
                  <a:pt x="361969" y="232308"/>
                </a:cubicBezTo>
                <a:cubicBezTo>
                  <a:pt x="385287" y="221644"/>
                  <a:pt x="412165" y="221289"/>
                  <a:pt x="439398" y="231153"/>
                </a:cubicBezTo>
                <a:cubicBezTo>
                  <a:pt x="448654" y="234529"/>
                  <a:pt x="457910" y="239061"/>
                  <a:pt x="467077" y="244659"/>
                </a:cubicBezTo>
                <a:cubicBezTo>
                  <a:pt x="469391" y="246081"/>
                  <a:pt x="470726" y="248836"/>
                  <a:pt x="470281" y="251501"/>
                </a:cubicBezTo>
                <a:cubicBezTo>
                  <a:pt x="463962" y="293710"/>
                  <a:pt x="443403" y="324989"/>
                  <a:pt x="412165" y="339917"/>
                </a:cubicBezTo>
                <a:cubicBezTo>
                  <a:pt x="389025" y="350670"/>
                  <a:pt x="362325" y="351114"/>
                  <a:pt x="335091" y="341250"/>
                </a:cubicBezTo>
                <a:cubicBezTo>
                  <a:pt x="331175" y="339829"/>
                  <a:pt x="327259" y="337963"/>
                  <a:pt x="323343" y="336096"/>
                </a:cubicBezTo>
                <a:lnTo>
                  <a:pt x="323343" y="428511"/>
                </a:lnTo>
                <a:cubicBezTo>
                  <a:pt x="323343" y="439441"/>
                  <a:pt x="314443" y="448327"/>
                  <a:pt x="303497" y="448327"/>
                </a:cubicBezTo>
                <a:cubicBezTo>
                  <a:pt x="292550" y="448327"/>
                  <a:pt x="283739" y="439441"/>
                  <a:pt x="283739" y="428511"/>
                </a:cubicBezTo>
                <a:lnTo>
                  <a:pt x="283739" y="335919"/>
                </a:lnTo>
                <a:cubicBezTo>
                  <a:pt x="279556" y="337874"/>
                  <a:pt x="275462" y="339740"/>
                  <a:pt x="271368" y="341250"/>
                </a:cubicBezTo>
                <a:cubicBezTo>
                  <a:pt x="244134" y="351114"/>
                  <a:pt x="217523" y="350670"/>
                  <a:pt x="194294" y="339917"/>
                </a:cubicBezTo>
                <a:cubicBezTo>
                  <a:pt x="163145" y="324989"/>
                  <a:pt x="142497" y="293710"/>
                  <a:pt x="136178" y="251501"/>
                </a:cubicBezTo>
                <a:cubicBezTo>
                  <a:pt x="135822" y="248836"/>
                  <a:pt x="137068" y="246081"/>
                  <a:pt x="139382" y="244659"/>
                </a:cubicBezTo>
                <a:cubicBezTo>
                  <a:pt x="148549" y="239061"/>
                  <a:pt x="157894" y="234529"/>
                  <a:pt x="167150" y="231153"/>
                </a:cubicBezTo>
                <a:cubicBezTo>
                  <a:pt x="194384" y="221289"/>
                  <a:pt x="221172" y="221644"/>
                  <a:pt x="244579" y="232308"/>
                </a:cubicBezTo>
                <a:cubicBezTo>
                  <a:pt x="260599" y="239772"/>
                  <a:pt x="273771" y="251679"/>
                  <a:pt x="283739" y="267141"/>
                </a:cubicBezTo>
                <a:lnTo>
                  <a:pt x="283739" y="204228"/>
                </a:lnTo>
                <a:cubicBezTo>
                  <a:pt x="283739" y="193298"/>
                  <a:pt x="292550" y="184412"/>
                  <a:pt x="303497" y="184412"/>
                </a:cubicBezTo>
                <a:close/>
                <a:moveTo>
                  <a:pt x="294390" y="133"/>
                </a:moveTo>
                <a:cubicBezTo>
                  <a:pt x="369032" y="-2066"/>
                  <a:pt x="444352" y="22995"/>
                  <a:pt x="503941" y="75249"/>
                </a:cubicBezTo>
                <a:lnTo>
                  <a:pt x="532690" y="46545"/>
                </a:lnTo>
                <a:cubicBezTo>
                  <a:pt x="543726" y="35525"/>
                  <a:pt x="562773" y="41035"/>
                  <a:pt x="566067" y="56320"/>
                </a:cubicBezTo>
                <a:lnTo>
                  <a:pt x="589475" y="163673"/>
                </a:lnTo>
                <a:cubicBezTo>
                  <a:pt x="590899" y="170249"/>
                  <a:pt x="588852" y="177092"/>
                  <a:pt x="584135" y="181891"/>
                </a:cubicBezTo>
                <a:cubicBezTo>
                  <a:pt x="579417" y="186601"/>
                  <a:pt x="572564" y="188645"/>
                  <a:pt x="565889" y="187223"/>
                </a:cubicBezTo>
                <a:lnTo>
                  <a:pt x="458460" y="163851"/>
                </a:lnTo>
                <a:cubicBezTo>
                  <a:pt x="443062" y="160563"/>
                  <a:pt x="437543" y="141545"/>
                  <a:pt x="448669" y="130525"/>
                </a:cubicBezTo>
                <a:lnTo>
                  <a:pt x="475994" y="103243"/>
                </a:lnTo>
                <a:cubicBezTo>
                  <a:pt x="428109" y="62008"/>
                  <a:pt x="367763" y="39346"/>
                  <a:pt x="303769" y="39346"/>
                </a:cubicBezTo>
                <a:cubicBezTo>
                  <a:pt x="233099" y="39346"/>
                  <a:pt x="166790" y="66807"/>
                  <a:pt x="116947" y="116573"/>
                </a:cubicBezTo>
                <a:cubicBezTo>
                  <a:pt x="55534" y="177803"/>
                  <a:pt x="28298" y="265427"/>
                  <a:pt x="43963" y="351007"/>
                </a:cubicBezTo>
                <a:cubicBezTo>
                  <a:pt x="45921" y="361760"/>
                  <a:pt x="38801" y="372069"/>
                  <a:pt x="28031" y="374024"/>
                </a:cubicBezTo>
                <a:cubicBezTo>
                  <a:pt x="17173" y="376068"/>
                  <a:pt x="6937" y="368781"/>
                  <a:pt x="4979" y="358117"/>
                </a:cubicBezTo>
                <a:cubicBezTo>
                  <a:pt x="-13000" y="259739"/>
                  <a:pt x="18330" y="158963"/>
                  <a:pt x="88911" y="88579"/>
                </a:cubicBezTo>
                <a:cubicBezTo>
                  <a:pt x="145785" y="31793"/>
                  <a:pt x="219748" y="2333"/>
                  <a:pt x="294390" y="133"/>
                </a:cubicBezTo>
                <a:close/>
              </a:path>
            </a:pathLst>
          </a:custGeom>
          <a:solidFill>
            <a:schemeClr val="accent1"/>
          </a:solidFill>
          <a:ln>
            <a:noFill/>
          </a:ln>
        </p:spPr>
      </p:sp>
    </p:spTree>
    <p:custDataLst>
      <p:tags r:id="rId1"/>
    </p:custDataLst>
    <p:extLst>
      <p:ext uri="{BB962C8B-B14F-4D97-AF65-F5344CB8AC3E}">
        <p14:creationId xmlns:p14="http://schemas.microsoft.com/office/powerpoint/2010/main" val="1690706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a:extLst>
              <a:ext uri="{FF2B5EF4-FFF2-40B4-BE49-F238E27FC236}">
                <a16:creationId xmlns:a16="http://schemas.microsoft.com/office/drawing/2014/main" id="{E4F79260-3FAF-432B-80CC-E37032DB6554}"/>
              </a:ext>
            </a:extLst>
          </p:cNvPr>
          <p:cNvSpPr/>
          <p:nvPr/>
        </p:nvSpPr>
        <p:spPr>
          <a:xfrm rot="3483758">
            <a:off x="-1172236" y="-1059265"/>
            <a:ext cx="5375239" cy="6456106"/>
          </a:xfrm>
          <a:custGeom>
            <a:avLst/>
            <a:gdLst>
              <a:gd name="connsiteX0" fmla="*/ 0 w 5375239"/>
              <a:gd name="connsiteY0" fmla="*/ 3366955 h 6456106"/>
              <a:gd name="connsiteX1" fmla="*/ 2098793 w 5375239"/>
              <a:gd name="connsiteY1" fmla="*/ 0 h 6456106"/>
              <a:gd name="connsiteX2" fmla="*/ 2480301 w 5375239"/>
              <a:gd name="connsiteY2" fmla="*/ 139633 h 6456106"/>
              <a:gd name="connsiteX3" fmla="*/ 5375239 w 5375239"/>
              <a:gd name="connsiteY3" fmla="*/ 4507081 h 6456106"/>
              <a:gd name="connsiteX4" fmla="*/ 5002751 w 5375239"/>
              <a:gd name="connsiteY4" fmla="*/ 6352077 h 6456106"/>
              <a:gd name="connsiteX5" fmla="*/ 4955721 w 5375239"/>
              <a:gd name="connsiteY5" fmla="*/ 6456106 h 645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5239" h="6456106">
                <a:moveTo>
                  <a:pt x="0" y="3366955"/>
                </a:moveTo>
                <a:lnTo>
                  <a:pt x="2098793" y="0"/>
                </a:lnTo>
                <a:lnTo>
                  <a:pt x="2480301" y="139633"/>
                </a:lnTo>
                <a:cubicBezTo>
                  <a:pt x="4181535" y="859195"/>
                  <a:pt x="5375239" y="2543735"/>
                  <a:pt x="5375239" y="4507081"/>
                </a:cubicBezTo>
                <a:cubicBezTo>
                  <a:pt x="5375239" y="5161529"/>
                  <a:pt x="5242605" y="5784999"/>
                  <a:pt x="5002751" y="6352077"/>
                </a:cubicBezTo>
                <a:lnTo>
                  <a:pt x="4955721" y="6456106"/>
                </a:lnTo>
                <a:close/>
              </a:path>
            </a:pathLst>
          </a:custGeom>
          <a:gradFill flip="none" rotWithShape="1">
            <a:gsLst>
              <a:gs pos="100000">
                <a:srgbClr val="CD3F0D">
                  <a:alpha val="0"/>
                </a:srgbClr>
              </a:gs>
              <a:gs pos="0">
                <a:srgbClr val="FF0000">
                  <a:alpha val="1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sp>
        <p:nvSpPr>
          <p:cNvPr id="25" name="椭圆 24">
            <a:extLst>
              <a:ext uri="{FF2B5EF4-FFF2-40B4-BE49-F238E27FC236}">
                <a16:creationId xmlns:a16="http://schemas.microsoft.com/office/drawing/2014/main" id="{EA7E1A5D-03D8-4355-A40F-BFA2056E2C84}"/>
              </a:ext>
            </a:extLst>
          </p:cNvPr>
          <p:cNvSpPr/>
          <p:nvPr/>
        </p:nvSpPr>
        <p:spPr>
          <a:xfrm>
            <a:off x="11378043" y="5503378"/>
            <a:ext cx="692331" cy="692331"/>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0" name="椭圆 19">
            <a:extLst>
              <a:ext uri="{FF2B5EF4-FFF2-40B4-BE49-F238E27FC236}">
                <a16:creationId xmlns:a16="http://schemas.microsoft.com/office/drawing/2014/main" id="{0765E813-9D9B-45C5-B82B-443289E77224}"/>
              </a:ext>
            </a:extLst>
          </p:cNvPr>
          <p:cNvSpPr/>
          <p:nvPr/>
        </p:nvSpPr>
        <p:spPr>
          <a:xfrm>
            <a:off x="602724" y="862272"/>
            <a:ext cx="1747803" cy="1747803"/>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grpSp>
        <p:nvGrpSpPr>
          <p:cNvPr id="2" name="组合 1"/>
          <p:cNvGrpSpPr/>
          <p:nvPr/>
        </p:nvGrpSpPr>
        <p:grpSpPr>
          <a:xfrm>
            <a:off x="602724" y="2370723"/>
            <a:ext cx="8913431" cy="3311930"/>
            <a:chOff x="874713" y="2833231"/>
            <a:chExt cx="8913431" cy="3311930"/>
          </a:xfrm>
        </p:grpSpPr>
        <p:sp>
          <p:nvSpPr>
            <p:cNvPr id="26" name="文本框 25">
              <a:extLst>
                <a:ext uri="{FF2B5EF4-FFF2-40B4-BE49-F238E27FC236}">
                  <a16:creationId xmlns:a16="http://schemas.microsoft.com/office/drawing/2014/main" id="{9631BAA8-675E-450D-96E8-9875DC4F9F3B}"/>
                </a:ext>
              </a:extLst>
            </p:cNvPr>
            <p:cNvSpPr txBox="1"/>
            <p:nvPr/>
          </p:nvSpPr>
          <p:spPr>
            <a:xfrm>
              <a:off x="1496238" y="2842316"/>
              <a:ext cx="7957137" cy="3142014"/>
            </a:xfrm>
            <a:prstGeom prst="rect">
              <a:avLst/>
            </a:prstGeom>
            <a:noFill/>
          </p:spPr>
          <p:txBody>
            <a:bodyPr wrap="square" rtlCol="0">
              <a:spAutoFit/>
            </a:bodyPr>
            <a:lstStyle/>
            <a:p>
              <a:pPr algn="ctr">
                <a:lnSpc>
                  <a:spcPct val="150000"/>
                </a:lnSpc>
              </a:pPr>
              <a:r>
                <a:rPr lang="zh-CN" altLang="zh-CN" sz="2000" dirty="0">
                  <a:solidFill>
                    <a:srgbClr val="C00000"/>
                  </a:solidFill>
                  <a:latin typeface="思源宋体 CN Heavy" panose="02020900000000000000" pitchFamily="18" charset="-122"/>
                  <a:ea typeface="思源宋体 CN Heavy" panose="02020900000000000000" pitchFamily="18" charset="-122"/>
                </a:rPr>
                <a:t>砥砺于磨难，成长于斗争</a:t>
              </a:r>
              <a:endParaRPr lang="en-US" altLang="zh-CN" sz="2000" dirty="0">
                <a:solidFill>
                  <a:srgbClr val="C00000"/>
                </a:solidFill>
                <a:latin typeface="思源宋体 CN Heavy" panose="02020900000000000000" pitchFamily="18" charset="-122"/>
                <a:ea typeface="思源宋体 CN Heavy" panose="02020900000000000000" pitchFamily="18" charset="-122"/>
              </a:endParaRPr>
            </a:p>
            <a:p>
              <a:pPr algn="just">
                <a:lnSpc>
                  <a:spcPct val="150000"/>
                </a:lnSpc>
              </a:pPr>
              <a:r>
                <a:rPr lang="zh-CN" altLang="zh-CN" sz="1600" dirty="0">
                  <a:latin typeface="思源黑体 CN Light" panose="020B0300000000000000" pitchFamily="34" charset="-122"/>
                  <a:ea typeface="思源黑体 CN Light" panose="020B0300000000000000" pitchFamily="34" charset="-122"/>
                </a:rPr>
                <a:t>伟大的抗疫斗争，让我们更加自豪——中华民族是历经磨难、不屈不挠的伟大民族，中国人民是勤劳勇敢、自强不息的伟大人民，中国共产党是敢于斗争、敢于胜利的伟大政党。伟大的抗疫斗争，让</a:t>
              </a:r>
              <a:r>
                <a:rPr lang="zh-CN" altLang="zh-CN" dirty="0">
                  <a:latin typeface="思源黑体 CN Light" panose="020B0300000000000000" pitchFamily="34" charset="-122"/>
                  <a:ea typeface="思源黑体 CN Light" panose="020B0300000000000000" pitchFamily="34" charset="-122"/>
                </a:rPr>
                <a:t>我们</a:t>
              </a:r>
              <a:r>
                <a:rPr lang="zh-CN" altLang="zh-CN" sz="1600" dirty="0">
                  <a:latin typeface="思源黑体 CN Light" panose="020B0300000000000000" pitchFamily="34" charset="-122"/>
                  <a:ea typeface="思源黑体 CN Light" panose="020B0300000000000000" pitchFamily="34" charset="-122"/>
                </a:rPr>
                <a:t>更加警醒——前路并非坦途，中华民族伟大复兴绝不是轻轻松松、敲锣打鼓就能实现的，必须准备付出更为艰苦的努力。伟大的抗疫斗争，让我们更加坚信——有中国共产党的坚强领导，有中国特色社会主义制度的巨大优势，有亿万中国人民共同奋斗的磅礴之力，未来之中国，必将在民族复兴的新航程中乘风破浪、一往无前</a:t>
              </a:r>
              <a:r>
                <a:rPr lang="zh-CN" altLang="en-US" sz="1600" dirty="0">
                  <a:latin typeface="思源黑体 CN Light" panose="020B0300000000000000" pitchFamily="34" charset="-122"/>
                  <a:ea typeface="思源黑体 CN Light" panose="020B0300000000000000" pitchFamily="34" charset="-122"/>
                </a:rPr>
                <a:t>。</a:t>
              </a:r>
              <a:endParaRPr lang="zh-CN" altLang="zh-CN" sz="1600" dirty="0">
                <a:latin typeface="思源黑体 CN Light" panose="020B0300000000000000" pitchFamily="34" charset="-122"/>
                <a:ea typeface="思源黑体 CN Light" panose="020B0300000000000000" pitchFamily="34" charset="-122"/>
              </a:endParaRPr>
            </a:p>
          </p:txBody>
        </p:sp>
        <p:sp>
          <p:nvSpPr>
            <p:cNvPr id="6" name="矩形: 圆角 5">
              <a:extLst>
                <a:ext uri="{FF2B5EF4-FFF2-40B4-BE49-F238E27FC236}">
                  <a16:creationId xmlns:a16="http://schemas.microsoft.com/office/drawing/2014/main" id="{957F9B7E-0559-4417-A7FB-84E27478BD05}"/>
                </a:ext>
              </a:extLst>
            </p:cNvPr>
            <p:cNvSpPr/>
            <p:nvPr/>
          </p:nvSpPr>
          <p:spPr>
            <a:xfrm>
              <a:off x="874713" y="2833231"/>
              <a:ext cx="8913431" cy="3311930"/>
            </a:xfrm>
            <a:prstGeom prst="roundRect">
              <a:avLst>
                <a:gd name="adj" fmla="val 13258"/>
              </a:avLst>
            </a:prstGeom>
            <a:noFill/>
            <a:ln>
              <a:gradFill flip="none" rotWithShape="1">
                <a:gsLst>
                  <a:gs pos="0">
                    <a:srgbClr val="7A2608"/>
                  </a:gs>
                  <a:gs pos="100000">
                    <a:srgbClr val="7A2608"/>
                  </a:gs>
                  <a:gs pos="66358">
                    <a:srgbClr val="FFFFFF">
                      <a:alpha val="0"/>
                    </a:srgbClr>
                  </a:gs>
                  <a:gs pos="37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grpSp>
      <p:grpSp>
        <p:nvGrpSpPr>
          <p:cNvPr id="11" name="组合 10">
            <a:extLst>
              <a:ext uri="{FF2B5EF4-FFF2-40B4-BE49-F238E27FC236}">
                <a16:creationId xmlns:a16="http://schemas.microsoft.com/office/drawing/2014/main" id="{19DA514C-BACE-4B57-833C-C400CE8EDA45}"/>
              </a:ext>
            </a:extLst>
          </p:cNvPr>
          <p:cNvGrpSpPr/>
          <p:nvPr/>
        </p:nvGrpSpPr>
        <p:grpSpPr>
          <a:xfrm>
            <a:off x="994631" y="763940"/>
            <a:ext cx="3541875" cy="1615868"/>
            <a:chOff x="840432" y="94453"/>
            <a:chExt cx="3541875" cy="1615868"/>
          </a:xfrm>
        </p:grpSpPr>
        <p:sp>
          <p:nvSpPr>
            <p:cNvPr id="12" name="文本框 11">
              <a:extLst>
                <a:ext uri="{FF2B5EF4-FFF2-40B4-BE49-F238E27FC236}">
                  <a16:creationId xmlns:a16="http://schemas.microsoft.com/office/drawing/2014/main" id="{9275792B-413E-4349-BED8-952F7EA443B6}"/>
                </a:ext>
              </a:extLst>
            </p:cNvPr>
            <p:cNvSpPr txBox="1"/>
            <p:nvPr/>
          </p:nvSpPr>
          <p:spPr>
            <a:xfrm>
              <a:off x="840432" y="94453"/>
              <a:ext cx="2031325" cy="1366528"/>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zh-CN" altLang="en-US" sz="7200" dirty="0">
                  <a:solidFill>
                    <a:schemeClr val="accent1"/>
                  </a:solidFill>
                  <a:latin typeface="庞门正道粗书体" panose="02010600030101010101" pitchFamily="2" charset="-122"/>
                  <a:ea typeface="庞门正道粗书体" panose="02010600030101010101" pitchFamily="2" charset="-122"/>
                </a:rPr>
                <a:t>结语</a:t>
              </a:r>
            </a:p>
          </p:txBody>
        </p:sp>
        <p:sp>
          <p:nvSpPr>
            <p:cNvPr id="13" name="文本框 12">
              <a:extLst>
                <a:ext uri="{FF2B5EF4-FFF2-40B4-BE49-F238E27FC236}">
                  <a16:creationId xmlns:a16="http://schemas.microsoft.com/office/drawing/2014/main" id="{D955C66E-8BAD-4167-A60D-343B49C92963}"/>
                </a:ext>
              </a:extLst>
            </p:cNvPr>
            <p:cNvSpPr txBox="1"/>
            <p:nvPr/>
          </p:nvSpPr>
          <p:spPr>
            <a:xfrm>
              <a:off x="840432" y="1205759"/>
              <a:ext cx="3541875" cy="504562"/>
            </a:xfrm>
            <a:prstGeom prst="rect">
              <a:avLst/>
            </a:prstGeom>
            <a:noFill/>
          </p:spPr>
          <p:txBody>
            <a:bodyPr wrap="square" rtlCol="0">
              <a:spAutoFit/>
            </a:bodyPr>
            <a:lstStyle/>
            <a:p>
              <a:pPr algn="dist">
                <a:lnSpc>
                  <a:spcPct val="120000"/>
                </a:lnSpc>
              </a:pPr>
              <a:r>
                <a:rPr lang="en-US" altLang="zh-CN" sz="2400" dirty="0">
                  <a:solidFill>
                    <a:schemeClr val="bg2">
                      <a:lumMod val="25000"/>
                    </a:schemeClr>
                  </a:solidFill>
                  <a:latin typeface="思源黑体 CN Heavy" panose="020B0A00000000000000" pitchFamily="34" charset="-122"/>
                  <a:ea typeface="思源黑体 CN Heavy" panose="020B0A00000000000000" pitchFamily="34" charset="-122"/>
                </a:rPr>
                <a:t>Concluding Remarks</a:t>
              </a:r>
              <a:endParaRPr lang="zh-CN" altLang="en-US" sz="2400" dirty="0">
                <a:solidFill>
                  <a:schemeClr val="bg2">
                    <a:lumMod val="25000"/>
                  </a:schemeClr>
                </a:solidFill>
                <a:latin typeface="思源黑体 CN Heavy" panose="020B0A00000000000000" pitchFamily="34" charset="-122"/>
                <a:ea typeface="思源黑体 CN Heavy" panose="020B0A00000000000000" pitchFamily="34" charset="-122"/>
              </a:endParaRPr>
            </a:p>
          </p:txBody>
        </p:sp>
      </p:grpSp>
    </p:spTree>
    <p:extLst>
      <p:ext uri="{BB962C8B-B14F-4D97-AF65-F5344CB8AC3E}">
        <p14:creationId xmlns:p14="http://schemas.microsoft.com/office/powerpoint/2010/main" val="3330243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a:extLst>
              <a:ext uri="{FF2B5EF4-FFF2-40B4-BE49-F238E27FC236}">
                <a16:creationId xmlns:a16="http://schemas.microsoft.com/office/drawing/2014/main" id="{E4F79260-3FAF-432B-80CC-E37032DB6554}"/>
              </a:ext>
            </a:extLst>
          </p:cNvPr>
          <p:cNvSpPr/>
          <p:nvPr/>
        </p:nvSpPr>
        <p:spPr>
          <a:xfrm rot="3483758">
            <a:off x="-1148015" y="-1020744"/>
            <a:ext cx="5375239" cy="6456106"/>
          </a:xfrm>
          <a:custGeom>
            <a:avLst/>
            <a:gdLst>
              <a:gd name="connsiteX0" fmla="*/ 0 w 5375239"/>
              <a:gd name="connsiteY0" fmla="*/ 3366955 h 6456106"/>
              <a:gd name="connsiteX1" fmla="*/ 2098793 w 5375239"/>
              <a:gd name="connsiteY1" fmla="*/ 0 h 6456106"/>
              <a:gd name="connsiteX2" fmla="*/ 2480301 w 5375239"/>
              <a:gd name="connsiteY2" fmla="*/ 139633 h 6456106"/>
              <a:gd name="connsiteX3" fmla="*/ 5375239 w 5375239"/>
              <a:gd name="connsiteY3" fmla="*/ 4507081 h 6456106"/>
              <a:gd name="connsiteX4" fmla="*/ 5002751 w 5375239"/>
              <a:gd name="connsiteY4" fmla="*/ 6352077 h 6456106"/>
              <a:gd name="connsiteX5" fmla="*/ 4955721 w 5375239"/>
              <a:gd name="connsiteY5" fmla="*/ 6456106 h 645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5239" h="6456106">
                <a:moveTo>
                  <a:pt x="0" y="3366955"/>
                </a:moveTo>
                <a:lnTo>
                  <a:pt x="2098793" y="0"/>
                </a:lnTo>
                <a:lnTo>
                  <a:pt x="2480301" y="139633"/>
                </a:lnTo>
                <a:cubicBezTo>
                  <a:pt x="4181535" y="859195"/>
                  <a:pt x="5375239" y="2543735"/>
                  <a:pt x="5375239" y="4507081"/>
                </a:cubicBezTo>
                <a:cubicBezTo>
                  <a:pt x="5375239" y="5161529"/>
                  <a:pt x="5242605" y="5784999"/>
                  <a:pt x="5002751" y="6352077"/>
                </a:cubicBezTo>
                <a:lnTo>
                  <a:pt x="4955721" y="6456106"/>
                </a:lnTo>
                <a:close/>
              </a:path>
            </a:pathLst>
          </a:custGeom>
          <a:gradFill flip="none" rotWithShape="1">
            <a:gsLst>
              <a:gs pos="100000">
                <a:srgbClr val="CD3F0D">
                  <a:alpha val="0"/>
                </a:srgbClr>
              </a:gs>
              <a:gs pos="0">
                <a:srgbClr val="FF0000">
                  <a:alpha val="1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a typeface="思源黑体 CN Light" panose="020B0300000000000000" pitchFamily="34" charset="-122"/>
            </a:endParaRPr>
          </a:p>
        </p:txBody>
      </p:sp>
      <p:grpSp>
        <p:nvGrpSpPr>
          <p:cNvPr id="21" name="组合 20">
            <a:extLst>
              <a:ext uri="{FF2B5EF4-FFF2-40B4-BE49-F238E27FC236}">
                <a16:creationId xmlns:a16="http://schemas.microsoft.com/office/drawing/2014/main" id="{19DA514C-BACE-4B57-833C-C400CE8EDA45}"/>
              </a:ext>
            </a:extLst>
          </p:cNvPr>
          <p:cNvGrpSpPr/>
          <p:nvPr/>
        </p:nvGrpSpPr>
        <p:grpSpPr>
          <a:xfrm>
            <a:off x="1046842" y="953983"/>
            <a:ext cx="3541875" cy="1625274"/>
            <a:chOff x="771531" y="94453"/>
            <a:chExt cx="3541875" cy="1625274"/>
          </a:xfrm>
        </p:grpSpPr>
        <p:sp>
          <p:nvSpPr>
            <p:cNvPr id="23" name="文本框 22">
              <a:extLst>
                <a:ext uri="{FF2B5EF4-FFF2-40B4-BE49-F238E27FC236}">
                  <a16:creationId xmlns:a16="http://schemas.microsoft.com/office/drawing/2014/main" id="{9275792B-413E-4349-BED8-952F7EA443B6}"/>
                </a:ext>
              </a:extLst>
            </p:cNvPr>
            <p:cNvSpPr txBox="1"/>
            <p:nvPr/>
          </p:nvSpPr>
          <p:spPr>
            <a:xfrm>
              <a:off x="840432" y="94453"/>
              <a:ext cx="2031325" cy="1309269"/>
            </a:xfrm>
            <a:prstGeom prst="rect">
              <a:avLst/>
            </a:prstGeom>
            <a:noFill/>
          </p:spPr>
          <p:txBody>
            <a:bodyPr wrap="none" rtlCol="0">
              <a:spAutoFit/>
            </a:bodyPr>
            <a:lstStyle>
              <a:defPPr>
                <a:defRPr lang="zh-CN"/>
              </a:defPPr>
              <a:lvl1pPr>
                <a:defRPr sz="8800">
                  <a:gradFill>
                    <a:gsLst>
                      <a:gs pos="0">
                        <a:schemeClr val="accent1"/>
                      </a:gs>
                      <a:gs pos="100000">
                        <a:schemeClr val="accent1">
                          <a:lumMod val="75000"/>
                        </a:schemeClr>
                      </a:gs>
                    </a:gsLst>
                    <a:lin ang="16200000" scaled="1"/>
                  </a:gradFill>
                  <a:effectLst/>
                  <a:latin typeface="字魂45号-冰宇雅宋" panose="00000500000000000000" pitchFamily="2" charset="-122"/>
                  <a:ea typeface="字魂45号-冰宇雅宋" panose="00000500000000000000" pitchFamily="2" charset="-122"/>
                </a:defRPr>
              </a:lvl1pPr>
            </a:lstStyle>
            <a:p>
              <a:pPr>
                <a:lnSpc>
                  <a:spcPct val="120000"/>
                </a:lnSpc>
              </a:pPr>
              <a:r>
                <a:rPr lang="zh-CN" altLang="en-US" sz="7200" dirty="0">
                  <a:solidFill>
                    <a:schemeClr val="accent1"/>
                  </a:solidFill>
                  <a:latin typeface="庞门正道粗书体" panose="02010600030101010101" pitchFamily="2" charset="-122"/>
                  <a:ea typeface="庞门正道粗书体" panose="02010600030101010101" pitchFamily="2" charset="-122"/>
                </a:rPr>
                <a:t>鸣谢</a:t>
              </a:r>
            </a:p>
          </p:txBody>
        </p:sp>
        <p:sp>
          <p:nvSpPr>
            <p:cNvPr id="24" name="文本框 23">
              <a:extLst>
                <a:ext uri="{FF2B5EF4-FFF2-40B4-BE49-F238E27FC236}">
                  <a16:creationId xmlns:a16="http://schemas.microsoft.com/office/drawing/2014/main" id="{D955C66E-8BAD-4167-A60D-343B49C92963}"/>
                </a:ext>
              </a:extLst>
            </p:cNvPr>
            <p:cNvSpPr txBox="1"/>
            <p:nvPr/>
          </p:nvSpPr>
          <p:spPr>
            <a:xfrm>
              <a:off x="771531" y="1215165"/>
              <a:ext cx="3541875" cy="504562"/>
            </a:xfrm>
            <a:prstGeom prst="rect">
              <a:avLst/>
            </a:prstGeom>
            <a:noFill/>
          </p:spPr>
          <p:txBody>
            <a:bodyPr wrap="square" rtlCol="0">
              <a:spAutoFit/>
            </a:bodyPr>
            <a:lstStyle/>
            <a:p>
              <a:pPr algn="dist">
                <a:lnSpc>
                  <a:spcPct val="120000"/>
                </a:lnSpc>
              </a:pPr>
              <a:r>
                <a:rPr lang="en-US" altLang="zh-CN" sz="2400" dirty="0">
                  <a:solidFill>
                    <a:schemeClr val="bg2">
                      <a:lumMod val="25000"/>
                    </a:schemeClr>
                  </a:solidFill>
                  <a:latin typeface="思源黑体 CN Heavy" panose="020B0A00000000000000" pitchFamily="34" charset="-122"/>
                  <a:ea typeface="思源黑体 CN Heavy" panose="020B0A00000000000000" pitchFamily="34" charset="-122"/>
                </a:rPr>
                <a:t>Acknowledgement</a:t>
              </a:r>
              <a:endParaRPr lang="zh-CN" altLang="en-US" sz="2400" dirty="0">
                <a:solidFill>
                  <a:schemeClr val="bg2">
                    <a:lumMod val="25000"/>
                  </a:schemeClr>
                </a:solidFill>
                <a:latin typeface="思源黑体 CN Heavy" panose="020B0A00000000000000" pitchFamily="34" charset="-122"/>
                <a:ea typeface="思源黑体 CN Heavy" panose="020B0A00000000000000" pitchFamily="34" charset="-122"/>
              </a:endParaRPr>
            </a:p>
          </p:txBody>
        </p:sp>
      </p:grpSp>
      <p:sp>
        <p:nvSpPr>
          <p:cNvPr id="25" name="椭圆 24">
            <a:extLst>
              <a:ext uri="{FF2B5EF4-FFF2-40B4-BE49-F238E27FC236}">
                <a16:creationId xmlns:a16="http://schemas.microsoft.com/office/drawing/2014/main" id="{EA7E1A5D-03D8-4355-A40F-BFA2056E2C84}"/>
              </a:ext>
            </a:extLst>
          </p:cNvPr>
          <p:cNvSpPr/>
          <p:nvPr/>
        </p:nvSpPr>
        <p:spPr>
          <a:xfrm>
            <a:off x="11378043" y="5503378"/>
            <a:ext cx="692331" cy="692331"/>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20" name="椭圆 19">
            <a:extLst>
              <a:ext uri="{FF2B5EF4-FFF2-40B4-BE49-F238E27FC236}">
                <a16:creationId xmlns:a16="http://schemas.microsoft.com/office/drawing/2014/main" id="{0765E813-9D9B-45C5-B82B-443289E77224}"/>
              </a:ext>
            </a:extLst>
          </p:cNvPr>
          <p:cNvSpPr/>
          <p:nvPr/>
        </p:nvSpPr>
        <p:spPr>
          <a:xfrm>
            <a:off x="602724" y="862272"/>
            <a:ext cx="1747803" cy="1747803"/>
          </a:xfrm>
          <a:prstGeom prst="ellipse">
            <a:avLst/>
          </a:prstGeom>
          <a:gradFill flip="none" rotWithShape="1">
            <a:gsLst>
              <a:gs pos="0">
                <a:schemeClr val="accent1">
                  <a:alpha val="0"/>
                </a:schemeClr>
              </a:gs>
              <a:gs pos="100000">
                <a:schemeClr val="accent1">
                  <a:lumMod val="75000"/>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6" name="矩形: 圆角 5">
            <a:extLst>
              <a:ext uri="{FF2B5EF4-FFF2-40B4-BE49-F238E27FC236}">
                <a16:creationId xmlns:a16="http://schemas.microsoft.com/office/drawing/2014/main" id="{957F9B7E-0559-4417-A7FB-84E27478BD05}"/>
              </a:ext>
            </a:extLst>
          </p:cNvPr>
          <p:cNvSpPr/>
          <p:nvPr/>
        </p:nvSpPr>
        <p:spPr>
          <a:xfrm>
            <a:off x="935269" y="2676141"/>
            <a:ext cx="8913431" cy="2577298"/>
          </a:xfrm>
          <a:prstGeom prst="roundRect">
            <a:avLst>
              <a:gd name="adj" fmla="val 13258"/>
            </a:avLst>
          </a:prstGeom>
          <a:noFill/>
          <a:ln>
            <a:gradFill flip="none" rotWithShape="1">
              <a:gsLst>
                <a:gs pos="0">
                  <a:srgbClr val="7A2608"/>
                </a:gs>
                <a:gs pos="100000">
                  <a:srgbClr val="7A2608"/>
                </a:gs>
                <a:gs pos="66358">
                  <a:srgbClr val="FFFFFF">
                    <a:alpha val="0"/>
                  </a:srgbClr>
                </a:gs>
                <a:gs pos="37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思源黑体 CN Light" panose="020B0300000000000000" pitchFamily="34" charset="-122"/>
              <a:ea typeface="思源黑体 CN Light" panose="020B0300000000000000" pitchFamily="34" charset="-122"/>
            </a:endParaRPr>
          </a:p>
        </p:txBody>
      </p:sp>
      <p:sp>
        <p:nvSpPr>
          <p:cNvPr id="3" name="文本框 2">
            <a:extLst>
              <a:ext uri="{FF2B5EF4-FFF2-40B4-BE49-F238E27FC236}">
                <a16:creationId xmlns:a16="http://schemas.microsoft.com/office/drawing/2014/main" id="{2A6D67D8-DC92-40B4-BE1A-BC0D2A1CA7A2}"/>
              </a:ext>
            </a:extLst>
          </p:cNvPr>
          <p:cNvSpPr txBox="1"/>
          <p:nvPr/>
        </p:nvSpPr>
        <p:spPr>
          <a:xfrm>
            <a:off x="1949912" y="2825830"/>
            <a:ext cx="6443189" cy="461665"/>
          </a:xfrm>
          <a:prstGeom prst="rect">
            <a:avLst/>
          </a:prstGeom>
          <a:noFill/>
        </p:spPr>
        <p:txBody>
          <a:bodyPr wrap="square" rtlCol="0">
            <a:spAutoFit/>
          </a:bodyPr>
          <a:lstStyle/>
          <a:p>
            <a:pPr algn="l"/>
            <a:r>
              <a:rPr lang="zh-CN" altLang="en-US" sz="2400" dirty="0">
                <a:solidFill>
                  <a:srgbClr val="1A1A1A"/>
                </a:solidFill>
                <a:latin typeface="方正小标宋简体" panose="02000000000000000000" pitchFamily="2" charset="-122"/>
                <a:ea typeface="方正小标宋简体" panose="02000000000000000000" pitchFamily="2" charset="-122"/>
              </a:rPr>
              <a:t>资料整理： 耿孝伟   李嘉邦   贾杭卫</a:t>
            </a:r>
          </a:p>
        </p:txBody>
      </p:sp>
      <p:sp>
        <p:nvSpPr>
          <p:cNvPr id="4" name="文本框 3">
            <a:extLst>
              <a:ext uri="{FF2B5EF4-FFF2-40B4-BE49-F238E27FC236}">
                <a16:creationId xmlns:a16="http://schemas.microsoft.com/office/drawing/2014/main" id="{379BF3E8-C967-5F92-B508-65F9ADE513CA}"/>
              </a:ext>
            </a:extLst>
          </p:cNvPr>
          <p:cNvSpPr txBox="1"/>
          <p:nvPr/>
        </p:nvSpPr>
        <p:spPr>
          <a:xfrm>
            <a:off x="1949912" y="3681246"/>
            <a:ext cx="5199651" cy="461665"/>
          </a:xfrm>
          <a:prstGeom prst="rect">
            <a:avLst/>
          </a:prstGeom>
          <a:noFill/>
        </p:spPr>
        <p:txBody>
          <a:bodyPr wrap="square" rtlCol="0">
            <a:spAutoFit/>
          </a:bodyPr>
          <a:lstStyle/>
          <a:p>
            <a:pPr algn="l"/>
            <a:r>
              <a:rPr lang="zh-CN" altLang="en-US" sz="2400" dirty="0">
                <a:solidFill>
                  <a:srgbClr val="1A1A1A"/>
                </a:solidFill>
                <a:ea typeface="方正小标宋简体" panose="02000000000000000000" pitchFamily="2" charset="-122"/>
              </a:rPr>
              <a:t>文案撰写</a:t>
            </a:r>
            <a:r>
              <a:rPr lang="en-US" altLang="zh-CN" sz="2400" dirty="0">
                <a:solidFill>
                  <a:srgbClr val="1A1A1A"/>
                </a:solidFill>
                <a:ea typeface="方正小标宋简体" panose="02000000000000000000" pitchFamily="2" charset="-122"/>
              </a:rPr>
              <a:t>:   </a:t>
            </a:r>
            <a:r>
              <a:rPr lang="zh-CN" altLang="en-US" sz="2400" dirty="0">
                <a:solidFill>
                  <a:srgbClr val="1A1A1A"/>
                </a:solidFill>
                <a:ea typeface="方正小标宋简体" panose="02000000000000000000" pitchFamily="2" charset="-122"/>
              </a:rPr>
              <a:t>孙岳旺   宋瑞波   石德成</a:t>
            </a:r>
          </a:p>
        </p:txBody>
      </p:sp>
      <p:sp>
        <p:nvSpPr>
          <p:cNvPr id="5" name="文本框 4">
            <a:extLst>
              <a:ext uri="{FF2B5EF4-FFF2-40B4-BE49-F238E27FC236}">
                <a16:creationId xmlns:a16="http://schemas.microsoft.com/office/drawing/2014/main" id="{C78DFD0B-1B14-9731-B565-38E18605E80B}"/>
              </a:ext>
            </a:extLst>
          </p:cNvPr>
          <p:cNvSpPr txBox="1"/>
          <p:nvPr/>
        </p:nvSpPr>
        <p:spPr>
          <a:xfrm>
            <a:off x="1949911" y="4536662"/>
            <a:ext cx="5843683" cy="461665"/>
          </a:xfrm>
          <a:prstGeom prst="rect">
            <a:avLst/>
          </a:prstGeom>
          <a:noFill/>
        </p:spPr>
        <p:txBody>
          <a:bodyPr wrap="square" rtlCol="0">
            <a:spAutoFit/>
          </a:bodyPr>
          <a:lstStyle/>
          <a:p>
            <a:r>
              <a:rPr lang="en-US" altLang="zh-CN" sz="2400" dirty="0">
                <a:solidFill>
                  <a:srgbClr val="1A1A1A"/>
                </a:solidFill>
                <a:ea typeface="方正小标宋简体" panose="02000000000000000000" pitchFamily="2" charset="-122"/>
              </a:rPr>
              <a:t>ppt</a:t>
            </a:r>
            <a:r>
              <a:rPr lang="zh-CN" altLang="en-US" sz="2400" dirty="0">
                <a:solidFill>
                  <a:srgbClr val="1A1A1A"/>
                </a:solidFill>
                <a:ea typeface="方正小标宋简体" panose="02000000000000000000" pitchFamily="2" charset="-122"/>
              </a:rPr>
              <a:t>设计与制作</a:t>
            </a:r>
            <a:r>
              <a:rPr lang="en-US" altLang="zh-CN" sz="2400" dirty="0">
                <a:solidFill>
                  <a:srgbClr val="1A1A1A"/>
                </a:solidFill>
                <a:ea typeface="方正小标宋简体" panose="02000000000000000000" pitchFamily="2" charset="-122"/>
              </a:rPr>
              <a:t>:   </a:t>
            </a:r>
            <a:r>
              <a:rPr lang="zh-CN" altLang="en-US" sz="2400" dirty="0">
                <a:solidFill>
                  <a:srgbClr val="1A1A1A"/>
                </a:solidFill>
                <a:ea typeface="方正小标宋简体" panose="02000000000000000000" pitchFamily="2" charset="-122"/>
              </a:rPr>
              <a:t>孙浩然</a:t>
            </a:r>
          </a:p>
        </p:txBody>
      </p:sp>
    </p:spTree>
    <p:extLst>
      <p:ext uri="{BB962C8B-B14F-4D97-AF65-F5344CB8AC3E}">
        <p14:creationId xmlns:p14="http://schemas.microsoft.com/office/powerpoint/2010/main" val="1859013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C5B0E096-FBEC-41E6-B6BE-CD1959969F1F}"/>
              </a:ext>
            </a:extLst>
          </p:cNvPr>
          <p:cNvGrpSpPr/>
          <p:nvPr/>
        </p:nvGrpSpPr>
        <p:grpSpPr>
          <a:xfrm>
            <a:off x="496992" y="329818"/>
            <a:ext cx="2735580" cy="1059896"/>
            <a:chOff x="496992" y="329818"/>
            <a:chExt cx="2735580" cy="1059896"/>
          </a:xfrm>
        </p:grpSpPr>
        <p:pic>
          <p:nvPicPr>
            <p:cNvPr id="18" name="图片 17" descr="图片包含 游戏机, 笔记本, 电脑, 桌子&#10;&#10;描述已自动生成">
              <a:extLst>
                <a:ext uri="{FF2B5EF4-FFF2-40B4-BE49-F238E27FC236}">
                  <a16:creationId xmlns:a16="http://schemas.microsoft.com/office/drawing/2014/main" id="{ECCD3BDC-14B7-4934-B95A-AAB74019AF5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96992" y="329818"/>
              <a:ext cx="1790700" cy="1059896"/>
            </a:xfrm>
            <a:prstGeom prst="rect">
              <a:avLst/>
            </a:prstGeom>
          </p:spPr>
        </p:pic>
        <p:sp>
          <p:nvSpPr>
            <p:cNvPr id="19" name="文本框 18">
              <a:extLst>
                <a:ext uri="{FF2B5EF4-FFF2-40B4-BE49-F238E27FC236}">
                  <a16:creationId xmlns:a16="http://schemas.microsoft.com/office/drawing/2014/main" id="{5725D59F-AD83-4C82-8FD7-E702B6D35B21}"/>
                </a:ext>
              </a:extLst>
            </p:cNvPr>
            <p:cNvSpPr txBox="1"/>
            <p:nvPr/>
          </p:nvSpPr>
          <p:spPr>
            <a:xfrm>
              <a:off x="1441872" y="781289"/>
              <a:ext cx="1790700" cy="304442"/>
            </a:xfrm>
            <a:prstGeom prst="rect">
              <a:avLst/>
            </a:prstGeom>
            <a:noFill/>
          </p:spPr>
          <p:txBody>
            <a:bodyPr wrap="square" lIns="0" tIns="0" rIns="0" bIns="0" rtlCol="0">
              <a:spAutoFit/>
            </a:bodyPr>
            <a:lstStyle/>
            <a:p>
              <a:pPr algn="dist">
                <a:lnSpc>
                  <a:spcPct val="120000"/>
                </a:lnSpc>
              </a:pPr>
              <a:r>
                <a:rPr lang="zh-CN" altLang="en-US" dirty="0">
                  <a:solidFill>
                    <a:schemeClr val="accent1"/>
                  </a:solidFill>
                  <a:latin typeface="思源宋体 CN Heavy" panose="02020900000000000000" pitchFamily="18" charset="-122"/>
                  <a:ea typeface="思源宋体 CN Heavy" panose="02020900000000000000" pitchFamily="18" charset="-122"/>
                </a:rPr>
                <a:t>中国共产党</a:t>
              </a:r>
            </a:p>
          </p:txBody>
        </p:sp>
        <p:sp>
          <p:nvSpPr>
            <p:cNvPr id="20" name="文本框 19">
              <a:extLst>
                <a:ext uri="{FF2B5EF4-FFF2-40B4-BE49-F238E27FC236}">
                  <a16:creationId xmlns:a16="http://schemas.microsoft.com/office/drawing/2014/main" id="{708976EC-6AEA-4D84-B031-8A67DBD0FA9E}"/>
                </a:ext>
              </a:extLst>
            </p:cNvPr>
            <p:cNvSpPr txBox="1"/>
            <p:nvPr/>
          </p:nvSpPr>
          <p:spPr>
            <a:xfrm>
              <a:off x="1441872" y="1074421"/>
              <a:ext cx="1755140" cy="155042"/>
            </a:xfrm>
            <a:prstGeom prst="rect">
              <a:avLst/>
            </a:prstGeom>
            <a:noFill/>
          </p:spPr>
          <p:txBody>
            <a:bodyPr wrap="square" lIns="0" tIns="0" rIns="0" bIns="0" rtlCol="0">
              <a:spAutoFit/>
            </a:bodyPr>
            <a:lstStyle/>
            <a:p>
              <a:pPr algn="dist">
                <a:lnSpc>
                  <a:spcPct val="120000"/>
                </a:lnSpc>
              </a:pPr>
              <a:r>
                <a:rPr lang="en-US" altLang="zh-CN" sz="900" dirty="0">
                  <a:solidFill>
                    <a:schemeClr val="accent1"/>
                  </a:solidFill>
                  <a:latin typeface="思源黑体 CN Light" panose="020B0300000000000000" pitchFamily="34" charset="-122"/>
                  <a:ea typeface="思源黑体 CN Light" panose="020B0300000000000000" pitchFamily="34" charset="-122"/>
                </a:rPr>
                <a:t> The Communist Party of China</a:t>
              </a:r>
              <a:endParaRPr lang="zh-CN" altLang="en-US" sz="900" dirty="0">
                <a:solidFill>
                  <a:schemeClr val="accent1"/>
                </a:solidFill>
                <a:latin typeface="思源黑体 CN Light" panose="020B0300000000000000" pitchFamily="34" charset="-122"/>
                <a:ea typeface="思源黑体 CN Light" panose="020B0300000000000000" pitchFamily="34" charset="-122"/>
              </a:endParaRPr>
            </a:p>
          </p:txBody>
        </p:sp>
      </p:grpSp>
      <p:grpSp>
        <p:nvGrpSpPr>
          <p:cNvPr id="4" name="组合 3">
            <a:extLst>
              <a:ext uri="{FF2B5EF4-FFF2-40B4-BE49-F238E27FC236}">
                <a16:creationId xmlns:a16="http://schemas.microsoft.com/office/drawing/2014/main" id="{7DAC1C7D-FF30-3941-B388-C2B98B2EC30E}"/>
              </a:ext>
            </a:extLst>
          </p:cNvPr>
          <p:cNvGrpSpPr/>
          <p:nvPr/>
        </p:nvGrpSpPr>
        <p:grpSpPr>
          <a:xfrm>
            <a:off x="2559510" y="2202429"/>
            <a:ext cx="5899052" cy="2035173"/>
            <a:chOff x="2925837" y="1966966"/>
            <a:chExt cx="5899052" cy="2035173"/>
          </a:xfrm>
        </p:grpSpPr>
        <p:sp>
          <p:nvSpPr>
            <p:cNvPr id="30" name="文本框 29">
              <a:extLst>
                <a:ext uri="{FF2B5EF4-FFF2-40B4-BE49-F238E27FC236}">
                  <a16:creationId xmlns:a16="http://schemas.microsoft.com/office/drawing/2014/main" id="{896AB14C-96C8-42A5-9098-650C592AD482}"/>
                </a:ext>
              </a:extLst>
            </p:cNvPr>
            <p:cNvSpPr txBox="1"/>
            <p:nvPr/>
          </p:nvSpPr>
          <p:spPr>
            <a:xfrm>
              <a:off x="2925837" y="1966966"/>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感</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31" name="文本框 30">
              <a:extLst>
                <a:ext uri="{FF2B5EF4-FFF2-40B4-BE49-F238E27FC236}">
                  <a16:creationId xmlns:a16="http://schemas.microsoft.com/office/drawing/2014/main" id="{539B5EF9-99E0-494E-8B1E-E5303CB5086A}"/>
                </a:ext>
              </a:extLst>
            </p:cNvPr>
            <p:cNvSpPr txBox="1"/>
            <p:nvPr/>
          </p:nvSpPr>
          <p:spPr>
            <a:xfrm>
              <a:off x="4400598" y="1966966"/>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谢</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32" name="文本框 31">
              <a:extLst>
                <a:ext uri="{FF2B5EF4-FFF2-40B4-BE49-F238E27FC236}">
                  <a16:creationId xmlns:a16="http://schemas.microsoft.com/office/drawing/2014/main" id="{A2B4FCBC-246F-4C0C-B1A2-EF02BBC0D927}"/>
                </a:ext>
              </a:extLst>
            </p:cNvPr>
            <p:cNvSpPr txBox="1"/>
            <p:nvPr/>
          </p:nvSpPr>
          <p:spPr>
            <a:xfrm>
              <a:off x="5875361" y="1966966"/>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latin typeface="庞门正道粗书体" panose="02010600030101010101" pitchFamily="2" charset="-122"/>
                  <a:ea typeface="庞门正道粗书体" panose="02010600030101010101" pitchFamily="2" charset="-122"/>
                </a:rPr>
                <a:t>聆</a:t>
              </a:r>
              <a:endPar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endParaRPr>
            </a:p>
          </p:txBody>
        </p:sp>
        <p:sp>
          <p:nvSpPr>
            <p:cNvPr id="33" name="文本框 32">
              <a:extLst>
                <a:ext uri="{FF2B5EF4-FFF2-40B4-BE49-F238E27FC236}">
                  <a16:creationId xmlns:a16="http://schemas.microsoft.com/office/drawing/2014/main" id="{5AFBC952-AA67-45DC-B2C1-3CB5ACDD239F}"/>
                </a:ext>
              </a:extLst>
            </p:cNvPr>
            <p:cNvSpPr txBox="1"/>
            <p:nvPr/>
          </p:nvSpPr>
          <p:spPr>
            <a:xfrm>
              <a:off x="7350126" y="1966966"/>
              <a:ext cx="1474763" cy="2035173"/>
            </a:xfrm>
            <a:prstGeom prst="rect">
              <a:avLst/>
            </a:prstGeom>
            <a:noFill/>
          </p:spPr>
          <p:txBody>
            <a:bodyPr wrap="none" lIns="0" tIns="0" rIns="0" bIns="0" rtlCol="0" anchor="ctr">
              <a:spAutoFit/>
            </a:bodyPr>
            <a:lstStyle/>
            <a:p>
              <a:pPr algn="ctr">
                <a:lnSpc>
                  <a:spcPct val="120000"/>
                </a:lnSpc>
              </a:pPr>
              <a:r>
                <a:rPr lang="zh-CN" altLang="en-US" sz="11500" dirty="0">
                  <a:gradFill flip="none" rotWithShape="1">
                    <a:gsLst>
                      <a:gs pos="0">
                        <a:srgbClr val="C41908"/>
                      </a:gs>
                      <a:gs pos="52000">
                        <a:srgbClr val="B01607">
                          <a:alpha val="87000"/>
                        </a:srgbClr>
                      </a:gs>
                      <a:gs pos="100000">
                        <a:schemeClr val="accent1">
                          <a:alpha val="60000"/>
                        </a:schemeClr>
                      </a:gs>
                    </a:gsLst>
                    <a:lin ang="0" scaled="1"/>
                    <a:tileRect/>
                  </a:gradFill>
                  <a:effectLst/>
                  <a:latin typeface="庞门正道粗书体" panose="02010600030101010101" pitchFamily="2" charset="-122"/>
                  <a:ea typeface="庞门正道粗书体" panose="02010600030101010101" pitchFamily="2" charset="-122"/>
                </a:rPr>
                <a:t>听</a:t>
              </a:r>
            </a:p>
          </p:txBody>
        </p:sp>
      </p:grpSp>
    </p:spTree>
    <p:extLst>
      <p:ext uri="{BB962C8B-B14F-4D97-AF65-F5344CB8AC3E}">
        <p14:creationId xmlns:p14="http://schemas.microsoft.com/office/powerpoint/2010/main" val="37637358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166454;#166454;#166454;"/>
</p:tagLst>
</file>

<file path=ppt/tags/tag2.xml><?xml version="1.0" encoding="utf-8"?>
<p:tagLst xmlns:a="http://schemas.openxmlformats.org/drawingml/2006/main" xmlns:r="http://schemas.openxmlformats.org/officeDocument/2006/relationships" xmlns:p="http://schemas.openxmlformats.org/presentationml/2006/main">
  <p:tag name="ISLIDE.ICON" val="#393898;"/>
</p:tagLst>
</file>

<file path=ppt/tags/tag3.xml><?xml version="1.0" encoding="utf-8"?>
<p:tagLst xmlns:a="http://schemas.openxmlformats.org/drawingml/2006/main" xmlns:r="http://schemas.openxmlformats.org/officeDocument/2006/relationships" xmlns:p="http://schemas.openxmlformats.org/presentationml/2006/main">
  <p:tag name="ISLIDE.ICON" val="#93673;"/>
</p:tagLst>
</file>

<file path=ppt/theme/theme1.xml><?xml version="1.0" encoding="utf-8"?>
<a:theme xmlns:a="http://schemas.openxmlformats.org/drawingml/2006/main" name="Office 主题​​">
  <a:themeElements>
    <a:clrScheme name="5454">
      <a:dk1>
        <a:srgbClr val="000000"/>
      </a:dk1>
      <a:lt1>
        <a:srgbClr val="FFFFFF"/>
      </a:lt1>
      <a:dk2>
        <a:srgbClr val="778495"/>
      </a:dk2>
      <a:lt2>
        <a:srgbClr val="F0F0F0"/>
      </a:lt2>
      <a:accent1>
        <a:srgbClr val="C41908"/>
      </a:accent1>
      <a:accent2>
        <a:srgbClr val="725537"/>
      </a:accent2>
      <a:accent3>
        <a:srgbClr val="918167"/>
      </a:accent3>
      <a:accent4>
        <a:srgbClr val="DABE36"/>
      </a:accent4>
      <a:accent5>
        <a:srgbClr val="A8872A"/>
      </a:accent5>
      <a:accent6>
        <a:srgbClr val="F4ECC2"/>
      </a:accent6>
      <a:hlink>
        <a:srgbClr val="A9330B"/>
      </a:hlink>
      <a:folHlink>
        <a:srgbClr val="BFBFBF"/>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alpha val="0"/>
              </a:schemeClr>
            </a:gs>
            <a:gs pos="100000">
              <a:schemeClr val="accent1">
                <a:lumMod val="75000"/>
                <a:alpha val="55000"/>
              </a:schemeClr>
            </a:gs>
          </a:gsLst>
          <a:lin ang="10800000" scaled="1"/>
          <a:tileRect/>
        </a:gradFill>
        <a:ln>
          <a:noFill/>
        </a:ln>
      </a:spPr>
      <a:bodyPr wrap="square" rtlCol="0" anchor="ctr">
        <a:noAutofit/>
      </a:bodyPr>
      <a:lstStyle>
        <a:defPPr algn="ctr">
          <a:lnSpc>
            <a:spcPct val="120000"/>
          </a:lnSpc>
          <a:defRPr dirty="0">
            <a:latin typeface="字魂58号-创中黑" panose="00000500000000000000" pitchFamily="2" charset="-122"/>
            <a:ea typeface="字魂58号-创中黑" panose="00000500000000000000" pitchFamily="2"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solidFill>
              <a:schemeClr val="accent1"/>
            </a:solidFill>
            <a:latin typeface="方正小标宋简体" panose="02000000000000000000" pitchFamily="2" charset="-122"/>
            <a:ea typeface="方正小标宋简体" panose="02000000000000000000" pitchFamily="2"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19080</TotalTime>
  <Words>1773</Words>
  <Application>Microsoft Office PowerPoint</Application>
  <PresentationFormat>宽屏</PresentationFormat>
  <Paragraphs>91</Paragraphs>
  <Slides>21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方正小标宋简体</vt:lpstr>
      <vt:lpstr>仿宋</vt:lpstr>
      <vt:lpstr>庞门正道标题体</vt:lpstr>
      <vt:lpstr>庞门正道粗书体</vt:lpstr>
      <vt:lpstr>思源黑体 CN Heavy</vt:lpstr>
      <vt:lpstr>思源黑体 CN Light</vt:lpstr>
      <vt:lpstr>思源宋体 CN Heavy</vt:lpstr>
      <vt:lpstr>优设标题黑</vt:lpstr>
      <vt:lpstr>字魂58号-创中黑</vt:lpstr>
      <vt:lpstr>Arial</vt:lpstr>
      <vt:lpstr>Impact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1 1</cp:lastModifiedBy>
  <cp:revision>283</cp:revision>
  <dcterms:created xsi:type="dcterms:W3CDTF">2021-01-13T05:53:14Z</dcterms:created>
  <dcterms:modified xsi:type="dcterms:W3CDTF">2025-03-10T11:49:09Z</dcterms:modified>
</cp:coreProperties>
</file>